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9" r:id="rId3"/>
    <p:sldId id="296" r:id="rId4"/>
    <p:sldId id="270" r:id="rId5"/>
    <p:sldId id="272" r:id="rId6"/>
    <p:sldId id="273" r:id="rId7"/>
    <p:sldId id="260" r:id="rId8"/>
    <p:sldId id="262" r:id="rId9"/>
    <p:sldId id="274" r:id="rId10"/>
    <p:sldId id="275" r:id="rId11"/>
    <p:sldId id="276" r:id="rId12"/>
    <p:sldId id="264" r:id="rId13"/>
    <p:sldId id="257" r:id="rId14"/>
    <p:sldId id="277" r:id="rId15"/>
    <p:sldId id="278" r:id="rId16"/>
    <p:sldId id="279" r:id="rId17"/>
    <p:sldId id="261" r:id="rId18"/>
    <p:sldId id="265" r:id="rId19"/>
    <p:sldId id="266" r:id="rId20"/>
    <p:sldId id="267" r:id="rId21"/>
    <p:sldId id="268" r:id="rId22"/>
    <p:sldId id="280" r:id="rId23"/>
    <p:sldId id="288" r:id="rId24"/>
    <p:sldId id="281" r:id="rId25"/>
    <p:sldId id="282" r:id="rId26"/>
    <p:sldId id="290" r:id="rId27"/>
    <p:sldId id="291" r:id="rId28"/>
    <p:sldId id="289" r:id="rId29"/>
    <p:sldId id="285" r:id="rId30"/>
    <p:sldId id="284" r:id="rId31"/>
    <p:sldId id="283" r:id="rId32"/>
    <p:sldId id="292" r:id="rId33"/>
    <p:sldId id="294" r:id="rId34"/>
    <p:sldId id="293" r:id="rId35"/>
    <p:sldId id="295" r:id="rId36"/>
    <p:sldId id="263"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02A33"/>
                </a:solidFill>
                <a:latin typeface="+mn-lt"/>
              </a:defRPr>
            </a:pPr>
            <a:r>
              <a:rPr lang="en-ID" sz="1400" b="0" i="0" u="none" strike="noStrike">
                <a:solidFill>
                  <a:srgbClr val="102A33"/>
                </a:solidFill>
                <a:latin typeface="+mn-lt"/>
              </a:rPr>
              <a:t>Menit per tahap (estimasi)</a:t>
            </a:r>
          </a:p>
        </c:rich>
      </c:tx>
      <c:overlay val="0"/>
    </c:title>
    <c:autoTitleDeleted val="0"/>
    <c:plotArea>
      <c:layout/>
      <c:barChart>
        <c:barDir val="bar"/>
        <c:grouping val="clustered"/>
        <c:varyColors val="0"/>
        <c:ser>
          <c:idx val="0"/>
          <c:order val="0"/>
          <c:tx>
            <c:strRef>
              <c:f>Sheet1!$B$1</c:f>
              <c:strCache>
                <c:ptCount val="1"/>
                <c:pt idx="0">
                  <c:v>Manual</c:v>
                </c:pt>
              </c:strCache>
            </c:strRef>
          </c:tx>
          <c:spPr>
            <a:solidFill>
              <a:srgbClr val="6B7C85"/>
            </a:solidFill>
            <a:effectLst/>
          </c:spPr>
          <c:invertIfNegative val="0"/>
          <c:dLbls>
            <c:numFmt formatCode="#,##0" sourceLinked="0"/>
            <c:spPr>
              <a:noFill/>
              <a:ln>
                <a:noFill/>
              </a:ln>
              <a:effectLst/>
            </c:spPr>
            <c:txPr>
              <a:bodyPr/>
              <a:lstStyle/>
              <a:p>
                <a:pPr>
                  <a:defRPr sz="1200" b="0" i="0" u="none" strike="noStrike">
                    <a:solidFill>
                      <a:srgbClr val="10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Unduh data</c:v>
                </c:pt>
                <c:pt idx="1">
                  <c:v>Salin, isi, blok</c:v>
                </c:pt>
                <c:pt idx="2">
                  <c:v>Container &amp; seal</c:v>
                </c:pt>
                <c:pt idx="3">
                  <c:v>Penanda &amp; cek</c:v>
                </c:pt>
                <c:pt idx="4">
                  <c:v>Review</c:v>
                </c:pt>
                <c:pt idx="5">
                  <c:v>Kirim</c:v>
                </c:pt>
              </c:strCache>
            </c:strRef>
          </c:cat>
          <c:val>
            <c:numRef>
              <c:f>Sheet1!$B$2:$B$7</c:f>
              <c:numCache>
                <c:formatCode>General</c:formatCode>
                <c:ptCount val="6"/>
                <c:pt idx="0">
                  <c:v>10</c:v>
                </c:pt>
                <c:pt idx="1">
                  <c:v>130</c:v>
                </c:pt>
                <c:pt idx="2">
                  <c:v>45</c:v>
                </c:pt>
                <c:pt idx="3">
                  <c:v>20</c:v>
                </c:pt>
                <c:pt idx="4">
                  <c:v>45</c:v>
                </c:pt>
                <c:pt idx="5">
                  <c:v>5</c:v>
                </c:pt>
              </c:numCache>
            </c:numRef>
          </c:val>
          <c:extLst>
            <c:ext xmlns:c16="http://schemas.microsoft.com/office/drawing/2014/chart" uri="{C3380CC4-5D6E-409C-BE32-E72D297353CC}">
              <c16:uniqueId val="{00000000-9AB0-4C36-BF53-0AEAFCB07E54}"/>
            </c:ext>
          </c:extLst>
        </c:ser>
        <c:ser>
          <c:idx val="1"/>
          <c:order val="1"/>
          <c:tx>
            <c:strRef>
              <c:f>Sheet1!$C$1</c:f>
              <c:strCache>
                <c:ptCount val="1"/>
                <c:pt idx="0">
                  <c:v>Dengan AI</c:v>
                </c:pt>
              </c:strCache>
            </c:strRef>
          </c:tx>
          <c:spPr>
            <a:solidFill>
              <a:srgbClr val="E39B2D"/>
            </a:solidFill>
            <a:effectLst/>
          </c:spPr>
          <c:invertIfNegative val="0"/>
          <c:dLbls>
            <c:numFmt formatCode="#,##0" sourceLinked="0"/>
            <c:spPr>
              <a:noFill/>
              <a:ln>
                <a:noFill/>
              </a:ln>
              <a:effectLst/>
            </c:spPr>
            <c:txPr>
              <a:bodyPr/>
              <a:lstStyle/>
              <a:p>
                <a:pPr>
                  <a:defRPr sz="1200" b="0" i="0" u="none" strike="noStrike">
                    <a:solidFill>
                      <a:srgbClr val="10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Unduh data</c:v>
                </c:pt>
                <c:pt idx="1">
                  <c:v>Salin, isi, blok</c:v>
                </c:pt>
                <c:pt idx="2">
                  <c:v>Container &amp; seal</c:v>
                </c:pt>
                <c:pt idx="3">
                  <c:v>Penanda &amp; cek</c:v>
                </c:pt>
                <c:pt idx="4">
                  <c:v>Review</c:v>
                </c:pt>
                <c:pt idx="5">
                  <c:v>Kirim</c:v>
                </c:pt>
              </c:strCache>
            </c:strRef>
          </c:cat>
          <c:val>
            <c:numRef>
              <c:f>Sheet1!$C$2:$C$7</c:f>
              <c:numCache>
                <c:formatCode>General</c:formatCode>
                <c:ptCount val="6"/>
                <c:pt idx="0">
                  <c:v>10</c:v>
                </c:pt>
                <c:pt idx="1">
                  <c:v>3</c:v>
                </c:pt>
                <c:pt idx="2">
                  <c:v>2</c:v>
                </c:pt>
                <c:pt idx="3">
                  <c:v>1</c:v>
                </c:pt>
                <c:pt idx="4">
                  <c:v>30</c:v>
                </c:pt>
                <c:pt idx="5">
                  <c:v>5</c:v>
                </c:pt>
              </c:numCache>
            </c:numRef>
          </c:val>
          <c:extLst>
            <c:ext xmlns:c16="http://schemas.microsoft.com/office/drawing/2014/chart" uri="{C3380CC4-5D6E-409C-BE32-E72D297353CC}">
              <c16:uniqueId val="{00000001-9AB0-4C36-BF53-0AEAFCB07E54}"/>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A33"/>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200">
              <a:solidFill>
                <a:srgbClr val="10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1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Presentasi ini bercerita santai tentang empat pekerjaan harian CS yang sekarang dibantu AI: workflow, Share DO, Check Booking, dan Proforma Loading. Pesan utamanya: AI mengerjakan yang berulang, kita tetap yang memutuskan dan mengirim.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lengkapnya. Dibaca dari kiri ke kanan: setiap kolom berwarna adalah satu tahap. Perhatikan bahwa CS menghubungkan empat pihak sekaligus, jadi kecepatan dan ketepatan kerja CS menentukan kelancaran seluruh alur. Tahap 6 menghasilkan banyak laporan rutin.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workflow harian CS export. Enam tahap, dari bikin jadwal kapal sampai laporan, total 28 tugas (2 + 6 + 7 + 3 + 1 + 9). Tahap 3 dan 6 paling banyak tugasnya, dan di situlah AI paling terasa membantu.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presentasi ini membandingkan proses Share DO manual dengan proses otomatis berbasis skrip. Angka waktu adalah estimasi berdasarkan asumsi.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langkah ini dikerjakan satu per satu untuk setiap booking. Waktu per langkah adalah estimasi dan perlu divalidasi.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Skrip mengerjakan pencocokan, pencarian thread, dan penyusunan draft. CS menyiapkan input di awal dan meninjau serta mengirim di akhir.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 utama ada pada konsistensi (subject, lampiran) dan pencatatan. Kontrol pengiriman tetap di CS.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Hitungannya: manual 50 x 8 = 400 menit. Otomatis 50 x (1 + 2) + 10 = 160 menit. Selisih 240 menit, yaitu 4 jam atau 60%. Semua angka estimasi dan perlu divalidasi dengan data aktual. Yang penting buat Manager: skrip hanya membuat draft, CS tetap yang mengirim.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keras skrip: hanya draft, Reply All pada thread yang sudah ada, tidak menebak bila data tidak ditemukan, dan pemeriksaan tiga draft pertama.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manfaat utama dan tiga langkah lanjutan, yaitu validasi angka, update open closing, dan klasifikasi balasan customer.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membandingkan cara kerja manual di Outlook dengan cara kerja memakai skill check-booking, per tahap. Langkah manual disusun dari proses yang digantikan skill; sesuaikan bila praktik Anda berbeda.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tahap. Tahap 1: skill mencari thread dan membuat draft CHECK BOOKING. Tahap 2: skill membaca balasan customer dan mengelompokkannya ke satu dari 8 kategori, lengkap dengan urgensi dan saran tindakan; keputusan reschedule, extend closing, atau ganti POD tetap di tangan Anda. Tahap 3: skill membuat draft REMINDER, dan batasnya dijaga: maksimal 2 kali per booking. Hasil uji pada KXM 2608N: dari 30 booking, 19 punya thread (jadi 8 draft), dan 11 tidak punya thread sehingga ditandai di laporan CSV.</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087234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sama: menanyakan qty dan jadwal pickup empty/stuffing per booking dan menindaklanjuti balasan. Bedanya ada pada siapa yang mengerjakan pencarian thread, penulisan email, dan pencatatan.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pencarian di folder yang berisi ribuan email dilakukan berulang. Skill: pencarian memakai filter, satu draft per thread, dan laporan CSV otomatis.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hanya memberi saran tindakan dan tidak menyetujui permintaan customer atas nama Anda.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 reminder dijaga oleh skill, sehingga tidak ada booking yang diingatkan lebih dari dua kali.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 akhir tetap pada pengguna di kedua cara: skill hanya membuat draft dan tidak pernah mengirim email.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Proforma loading adalah dokumen kerja per voyage yang diisi dua kali sehari, jam 11.00 dan 16.00, dari data portal. Cara manual ada 8 langkah dengan total sekitar 255 menit per proses: unduh data 10, salin ke sheet voyage 40, isi salesman/shipper/delivery/komoditas 60, kelompokkan ke blok tujuan 30, isi container dan seal 45, tandai kargo khusus dan container kurang 20, review 45, kirim 5. Dengan AI jadi 6 langkah, sekitar 51 menit. Manusia tetap mengunduh data, mereview, dan mengirim. Semua angka estimasi dan akan dikonfirmasi dengan pengukuran nyata.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bagian dari proforma loading yang paling makan waktu: mengisi nomor container dan seal. Sebelum kapal berangkat, CS harus melengkapi setiap booking dengan nomor container dan seal yang dilepas depot saat gate-out. Datanya tersebar di email depot dan beberapa website depot, jadi dulu dicari satu per satu, sekitar 30 sampai 60 menit per kapal. Sekarang CS menjalankan satu skill, /cntrseal, dan lampiran report plus database email depot. Prompt panjangnya sudah tersimpan di skill. Selesai dalam 3 sampai 5 menit per kapal, sekitar 10 kali lebih cepat. Kerjanya dicocokkan lewat nomor booking, format report tidak diubah, dan baris ditambah otomatis sesuai jumlah container.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Kekhawatiran utama soal AI biasanya akurasi, jadi setiap proses menghasilkan pemeriksaan otomatis dan laporan pengecualian. Pada Week 40, empat service (KI1, ANX, PCI, PCI2) dengan 970 booking lolos semua pemeriksaan total dan blok. Kami juga jujur soal batasan: web depot Glorius butuh login dan DKD butuh captcha, jadi datanya tetap diambil dari email depot. VGM serta cancel dan hold masih manual. Setiap revisi manual yang CS lakukan dipelajari dan dipakai lagi di proses berikutnya, jadi hasilnya makin sesuai.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Rekap empat topik. Share DO: sekitar 60% lebih hemat, sekitar 4 jam per kapal. Check Booking: tidak ada angka waktu, tapi batas dua kali reminder per booking dijaga otomatis oleh skill. Proforma Loading: 255 menit jadi 51 menit, turun 80%. Container dan seal: 30 sampai 60 menit jadi 3 sampai 5 menit, sekitar 10 kali lebih cepat. Waktu yang kembali dipakai untuk customer, kargo khusus, dan tindak lanjut. Semua angka waktu masih estimasi.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proforma loading adalah dokumen kerja per voyage yang diisi dua kali sehari dari data portal. Deck ini menunjukkan alur manual, alur dengan bantuan AI, dan apa bedanya. Semua angka waktu adalah estimasi dan akan dikonfirmasi dengan pengukuran nyata.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manual saat ini. Setiap langkah dikerjakan orang, mulai dari mengunduh data portal sampai mengirim. Bagian yang paling memakan waktu adalah mengisi kolom satu per satu dan mengelompokkan booking ke blok tujuan. Semua angka waktu adalah estimasi.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dengan AI. Manusia tetap mengunduh data, mereview, dan mengirim. Tiga langkah di tengah (isi blok, container dan seal, penanda dan cek total) dijalankan AI dalam beberapa menit. Review tetap manusia, tetapi dibantu laporan pengecualian sehingga fokus ke hal yang memang perlu diputuskan.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tampilan hasil dengan data disamarkan. Booking dengan quantity 10 memakai 10 baris: baris pertama memuat identitas booking, baris berikutnya hanya nomor container dan seal. Angka merah menandakan container baru 9 dari 10. Remark 1 terisi otomatis untuk kargo berbahaya.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8853906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Kekhawatiran utama terhadap AI adalah akurasi. Karena itu setiap proses menghasilkan pemeriksaan otomatis dan laporan pengecualian. Pada Week 40, empat service (970 booking) lolos semua pemeriksaan total dan blok.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209772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Sebagian besar penghematan datang dari tiga hal: menyalin dan mengisi booking, mengelompokkan ke blok, dan mengisi container serta seal. Review hanya berkurang sedikit karena keputusan akhir tetap ada pada manusia. Angka adalah estimasi per satu kali proses.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039171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presentasi: menjelaskan alur kerja baru laporan mingguan HAL (TOP 20 per area dan Lifting &amp; Shortfall) yang sekarang dibuat dari satu upload dan dibagikan ke Sales lewat satu link.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utama sebelumnya adalah pekerjaan ganda dan risiko hasil yang tidak konsisten karena tiap laporan dibuat di chat terpisah. Sekarang satu sumber, satu proses, satu link.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saya hanya langkah 1 sampai 3. Langkah 4 dikerjakan otomatis, termasuk pengecekan total. Sales tidak perlu menunggu kiriman file; mereka membuka link yang sama setiap minggu.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manual tinggal dua: export dari web system dan CANCEL LIST. Semua perhitungan dan format Excel dikerjakan otomatis dengan aturan yang sama setiap minggu.</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 kecil yang diketahui: tanggal ATD diambil dari ETD di file sumber, dan bila dua forwarder punya TEU sama, urutannya sesuai abjad.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2263F"/>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89761"/>
            <a:ext cx="10566400" cy="4155439"/>
          </a:xfrm>
          <a:prstGeom prst="rect">
            <a:avLst/>
          </a:prstGeom>
          <a:noFill/>
          <a:ln/>
        </p:spPr>
        <p:txBody>
          <a:bodyPr wrap="square" lIns="0" tIns="0" rIns="0" bIns="0" rtlCol="0" anchor="t"/>
          <a:lstStyle>
            <a:lvl1pPr marL="0" indent="0" algn="l">
              <a:lnSpc>
                <a:spcPct val="140000"/>
              </a:lnSpc>
              <a:buNone/>
              <a:defRPr lang="en-US" sz="1600" dirty="0">
                <a:solidFill>
                  <a:srgbClr val="12263F"/>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84960"/>
            <a:ext cx="7315200" cy="2072640"/>
          </a:xfrm>
          <a:prstGeom prst="rect">
            <a:avLst/>
          </a:prstGeom>
          <a:noFill/>
          <a:ln/>
        </p:spPr>
        <p:txBody>
          <a:bodyPr wrap="square" rtlCol="0"/>
          <a:lstStyle>
            <a:lvl1pPr marL="0" indent="0" algn="l">
              <a:buNone/>
              <a:defRPr lang="en-US" sz="5067" b="1" dirty="0">
                <a:solidFill>
                  <a:schemeClr val="bg1"/>
                </a:solidFill>
              </a:defRPr>
            </a:lvl1pPr>
          </a:lstStyle>
          <a:p>
            <a:pPr marL="0" indent="0" algn="l">
              <a:buNone/>
            </a:pPr>
            <a:endParaRPr lang="en-US" sz="5067" dirty="0"/>
          </a:p>
        </p:txBody>
      </p:sp>
      <p:sp>
        <p:nvSpPr>
          <p:cNvPr id="3" name="Text 0"/>
          <p:cNvSpPr>
            <a:spLocks noGrp="1"/>
          </p:cNvSpPr>
          <p:nvPr>
            <p:ph type="body" idx="101" hasCustomPrompt="1"/>
          </p:nvPr>
        </p:nvSpPr>
        <p:spPr>
          <a:xfrm>
            <a:off x="731520" y="3901440"/>
            <a:ext cx="7315200" cy="121920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extLst>
      <p:ext uri="{BB962C8B-B14F-4D97-AF65-F5344CB8AC3E}">
        <p14:creationId xmlns:p14="http://schemas.microsoft.com/office/powerpoint/2010/main" val="3080997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NTENT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25" name="Slide Number Placeholder 0"/>
          <p:cNvSpPr>
            <a:spLocks noGrp="1"/>
          </p:cNvSpPr>
          <p:nvPr>
            <p:ph type="sldNum" sz="quarter" idx="4294967295"/>
          </p:nvPr>
        </p:nvSpPr>
        <p:spPr>
          <a:xfrm>
            <a:off x="10972800" y="6339840"/>
            <a:ext cx="609600" cy="30480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58607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NTEN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rtlCol="0"/>
          <a:lstStyle>
            <a:lvl1pPr marL="0" indent="0" algn="l">
              <a:buNone/>
              <a:defRPr lang="en-US" sz="3733" b="1" dirty="0">
                <a:solidFill>
                  <a:schemeClr val="bg1"/>
                </a:solidFill>
              </a:defRPr>
            </a:lvl1pPr>
          </a:lstStyle>
          <a:p>
            <a:pPr marL="0" indent="0" algn="l">
              <a:buNone/>
            </a:pPr>
            <a:endParaRPr lang="en-US" sz="3733" dirty="0"/>
          </a:p>
        </p:txBody>
      </p:sp>
      <p:sp>
        <p:nvSpPr>
          <p:cNvPr id="25" name="Slide Number Placeholder 0"/>
          <p:cNvSpPr>
            <a:spLocks noGrp="1"/>
          </p:cNvSpPr>
          <p:nvPr>
            <p:ph type="sldNum" sz="quarter" idx="4294967295"/>
          </p:nvPr>
        </p:nvSpPr>
        <p:spPr>
          <a:xfrm>
            <a:off x="10972800" y="6339840"/>
            <a:ext cx="609600" cy="30480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61556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84960"/>
            <a:ext cx="7071360" cy="2194560"/>
          </a:xfrm>
          <a:prstGeom prst="rect">
            <a:avLst/>
          </a:prstGeom>
          <a:noFill/>
          <a:ln/>
        </p:spPr>
        <p:txBody>
          <a:bodyPr wrap="square" rtlCol="0"/>
          <a:lstStyle>
            <a:lvl1pPr marL="0" indent="0" algn="l">
              <a:buNone/>
              <a:defRPr lang="en-US" sz="5867" b="1" dirty="0">
                <a:solidFill>
                  <a:schemeClr val="bg1"/>
                </a:solidFill>
              </a:defRPr>
            </a:lvl1pPr>
          </a:lstStyle>
          <a:p>
            <a:pPr marL="0" indent="0" algn="l">
              <a:buNone/>
            </a:pPr>
            <a:endParaRPr lang="en-US" sz="5867" dirty="0"/>
          </a:p>
        </p:txBody>
      </p:sp>
    </p:spTree>
    <p:extLst>
      <p:ext uri="{BB962C8B-B14F-4D97-AF65-F5344CB8AC3E}">
        <p14:creationId xmlns:p14="http://schemas.microsoft.com/office/powerpoint/2010/main" val="1969463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3" name="Text 0"/>
          <p:cNvSpPr txBox="1"/>
          <p:nvPr/>
        </p:nvSpPr>
        <p:spPr>
          <a:xfrm>
            <a:off x="609600" y="6339840"/>
            <a:ext cx="7924800" cy="304800"/>
          </a:xfrm>
          <a:prstGeom prst="rect">
            <a:avLst/>
          </a:prstGeom>
          <a:noFill/>
          <a:ln/>
        </p:spPr>
        <p:txBody>
          <a:bodyPr wrap="square" lIns="0" tIns="0" rIns="0" bIns="0" rtlCol="0" anchor="ctr"/>
          <a:lstStyle/>
          <a:p>
            <a:pPr marL="0" indent="0">
              <a:buNone/>
            </a:pPr>
            <a:r>
              <a:rPr lang="en-US" sz="1333" dirty="0">
                <a:solidFill>
                  <a:schemeClr val="accent5"/>
                </a:solidFill>
              </a:rPr>
              <a:t>Check Booking: Manual vs Skill  |  Customer Service Heung-A Line Jakarta</a:t>
            </a:r>
            <a:endParaRPr lang="en-US" sz="1333" dirty="0"/>
          </a:p>
        </p:txBody>
      </p:sp>
      <p:sp>
        <p:nvSpPr>
          <p:cNvPr id="25" name="Slide Number Placeholder 0"/>
          <p:cNvSpPr>
            <a:spLocks noGrp="1"/>
          </p:cNvSpPr>
          <p:nvPr>
            <p:ph type="sldNum" sz="quarter" idx="4294967295"/>
          </p:nvPr>
        </p:nvSpPr>
        <p:spPr>
          <a:xfrm>
            <a:off x="10972800" y="6339840"/>
            <a:ext cx="609600" cy="304800"/>
          </a:xfrm>
          <a:prstGeom prst="rect">
            <a:avLst/>
          </a:prstGeom>
          <a:extLst>
            <a:ext uri="{C572A759-6A51-4108-AA02-DFA0A04FC94B}">
              <ma14:wrappingTextBoxFlag xmlns="" xmlns:ma14="http://schemas.microsoft.com/office/mac/drawingml/2011/main" val="0"/>
            </a:ext>
          </a:extLst>
        </p:spPr>
        <p:txBody>
          <a:bodyPr/>
          <a:lstStyle>
            <a:lvl1pPr>
              <a:defRPr sz="1333">
                <a:solidFill>
                  <a:schemeClr val="accent5"/>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26059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583680" cy="1554480"/>
          </a:xfrm>
          <a:prstGeom prst="rect">
            <a:avLst/>
          </a:prstGeom>
          <a:noFill/>
          <a:ln/>
        </p:spPr>
        <p:txBody>
          <a:bodyPr wrap="square" rtlCol="0"/>
          <a:lstStyle>
            <a:lvl1pPr marL="0" indent="0" algn="l">
              <a:buNone/>
              <a:defRPr lang="en-US" sz="5200" b="1" dirty="0">
                <a:solidFill>
                  <a:schemeClr val="bg1"/>
                </a:solidFill>
              </a:defRPr>
            </a:lvl1pPr>
          </a:lstStyle>
          <a:p>
            <a:pPr marL="0" indent="0" algn="l">
              <a:buNone/>
            </a:pPr>
            <a:endParaRPr lang="en-US" sz="5200" dirty="0"/>
          </a:p>
        </p:txBody>
      </p:sp>
      <p:sp>
        <p:nvSpPr>
          <p:cNvPr id="3" name="Text 0"/>
          <p:cNvSpPr>
            <a:spLocks noGrp="1"/>
          </p:cNvSpPr>
          <p:nvPr>
            <p:ph type="body" idx="101" hasCustomPrompt="1"/>
          </p:nvPr>
        </p:nvSpPr>
        <p:spPr>
          <a:xfrm>
            <a:off x="731520" y="3703320"/>
            <a:ext cx="6400800" cy="914400"/>
          </a:xfrm>
          <a:prstGeom prst="rect">
            <a:avLst/>
          </a:prstGeom>
          <a:noFill/>
          <a:ln/>
        </p:spPr>
        <p:txBody>
          <a:bodyPr wrap="square" rtlCol="0"/>
          <a:lstStyle>
            <a:lvl1pPr marL="0" indent="0" algn="l">
              <a:buNone/>
              <a:defRPr lang="en-US" sz="2200" dirty="0">
                <a:solidFill>
                  <a:schemeClr val="accent6"/>
                </a:solidFill>
              </a:defRPr>
            </a:lvl1pPr>
          </a:lstStyle>
          <a:p>
            <a:pPr marL="0" indent="0" algn="l">
              <a:buNone/>
            </a:pPr>
            <a:endParaRPr lang="en-US" sz="2200" dirty="0"/>
          </a:p>
        </p:txBody>
      </p:sp>
    </p:spTree>
    <p:extLst>
      <p:ext uri="{BB962C8B-B14F-4D97-AF65-F5344CB8AC3E}">
        <p14:creationId xmlns:p14="http://schemas.microsoft.com/office/powerpoint/2010/main" val="3080053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24000"/>
            <a:ext cx="10728960" cy="426720"/>
          </a:xfrm>
          <a:prstGeom prst="rect">
            <a:avLst/>
          </a:prstGeom>
          <a:noFill/>
          <a:ln/>
        </p:spPr>
        <p:txBody>
          <a:bodyPr wrap="square" rtlCol="0"/>
          <a:lstStyle>
            <a:lvl1pPr marL="0" indent="0">
              <a:buNone/>
              <a:defRPr lang="en-US" sz="1600" b="1" kern="0" spc="400" dirty="0">
                <a:solidFill>
                  <a:schemeClr val="accent2"/>
                </a:solidFill>
              </a:defRPr>
            </a:lvl1pPr>
          </a:lstStyle>
          <a:p>
            <a:pPr marL="0" indent="0">
              <a:buNone/>
            </a:pPr>
            <a:endParaRPr lang="en-US" sz="1600" dirty="0"/>
          </a:p>
        </p:txBody>
      </p:sp>
      <p:sp>
        <p:nvSpPr>
          <p:cNvPr id="3" name="Text 0"/>
          <p:cNvSpPr>
            <a:spLocks noGrp="1"/>
          </p:cNvSpPr>
          <p:nvPr>
            <p:ph type="title" idx="101" hasCustomPrompt="1"/>
          </p:nvPr>
        </p:nvSpPr>
        <p:spPr>
          <a:xfrm>
            <a:off x="731520" y="2011680"/>
            <a:ext cx="10728960" cy="1341120"/>
          </a:xfrm>
          <a:prstGeom prst="rect">
            <a:avLst/>
          </a:prstGeom>
          <a:noFill/>
          <a:ln/>
        </p:spPr>
        <p:txBody>
          <a:bodyPr wrap="square" rtlCol="0"/>
          <a:lstStyle>
            <a:lvl1pPr marL="0" indent="0" algn="l">
              <a:buNone/>
              <a:defRPr lang="en-US" sz="5867" b="1" dirty="0">
                <a:solidFill>
                  <a:schemeClr val="bg1"/>
                </a:solidFill>
              </a:defRPr>
            </a:lvl1pPr>
          </a:lstStyle>
          <a:p>
            <a:pPr marL="0" indent="0" algn="l">
              <a:buNone/>
            </a:pPr>
            <a:endParaRPr lang="en-US" sz="5867" dirty="0"/>
          </a:p>
        </p:txBody>
      </p:sp>
      <p:sp>
        <p:nvSpPr>
          <p:cNvPr id="4" name="Text 0"/>
          <p:cNvSpPr>
            <a:spLocks noGrp="1"/>
          </p:cNvSpPr>
          <p:nvPr>
            <p:ph type="body" idx="102" hasCustomPrompt="1"/>
          </p:nvPr>
        </p:nvSpPr>
        <p:spPr>
          <a:xfrm>
            <a:off x="731520" y="3474720"/>
            <a:ext cx="9265920" cy="1097280"/>
          </a:xfrm>
          <a:prstGeom prst="rect">
            <a:avLst/>
          </a:prstGeom>
          <a:noFill/>
          <a:ln/>
        </p:spPr>
        <p:txBody>
          <a:bodyPr wrap="square" rtlCol="0"/>
          <a:lstStyle>
            <a:lvl1pPr marL="0" indent="0">
              <a:buNone/>
              <a:defRPr lang="en-US" sz="2400" dirty="0">
                <a:solidFill>
                  <a:schemeClr val="accent3"/>
                </a:solidFill>
              </a:defRPr>
            </a:lvl1pPr>
          </a:lstStyle>
          <a:p>
            <a:pPr marL="0" indent="0">
              <a:buNone/>
            </a:pPr>
            <a:endParaRPr lang="en-US" sz="2400" dirty="0"/>
          </a:p>
        </p:txBody>
      </p:sp>
    </p:spTree>
    <p:extLst>
      <p:ext uri="{BB962C8B-B14F-4D97-AF65-F5344CB8AC3E}">
        <p14:creationId xmlns:p14="http://schemas.microsoft.com/office/powerpoint/2010/main" val="2478313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2263F"/>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89761"/>
            <a:ext cx="10566400" cy="4155439"/>
          </a:xfrm>
          <a:prstGeom prst="rect">
            <a:avLst/>
          </a:prstGeom>
          <a:noFill/>
          <a:ln/>
        </p:spPr>
        <p:txBody>
          <a:bodyPr wrap="square" lIns="0" tIns="0" rIns="0" bIns="0" rtlCol="0" anchor="t"/>
          <a:lstStyle>
            <a:lvl1pPr marL="0" indent="0" algn="l">
              <a:lnSpc>
                <a:spcPct val="140000"/>
              </a:lnSpc>
              <a:buNone/>
              <a:defRPr lang="en-US" sz="1600" dirty="0">
                <a:solidFill>
                  <a:srgbClr val="12263F"/>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4.pn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2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a:effectLst/>
      </p:bgPr>
    </p:bg>
    <p:spTree>
      <p:nvGrpSpPr>
        <p:cNvPr id="1" name=""/>
        <p:cNvGrpSpPr/>
        <p:nvPr/>
      </p:nvGrpSpPr>
      <p:grpSpPr>
        <a:xfrm>
          <a:off x="0" y="0"/>
          <a:ext cx="0" cy="0"/>
          <a:chOff x="0" y="0"/>
          <a:chExt cx="0" cy="0"/>
        </a:xfrm>
      </p:grpSpPr>
      <p:pic>
        <p:nvPicPr>
          <p:cNvPr id="2" name="Image 0" descr="Kapal kontainer Sinokor berlayar di laut biru"/>
          <p:cNvPicPr>
            <a:picLocks noChangeAspect="1"/>
          </p:cNvPicPr>
          <p:nvPr/>
        </p:nvPicPr>
        <p:blipFill>
          <a:blip r:embed="rId3"/>
          <a:srcRect l="525" r="525"/>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81426">
                  <a:alpha val="95000"/>
                </a:srgbClr>
              </a:gs>
              <a:gs pos="50000">
                <a:srgbClr val="081426">
                  <a:alpha val="84000"/>
                </a:srgbClr>
              </a:gs>
              <a:gs pos="100000">
                <a:srgbClr val="081426">
                  <a:alpha val="30000"/>
                </a:srgbClr>
              </a:gs>
            </a:gsLst>
            <a:lin ang="0" scaled="0"/>
          </a:gradFill>
          <a:ln/>
        </p:spPr>
      </p:sp>
      <p:sp>
        <p:nvSpPr>
          <p:cNvPr id="4" name="Shape 1"/>
          <p:cNvSpPr/>
          <p:nvPr/>
        </p:nvSpPr>
        <p:spPr>
          <a:xfrm>
            <a:off x="0" y="18662"/>
            <a:ext cx="12192000" cy="6858000"/>
          </a:xfrm>
          <a:prstGeom prst="rect">
            <a:avLst/>
          </a:prstGeom>
          <a:gradFill rotWithShape="1">
            <a:gsLst>
              <a:gs pos="0">
                <a:srgbClr val="081426">
                  <a:alpha val="35000"/>
                </a:srgbClr>
              </a:gs>
              <a:gs pos="30000">
                <a:srgbClr val="081426">
                  <a:alpha val="0"/>
                </a:srgbClr>
              </a:gs>
              <a:gs pos="70000">
                <a:srgbClr val="081426">
                  <a:alpha val="0"/>
                </a:srgbClr>
              </a:gs>
              <a:gs pos="100000">
                <a:srgbClr val="081426">
                  <a:alpha val="60000"/>
                </a:srgbClr>
              </a:gs>
            </a:gsLst>
            <a:lin ang="5400000" scaled="0"/>
          </a:gradFill>
          <a:ln/>
        </p:spPr>
      </p:sp>
      <p:sp>
        <p:nvSpPr>
          <p:cNvPr id="5" name="Text 2"/>
          <p:cNvSpPr/>
          <p:nvPr/>
        </p:nvSpPr>
        <p:spPr>
          <a:xfrm>
            <a:off x="812800" y="934085"/>
            <a:ext cx="10883392" cy="292100"/>
          </a:xfrm>
          <a:prstGeom prst="rect">
            <a:avLst/>
          </a:prstGeom>
          <a:noFill/>
          <a:ln/>
        </p:spPr>
        <p:txBody>
          <a:bodyPr wrap="square" lIns="0" tIns="0" rIns="0" bIns="0" rtlCol="0" anchor="t">
            <a:normAutofit/>
          </a:bodyPr>
          <a:lstStyle/>
          <a:p>
            <a:pPr marL="0" indent="0" algn="l">
              <a:lnSpc>
                <a:spcPts val="2100"/>
              </a:lnSpc>
              <a:buNone/>
            </a:pPr>
            <a:r>
              <a:rPr lang="en-US" sz="2400" b="1" kern="0" spc="200" dirty="0">
                <a:solidFill>
                  <a:srgbClr val="FFB36B"/>
                </a:solidFill>
                <a:latin typeface="Nunito Sans" pitchFamily="34" charset="0"/>
                <a:ea typeface="Nunito Sans" pitchFamily="34" charset="-122"/>
                <a:cs typeface="Nunito Sans" pitchFamily="34" charset="-120"/>
              </a:rPr>
              <a:t>DIVISI CUSTOMER SERVICE · EXPORT</a:t>
            </a:r>
            <a:endParaRPr lang="en-US" sz="2400" dirty="0"/>
          </a:p>
        </p:txBody>
      </p:sp>
      <p:sp>
        <p:nvSpPr>
          <p:cNvPr id="6" name="Shape 3"/>
          <p:cNvSpPr/>
          <p:nvPr/>
        </p:nvSpPr>
        <p:spPr>
          <a:xfrm>
            <a:off x="812800" y="2160270"/>
            <a:ext cx="889000" cy="63500"/>
          </a:xfrm>
          <a:prstGeom prst="roundRect">
            <a:avLst>
              <a:gd name="adj" fmla="val 50000"/>
            </a:avLst>
          </a:prstGeom>
          <a:solidFill>
            <a:srgbClr val="FFB36B"/>
          </a:solidFill>
          <a:ln/>
        </p:spPr>
      </p:sp>
      <p:sp>
        <p:nvSpPr>
          <p:cNvPr id="8" name="Text 5"/>
          <p:cNvSpPr/>
          <p:nvPr/>
        </p:nvSpPr>
        <p:spPr>
          <a:xfrm>
            <a:off x="812798" y="2531744"/>
            <a:ext cx="10309292" cy="2127885"/>
          </a:xfrm>
          <a:prstGeom prst="rect">
            <a:avLst/>
          </a:prstGeom>
          <a:noFill/>
          <a:ln/>
        </p:spPr>
        <p:txBody>
          <a:bodyPr wrap="square" lIns="0" tIns="0" rIns="0" bIns="0" rtlCol="0" anchor="t">
            <a:noAutofit/>
          </a:bodyPr>
          <a:lstStyle/>
          <a:p>
            <a:r>
              <a:rPr lang="en-US" sz="3600" b="1" dirty="0">
                <a:solidFill>
                  <a:schemeClr val="bg1"/>
                </a:solidFill>
              </a:rPr>
              <a:t>PRESENTATION ON THE IMPLEMENTATION OF</a:t>
            </a:r>
            <a:r>
              <a:rPr lang="en-US" sz="3600" b="1" dirty="0">
                <a:solidFill>
                  <a:srgbClr val="FFC000"/>
                </a:solidFill>
              </a:rPr>
              <a:t> “AI” </a:t>
            </a:r>
            <a:r>
              <a:rPr lang="en-US" sz="3600" b="1" dirty="0">
                <a:solidFill>
                  <a:schemeClr val="bg1"/>
                </a:solidFill>
              </a:rPr>
              <a:t>IN WORK TASK</a:t>
            </a:r>
            <a:endParaRPr lang="en-US" sz="3600" dirty="0"/>
          </a:p>
        </p:txBody>
      </p:sp>
      <p:sp>
        <p:nvSpPr>
          <p:cNvPr id="9" name="Text 6"/>
          <p:cNvSpPr/>
          <p:nvPr/>
        </p:nvSpPr>
        <p:spPr>
          <a:xfrm>
            <a:off x="812800" y="5778500"/>
            <a:ext cx="10883392" cy="808912"/>
          </a:xfrm>
          <a:prstGeom prst="rect">
            <a:avLst/>
          </a:prstGeom>
          <a:noFill/>
          <a:ln/>
        </p:spPr>
        <p:txBody>
          <a:bodyPr wrap="square" lIns="0" tIns="0" rIns="0" bIns="0" rtlCol="0" anchor="t">
            <a:noAutofit/>
          </a:bodyPr>
          <a:lstStyle/>
          <a:p>
            <a:endParaRPr lang="en-US" b="1" dirty="0"/>
          </a:p>
          <a:p>
            <a:r>
              <a:rPr lang="en-US" b="1" dirty="0">
                <a:solidFill>
                  <a:schemeClr val="bg2"/>
                </a:solidFill>
                <a:ea typeface="Calibri" pitchFamily="34" charset="-122"/>
                <a:cs typeface="Calibri" pitchFamily="34" charset="-120"/>
              </a:rPr>
              <a:t>Prepared by the SKR &amp; HAL CS team</a:t>
            </a:r>
          </a:p>
          <a:p>
            <a:r>
              <a:rPr lang="en-US" b="1" dirty="0">
                <a:solidFill>
                  <a:srgbClr val="F1F5FA"/>
                </a:solidFill>
                <a:ea typeface="Nunito Sans" pitchFamily="34" charset="-122"/>
                <a:cs typeface="Nunito Sans" pitchFamily="34" charset="-120"/>
              </a:rPr>
              <a:t>Oktober 2026</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EDF1F0"/>
        </a:solidFill>
        <a:effectLst/>
      </p:bgPr>
    </p:bg>
    <p:spTree>
      <p:nvGrpSpPr>
        <p:cNvPr id="1" name=""/>
        <p:cNvGrpSpPr/>
        <p:nvPr/>
      </p:nvGrpSpPr>
      <p:grpSpPr>
        <a:xfrm>
          <a:off x="0" y="0"/>
          <a:ext cx="0" cy="0"/>
          <a:chOff x="0" y="0"/>
          <a:chExt cx="0" cy="0"/>
        </a:xfrm>
      </p:grpSpPr>
      <p:sp>
        <p:nvSpPr>
          <p:cNvPr id="2" name="Text 0"/>
          <p:cNvSpPr/>
          <p:nvPr/>
        </p:nvSpPr>
        <p:spPr>
          <a:xfrm>
            <a:off x="812800" y="1201420"/>
            <a:ext cx="3401060"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WORKFLOW CS</a:t>
            </a:r>
            <a:endParaRPr lang="en-US" sz="1400" dirty="0"/>
          </a:p>
        </p:txBody>
      </p:sp>
      <p:sp>
        <p:nvSpPr>
          <p:cNvPr id="3" name="Text 1"/>
          <p:cNvSpPr>
            <a:spLocks noGrp="1"/>
          </p:cNvSpPr>
          <p:nvPr>
            <p:ph type="title"/>
          </p:nvPr>
        </p:nvSpPr>
        <p:spPr>
          <a:xfrm>
            <a:off x="812800" y="1526541"/>
            <a:ext cx="3401060"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263F"/>
                </a:solidFill>
                <a:latin typeface="Rubik" pitchFamily="34" charset="0"/>
                <a:ea typeface="Rubik" pitchFamily="34" charset="-122"/>
                <a:cs typeface="Rubik" pitchFamily="34" charset="-120"/>
              </a:rPr>
              <a:t>Peta alur CS export</a:t>
            </a:r>
            <a:endParaRPr lang="en-US" sz="2800" dirty="0"/>
          </a:p>
        </p:txBody>
      </p:sp>
      <p:sp>
        <p:nvSpPr>
          <p:cNvPr id="4" name="Text 2"/>
          <p:cNvSpPr/>
          <p:nvPr/>
        </p:nvSpPr>
        <p:spPr>
          <a:xfrm>
            <a:off x="812800" y="2486661"/>
            <a:ext cx="340106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Dari START sampai END, satu jalur warna untuk setiap tahap.</a:t>
            </a:r>
            <a:endParaRPr lang="en-US" sz="1400" dirty="0"/>
          </a:p>
        </p:txBody>
      </p:sp>
      <p:sp>
        <p:nvSpPr>
          <p:cNvPr id="5" name="Shape 3"/>
          <p:cNvSpPr/>
          <p:nvPr/>
        </p:nvSpPr>
        <p:spPr>
          <a:xfrm>
            <a:off x="815975" y="3165475"/>
            <a:ext cx="3295650" cy="1050290"/>
          </a:xfrm>
          <a:prstGeom prst="roundRect">
            <a:avLst>
              <a:gd name="adj" fmla="val 9371"/>
            </a:avLst>
          </a:prstGeom>
          <a:solidFill>
            <a:srgbClr val="FFFDF8"/>
          </a:solidFill>
          <a:ln w="6350">
            <a:solidFill>
              <a:srgbClr val="D5DCDA"/>
            </a:solidFill>
            <a:prstDash val="solid"/>
          </a:ln>
        </p:spPr>
      </p:sp>
      <p:sp>
        <p:nvSpPr>
          <p:cNvPr id="6" name="Text 4"/>
          <p:cNvSpPr/>
          <p:nvPr/>
        </p:nvSpPr>
        <p:spPr>
          <a:xfrm>
            <a:off x="995680" y="3319780"/>
            <a:ext cx="30243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263F"/>
                </a:solidFill>
                <a:latin typeface="Rubik" pitchFamily="34" charset="0"/>
                <a:ea typeface="Rubik" pitchFamily="34" charset="-122"/>
                <a:cs typeface="Rubik" pitchFamily="34" charset="-120"/>
              </a:rPr>
              <a:t>CS jadi </a:t>
            </a:r>
            <a:r>
              <a:rPr lang="en-US" sz="1500" b="1" dirty="0" err="1">
                <a:solidFill>
                  <a:srgbClr val="12263F"/>
                </a:solidFill>
                <a:latin typeface="Rubik" pitchFamily="34" charset="0"/>
                <a:ea typeface="Rubik" pitchFamily="34" charset="-122"/>
                <a:cs typeface="Rubik" pitchFamily="34" charset="-120"/>
              </a:rPr>
              <a:t>penghubung</a:t>
            </a:r>
            <a:r>
              <a:rPr lang="en-US" sz="1500" b="1" dirty="0">
                <a:solidFill>
                  <a:srgbClr val="12263F"/>
                </a:solidFill>
                <a:latin typeface="Rubik" pitchFamily="34" charset="0"/>
                <a:ea typeface="Rubik" pitchFamily="34" charset="-122"/>
                <a:cs typeface="Rubik" pitchFamily="34" charset="-120"/>
              </a:rPr>
              <a:t> 5 pihak</a:t>
            </a:r>
            <a:endParaRPr lang="en-US" sz="1500" dirty="0"/>
          </a:p>
        </p:txBody>
      </p:sp>
      <p:sp>
        <p:nvSpPr>
          <p:cNvPr id="7" name="Text 5"/>
          <p:cNvSpPr/>
          <p:nvPr/>
        </p:nvSpPr>
        <p:spPr>
          <a:xfrm>
            <a:off x="995680" y="3599180"/>
            <a:ext cx="30243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Customer/shipper, Sales/HQ, depo, dan terminal/CY, Agents</a:t>
            </a:r>
            <a:endParaRPr lang="en-US" sz="1300" dirty="0"/>
          </a:p>
        </p:txBody>
      </p:sp>
      <p:sp>
        <p:nvSpPr>
          <p:cNvPr id="8" name="Shape 6"/>
          <p:cNvSpPr/>
          <p:nvPr/>
        </p:nvSpPr>
        <p:spPr>
          <a:xfrm>
            <a:off x="815975" y="4399916"/>
            <a:ext cx="3295650" cy="1050290"/>
          </a:xfrm>
          <a:prstGeom prst="roundRect">
            <a:avLst>
              <a:gd name="adj" fmla="val 9371"/>
            </a:avLst>
          </a:prstGeom>
          <a:solidFill>
            <a:srgbClr val="FFFDF8"/>
          </a:solidFill>
          <a:ln w="6350">
            <a:solidFill>
              <a:srgbClr val="D5DCDA"/>
            </a:solidFill>
            <a:prstDash val="solid"/>
          </a:ln>
        </p:spPr>
      </p:sp>
      <p:sp>
        <p:nvSpPr>
          <p:cNvPr id="9" name="Text 7"/>
          <p:cNvSpPr/>
          <p:nvPr/>
        </p:nvSpPr>
        <p:spPr>
          <a:xfrm>
            <a:off x="995680" y="4554220"/>
            <a:ext cx="30243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263F"/>
                </a:solidFill>
                <a:latin typeface="Rubik" pitchFamily="34" charset="0"/>
                <a:ea typeface="Rubik" pitchFamily="34" charset="-122"/>
                <a:cs typeface="Rubik" pitchFamily="34" charset="-120"/>
              </a:rPr>
              <a:t>Tahap 6 </a:t>
            </a:r>
            <a:r>
              <a:rPr lang="en-US" sz="1500" b="1" dirty="0" err="1">
                <a:solidFill>
                  <a:srgbClr val="12263F"/>
                </a:solidFill>
                <a:latin typeface="Rubik" pitchFamily="34" charset="0"/>
                <a:ea typeface="Rubik" pitchFamily="34" charset="-122"/>
                <a:cs typeface="Rubik" pitchFamily="34" charset="-120"/>
              </a:rPr>
              <a:t>menghasilkan</a:t>
            </a:r>
            <a:r>
              <a:rPr lang="en-US" sz="1500" b="1" dirty="0">
                <a:solidFill>
                  <a:srgbClr val="12263F"/>
                </a:solidFill>
                <a:latin typeface="Rubik" pitchFamily="34" charset="0"/>
                <a:ea typeface="Rubik" pitchFamily="34" charset="-122"/>
                <a:cs typeface="Rubik" pitchFamily="34" charset="-120"/>
              </a:rPr>
              <a:t> laporan</a:t>
            </a:r>
            <a:endParaRPr lang="en-US" sz="1500" dirty="0"/>
          </a:p>
        </p:txBody>
      </p:sp>
      <p:sp>
        <p:nvSpPr>
          <p:cNvPr id="10" name="Text 8"/>
          <p:cNvSpPr/>
          <p:nvPr/>
        </p:nvSpPr>
        <p:spPr>
          <a:xfrm>
            <a:off x="995680" y="4833620"/>
            <a:ext cx="30243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Booking situation, loading list, current booking, TOP 20, shortfall, dan lainnya.</a:t>
            </a:r>
            <a:endParaRPr lang="en-US" sz="1300" dirty="0"/>
          </a:p>
        </p:txBody>
      </p:sp>
      <p:sp>
        <p:nvSpPr>
          <p:cNvPr id="11" name="Shape 9"/>
          <p:cNvSpPr/>
          <p:nvPr/>
        </p:nvSpPr>
        <p:spPr>
          <a:xfrm>
            <a:off x="4419600" y="812800"/>
            <a:ext cx="6959600" cy="5029200"/>
          </a:xfrm>
          <a:prstGeom prst="roundRect">
            <a:avLst>
              <a:gd name="adj" fmla="val 2020"/>
            </a:avLst>
          </a:prstGeom>
          <a:solidFill>
            <a:srgbClr val="FFFDF8"/>
          </a:solidFill>
          <a:ln/>
        </p:spPr>
      </p:sp>
      <p:pic>
        <p:nvPicPr>
          <p:cNvPr id="12" name="Image 0" descr="Diagram alur CS Booking Flowchart: enam jalur dari Vessel Schedule sampai Reporting"/>
          <p:cNvPicPr>
            <a:picLocks noChangeAspect="1"/>
          </p:cNvPicPr>
          <p:nvPr/>
        </p:nvPicPr>
        <p:blipFill>
          <a:blip r:embed="rId3"/>
          <a:stretch>
            <a:fillRect/>
          </a:stretch>
        </p:blipFill>
        <p:spPr>
          <a:xfrm>
            <a:off x="4425950" y="964338"/>
            <a:ext cx="6946900" cy="4726124"/>
          </a:xfrm>
          <a:prstGeom prst="rect">
            <a:avLst/>
          </a:prstGeom>
        </p:spPr>
      </p:pic>
      <p:sp>
        <p:nvSpPr>
          <p:cNvPr id="13" name="Shape 10"/>
          <p:cNvSpPr/>
          <p:nvPr/>
        </p:nvSpPr>
        <p:spPr>
          <a:xfrm>
            <a:off x="4422775" y="815975"/>
            <a:ext cx="6953250" cy="5022850"/>
          </a:xfrm>
          <a:prstGeom prst="roundRect">
            <a:avLst>
              <a:gd name="adj" fmla="val 1960"/>
            </a:avLst>
          </a:prstGeom>
          <a:noFill/>
          <a:ln w="6350">
            <a:solidFill>
              <a:srgbClr val="D5DCDA"/>
            </a:solidFill>
            <a:prstDash val="solid"/>
          </a:ln>
        </p:spPr>
      </p:sp>
      <p:sp>
        <p:nvSpPr>
          <p:cNvPr id="14" name="Text 11"/>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15" name="Text 1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WORKFLOW CS</a:t>
            </a:r>
            <a:endParaRPr lang="en-US" sz="1400" dirty="0"/>
          </a:p>
        </p:txBody>
      </p:sp>
      <p:sp>
        <p:nvSpPr>
          <p:cNvPr id="3" name="Text 1"/>
          <p:cNvSpPr>
            <a:spLocks noGrp="1"/>
          </p:cNvSpPr>
          <p:nvPr>
            <p:ph type="title"/>
          </p:nvPr>
        </p:nvSpPr>
        <p:spPr>
          <a:xfrm>
            <a:off x="812800" y="113792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Enam tahap kerja, 28 tugas rutin</a:t>
            </a:r>
            <a:endParaRPr lang="en-US" sz="3200" dirty="0"/>
          </a:p>
        </p:txBody>
      </p:sp>
      <p:sp>
        <p:nvSpPr>
          <p:cNvPr id="4" name="Shape 2"/>
          <p:cNvSpPr/>
          <p:nvPr/>
        </p:nvSpPr>
        <p:spPr>
          <a:xfrm>
            <a:off x="815975" y="1842136"/>
            <a:ext cx="3380264" cy="1743710"/>
          </a:xfrm>
          <a:prstGeom prst="roundRect">
            <a:avLst>
              <a:gd name="adj" fmla="val 7101"/>
            </a:avLst>
          </a:prstGeom>
          <a:solidFill>
            <a:srgbClr val="FFFDF8"/>
          </a:solidFill>
          <a:ln w="6350">
            <a:solidFill>
              <a:srgbClr val="E2DDD0"/>
            </a:solidFill>
            <a:prstDash val="solid"/>
          </a:ln>
        </p:spPr>
      </p:sp>
      <p:sp>
        <p:nvSpPr>
          <p:cNvPr id="5" name="Text 3"/>
          <p:cNvSpPr/>
          <p:nvPr/>
        </p:nvSpPr>
        <p:spPr>
          <a:xfrm>
            <a:off x="1021080" y="2087880"/>
            <a:ext cx="406400" cy="406400"/>
          </a:xfrm>
          <a:prstGeom prst="roundRect">
            <a:avLst>
              <a:gd name="adj" fmla="val 50000"/>
            </a:avLst>
          </a:prstGeom>
          <a:solidFill>
            <a:srgbClr val="17787D"/>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Rubik" pitchFamily="34" charset="0"/>
                <a:ea typeface="Rubik" pitchFamily="34" charset="-122"/>
                <a:cs typeface="Rubik" pitchFamily="34" charset="-120"/>
              </a:rPr>
              <a:t>1</a:t>
            </a:r>
            <a:endParaRPr lang="en-US" sz="1600" dirty="0"/>
          </a:p>
        </p:txBody>
      </p:sp>
      <p:sp>
        <p:nvSpPr>
          <p:cNvPr id="6" name="Text 4"/>
          <p:cNvSpPr/>
          <p:nvPr/>
        </p:nvSpPr>
        <p:spPr>
          <a:xfrm>
            <a:off x="1554480" y="2047241"/>
            <a:ext cx="2509753"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Vessel Schedule &amp; Informasi</a:t>
            </a:r>
            <a:endParaRPr lang="en-US" sz="1600" dirty="0"/>
          </a:p>
        </p:txBody>
      </p:sp>
      <p:sp>
        <p:nvSpPr>
          <p:cNvPr id="7" name="Text 5"/>
          <p:cNvSpPr/>
          <p:nvPr/>
        </p:nvSpPr>
        <p:spPr>
          <a:xfrm>
            <a:off x="1021080" y="2611120"/>
            <a:ext cx="305915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Siapkan jadwal kapal dan kabari customer bila ada perubahan.</a:t>
            </a:r>
            <a:endParaRPr lang="en-US" sz="1300" dirty="0"/>
          </a:p>
        </p:txBody>
      </p:sp>
      <p:sp>
        <p:nvSpPr>
          <p:cNvPr id="8" name="Text 6"/>
          <p:cNvSpPr/>
          <p:nvPr/>
        </p:nvSpPr>
        <p:spPr>
          <a:xfrm>
            <a:off x="1021080" y="3149600"/>
            <a:ext cx="3059155"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787D"/>
                </a:solidFill>
                <a:latin typeface="Nunito Sans" pitchFamily="34" charset="0"/>
                <a:ea typeface="Nunito Sans" pitchFamily="34" charset="-122"/>
                <a:cs typeface="Nunito Sans" pitchFamily="34" charset="-120"/>
              </a:rPr>
              <a:t>2 tugas</a:t>
            </a:r>
            <a:endParaRPr lang="en-US" sz="1300" dirty="0"/>
          </a:p>
        </p:txBody>
      </p:sp>
      <p:sp>
        <p:nvSpPr>
          <p:cNvPr id="9" name="Shape 7"/>
          <p:cNvSpPr/>
          <p:nvPr/>
        </p:nvSpPr>
        <p:spPr>
          <a:xfrm>
            <a:off x="4405789" y="1842136"/>
            <a:ext cx="3380343" cy="1743710"/>
          </a:xfrm>
          <a:prstGeom prst="roundRect">
            <a:avLst>
              <a:gd name="adj" fmla="val 7101"/>
            </a:avLst>
          </a:prstGeom>
          <a:solidFill>
            <a:srgbClr val="FFFDF8"/>
          </a:solidFill>
          <a:ln w="6350">
            <a:solidFill>
              <a:srgbClr val="E2DDD0"/>
            </a:solidFill>
            <a:prstDash val="solid"/>
          </a:ln>
        </p:spPr>
      </p:sp>
      <p:sp>
        <p:nvSpPr>
          <p:cNvPr id="10" name="Text 8"/>
          <p:cNvSpPr/>
          <p:nvPr/>
        </p:nvSpPr>
        <p:spPr>
          <a:xfrm>
            <a:off x="4610894" y="2087880"/>
            <a:ext cx="406400" cy="406400"/>
          </a:xfrm>
          <a:prstGeom prst="roundRect">
            <a:avLst>
              <a:gd name="adj" fmla="val 50000"/>
            </a:avLst>
          </a:prstGeom>
          <a:solidFill>
            <a:srgbClr val="17787D"/>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Rubik" pitchFamily="34" charset="0"/>
                <a:ea typeface="Rubik" pitchFamily="34" charset="-122"/>
                <a:cs typeface="Rubik" pitchFamily="34" charset="-120"/>
              </a:rPr>
              <a:t>2</a:t>
            </a:r>
            <a:endParaRPr lang="en-US" sz="1600" dirty="0"/>
          </a:p>
        </p:txBody>
      </p:sp>
      <p:sp>
        <p:nvSpPr>
          <p:cNvPr id="11" name="Text 9"/>
          <p:cNvSpPr/>
          <p:nvPr/>
        </p:nvSpPr>
        <p:spPr>
          <a:xfrm>
            <a:off x="5144294" y="2047241"/>
            <a:ext cx="2509835"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Menangani Permintaan Booking</a:t>
            </a:r>
            <a:endParaRPr lang="en-US" sz="1600" dirty="0"/>
          </a:p>
        </p:txBody>
      </p:sp>
      <p:sp>
        <p:nvSpPr>
          <p:cNvPr id="12" name="Text 10"/>
          <p:cNvSpPr/>
          <p:nvPr/>
        </p:nvSpPr>
        <p:spPr>
          <a:xfrm>
            <a:off x="4610894" y="2611120"/>
            <a:ext cx="305923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Validasi permintaan booking sebelum dikonfirmasi.</a:t>
            </a:r>
            <a:endParaRPr lang="en-US" sz="1300" dirty="0"/>
          </a:p>
        </p:txBody>
      </p:sp>
      <p:sp>
        <p:nvSpPr>
          <p:cNvPr id="13" name="Text 11"/>
          <p:cNvSpPr/>
          <p:nvPr/>
        </p:nvSpPr>
        <p:spPr>
          <a:xfrm>
            <a:off x="4610894" y="3149600"/>
            <a:ext cx="305923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787D"/>
                </a:solidFill>
                <a:latin typeface="Nunito Sans" pitchFamily="34" charset="0"/>
                <a:ea typeface="Nunito Sans" pitchFamily="34" charset="-122"/>
                <a:cs typeface="Nunito Sans" pitchFamily="34" charset="-120"/>
              </a:rPr>
              <a:t>6 tugas</a:t>
            </a:r>
            <a:endParaRPr lang="en-US" sz="1300" dirty="0"/>
          </a:p>
        </p:txBody>
      </p:sp>
      <p:sp>
        <p:nvSpPr>
          <p:cNvPr id="14" name="Shape 12"/>
          <p:cNvSpPr/>
          <p:nvPr/>
        </p:nvSpPr>
        <p:spPr>
          <a:xfrm>
            <a:off x="7995682" y="1842136"/>
            <a:ext cx="3380343" cy="1743710"/>
          </a:xfrm>
          <a:prstGeom prst="roundRect">
            <a:avLst>
              <a:gd name="adj" fmla="val 7101"/>
            </a:avLst>
          </a:prstGeom>
          <a:solidFill>
            <a:srgbClr val="FFFDF8"/>
          </a:solidFill>
          <a:ln w="6350">
            <a:solidFill>
              <a:srgbClr val="E2DDD0"/>
            </a:solidFill>
            <a:prstDash val="solid"/>
          </a:ln>
        </p:spPr>
      </p:sp>
      <p:sp>
        <p:nvSpPr>
          <p:cNvPr id="15" name="Text 13"/>
          <p:cNvSpPr/>
          <p:nvPr/>
        </p:nvSpPr>
        <p:spPr>
          <a:xfrm>
            <a:off x="8200787" y="2087880"/>
            <a:ext cx="406400" cy="406400"/>
          </a:xfrm>
          <a:prstGeom prst="roundRect">
            <a:avLst>
              <a:gd name="adj" fmla="val 50000"/>
            </a:avLst>
          </a:prstGeom>
          <a:solidFill>
            <a:srgbClr val="17787D"/>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Rubik" pitchFamily="34" charset="0"/>
                <a:ea typeface="Rubik" pitchFamily="34" charset="-122"/>
                <a:cs typeface="Rubik" pitchFamily="34" charset="-120"/>
              </a:rPr>
              <a:t>3</a:t>
            </a:r>
            <a:endParaRPr lang="en-US" sz="1600" dirty="0"/>
          </a:p>
        </p:txBody>
      </p:sp>
      <p:sp>
        <p:nvSpPr>
          <p:cNvPr id="16" name="Text 14"/>
          <p:cNvSpPr/>
          <p:nvPr/>
        </p:nvSpPr>
        <p:spPr>
          <a:xfrm>
            <a:off x="8734187" y="2047241"/>
            <a:ext cx="2509835"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Konfirmasi Booking &amp; D/O Export</a:t>
            </a:r>
            <a:endParaRPr lang="en-US" sz="1600" dirty="0"/>
          </a:p>
        </p:txBody>
      </p:sp>
      <p:sp>
        <p:nvSpPr>
          <p:cNvPr id="17" name="Text 15"/>
          <p:cNvSpPr/>
          <p:nvPr/>
        </p:nvSpPr>
        <p:spPr>
          <a:xfrm>
            <a:off x="8200787" y="2611120"/>
            <a:ext cx="305923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Konfirmasi booking, terbitkan D/O, pantau pengambilan kontainer.</a:t>
            </a:r>
            <a:endParaRPr lang="en-US" sz="1300" dirty="0"/>
          </a:p>
        </p:txBody>
      </p:sp>
      <p:sp>
        <p:nvSpPr>
          <p:cNvPr id="18" name="Text 16"/>
          <p:cNvSpPr/>
          <p:nvPr/>
        </p:nvSpPr>
        <p:spPr>
          <a:xfrm>
            <a:off x="8200787" y="3149600"/>
            <a:ext cx="305923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787D"/>
                </a:solidFill>
                <a:latin typeface="Nunito Sans" pitchFamily="34" charset="0"/>
                <a:ea typeface="Nunito Sans" pitchFamily="34" charset="-122"/>
                <a:cs typeface="Nunito Sans" pitchFamily="34" charset="-120"/>
              </a:rPr>
              <a:t>7 tugas</a:t>
            </a:r>
            <a:endParaRPr lang="en-US" sz="1300" dirty="0"/>
          </a:p>
        </p:txBody>
      </p:sp>
      <p:sp>
        <p:nvSpPr>
          <p:cNvPr id="19" name="Shape 17"/>
          <p:cNvSpPr/>
          <p:nvPr/>
        </p:nvSpPr>
        <p:spPr>
          <a:xfrm>
            <a:off x="815975" y="3795395"/>
            <a:ext cx="3380264" cy="1743710"/>
          </a:xfrm>
          <a:prstGeom prst="roundRect">
            <a:avLst>
              <a:gd name="adj" fmla="val 7101"/>
            </a:avLst>
          </a:prstGeom>
          <a:solidFill>
            <a:srgbClr val="FFFDF8"/>
          </a:solidFill>
          <a:ln w="6350">
            <a:solidFill>
              <a:srgbClr val="E2DDD0"/>
            </a:solidFill>
            <a:prstDash val="solid"/>
          </a:ln>
        </p:spPr>
      </p:sp>
      <p:sp>
        <p:nvSpPr>
          <p:cNvPr id="20" name="Text 18"/>
          <p:cNvSpPr/>
          <p:nvPr/>
        </p:nvSpPr>
        <p:spPr>
          <a:xfrm>
            <a:off x="1021080" y="4000500"/>
            <a:ext cx="406400" cy="406400"/>
          </a:xfrm>
          <a:prstGeom prst="roundRect">
            <a:avLst>
              <a:gd name="adj" fmla="val 50000"/>
            </a:avLst>
          </a:prstGeom>
          <a:solidFill>
            <a:srgbClr val="17787D"/>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Rubik" pitchFamily="34" charset="0"/>
                <a:ea typeface="Rubik" pitchFamily="34" charset="-122"/>
                <a:cs typeface="Rubik" pitchFamily="34" charset="-120"/>
              </a:rPr>
              <a:t>4</a:t>
            </a:r>
            <a:endParaRPr lang="en-US" sz="1600" dirty="0"/>
          </a:p>
        </p:txBody>
      </p:sp>
      <p:sp>
        <p:nvSpPr>
          <p:cNvPr id="21" name="Text 19"/>
          <p:cNvSpPr/>
          <p:nvPr/>
        </p:nvSpPr>
        <p:spPr>
          <a:xfrm>
            <a:off x="1554480" y="4081780"/>
            <a:ext cx="263858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Informasi Tarif &amp; Biaya</a:t>
            </a:r>
            <a:endParaRPr lang="en-US" sz="1600" dirty="0"/>
          </a:p>
        </p:txBody>
      </p:sp>
      <p:sp>
        <p:nvSpPr>
          <p:cNvPr id="22" name="Text 20"/>
          <p:cNvSpPr/>
          <p:nvPr/>
        </p:nvSpPr>
        <p:spPr>
          <a:xfrm>
            <a:off x="1021080" y="4483100"/>
            <a:ext cx="305915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Pastikan tarif ke customer sesuai dan terbaru.</a:t>
            </a:r>
            <a:endParaRPr lang="en-US" sz="1300" dirty="0"/>
          </a:p>
        </p:txBody>
      </p:sp>
      <p:sp>
        <p:nvSpPr>
          <p:cNvPr id="23" name="Text 21"/>
          <p:cNvSpPr/>
          <p:nvPr/>
        </p:nvSpPr>
        <p:spPr>
          <a:xfrm>
            <a:off x="1021080" y="5021580"/>
            <a:ext cx="3059155"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787D"/>
                </a:solidFill>
                <a:latin typeface="Nunito Sans" pitchFamily="34" charset="0"/>
                <a:ea typeface="Nunito Sans" pitchFamily="34" charset="-122"/>
                <a:cs typeface="Nunito Sans" pitchFamily="34" charset="-120"/>
              </a:rPr>
              <a:t>3 tugas</a:t>
            </a:r>
            <a:endParaRPr lang="en-US" sz="1300" dirty="0"/>
          </a:p>
        </p:txBody>
      </p:sp>
      <p:sp>
        <p:nvSpPr>
          <p:cNvPr id="24" name="Shape 22"/>
          <p:cNvSpPr/>
          <p:nvPr/>
        </p:nvSpPr>
        <p:spPr>
          <a:xfrm>
            <a:off x="4405789" y="3795395"/>
            <a:ext cx="3380343" cy="1743710"/>
          </a:xfrm>
          <a:prstGeom prst="roundRect">
            <a:avLst>
              <a:gd name="adj" fmla="val 7101"/>
            </a:avLst>
          </a:prstGeom>
          <a:solidFill>
            <a:srgbClr val="FFFDF8"/>
          </a:solidFill>
          <a:ln w="6350">
            <a:solidFill>
              <a:srgbClr val="E2DDD0"/>
            </a:solidFill>
            <a:prstDash val="solid"/>
          </a:ln>
        </p:spPr>
      </p:sp>
      <p:sp>
        <p:nvSpPr>
          <p:cNvPr id="25" name="Text 23"/>
          <p:cNvSpPr/>
          <p:nvPr/>
        </p:nvSpPr>
        <p:spPr>
          <a:xfrm>
            <a:off x="4610894" y="4041141"/>
            <a:ext cx="406400" cy="406400"/>
          </a:xfrm>
          <a:prstGeom prst="roundRect">
            <a:avLst>
              <a:gd name="adj" fmla="val 50000"/>
            </a:avLst>
          </a:prstGeom>
          <a:solidFill>
            <a:srgbClr val="17787D"/>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Rubik" pitchFamily="34" charset="0"/>
                <a:ea typeface="Rubik" pitchFamily="34" charset="-122"/>
                <a:cs typeface="Rubik" pitchFamily="34" charset="-120"/>
              </a:rPr>
              <a:t>5</a:t>
            </a:r>
            <a:endParaRPr lang="en-US" sz="1600" dirty="0"/>
          </a:p>
        </p:txBody>
      </p:sp>
      <p:sp>
        <p:nvSpPr>
          <p:cNvPr id="26" name="Text 24"/>
          <p:cNvSpPr/>
          <p:nvPr/>
        </p:nvSpPr>
        <p:spPr>
          <a:xfrm>
            <a:off x="5144294" y="4000500"/>
            <a:ext cx="2509835"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Menangani Keluhan &amp; Masalah</a:t>
            </a:r>
            <a:endParaRPr lang="en-US" sz="1600" dirty="0"/>
          </a:p>
        </p:txBody>
      </p:sp>
      <p:sp>
        <p:nvSpPr>
          <p:cNvPr id="27" name="Text 25"/>
          <p:cNvSpPr/>
          <p:nvPr/>
        </p:nvSpPr>
        <p:spPr>
          <a:xfrm>
            <a:off x="4610894" y="4564380"/>
            <a:ext cx="305923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Tindak lanjuti komplain customer sampai tuntas.</a:t>
            </a:r>
            <a:endParaRPr lang="en-US" sz="1300" dirty="0"/>
          </a:p>
        </p:txBody>
      </p:sp>
      <p:sp>
        <p:nvSpPr>
          <p:cNvPr id="28" name="Text 26"/>
          <p:cNvSpPr/>
          <p:nvPr/>
        </p:nvSpPr>
        <p:spPr>
          <a:xfrm>
            <a:off x="4610894" y="5102861"/>
            <a:ext cx="305923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787D"/>
                </a:solidFill>
                <a:latin typeface="Nunito Sans" pitchFamily="34" charset="0"/>
                <a:ea typeface="Nunito Sans" pitchFamily="34" charset="-122"/>
                <a:cs typeface="Nunito Sans" pitchFamily="34" charset="-120"/>
              </a:rPr>
              <a:t>1 tugas</a:t>
            </a:r>
            <a:endParaRPr lang="en-US" sz="1300" dirty="0"/>
          </a:p>
        </p:txBody>
      </p:sp>
      <p:sp>
        <p:nvSpPr>
          <p:cNvPr id="29" name="Shape 27"/>
          <p:cNvSpPr/>
          <p:nvPr/>
        </p:nvSpPr>
        <p:spPr>
          <a:xfrm>
            <a:off x="7995682" y="3795395"/>
            <a:ext cx="3380343" cy="1743710"/>
          </a:xfrm>
          <a:prstGeom prst="roundRect">
            <a:avLst>
              <a:gd name="adj" fmla="val 7101"/>
            </a:avLst>
          </a:prstGeom>
          <a:solidFill>
            <a:srgbClr val="FFFDF8"/>
          </a:solidFill>
          <a:ln w="6350">
            <a:solidFill>
              <a:srgbClr val="E2DDD0"/>
            </a:solidFill>
            <a:prstDash val="solid"/>
          </a:ln>
        </p:spPr>
      </p:sp>
      <p:sp>
        <p:nvSpPr>
          <p:cNvPr id="30" name="Text 28"/>
          <p:cNvSpPr/>
          <p:nvPr/>
        </p:nvSpPr>
        <p:spPr>
          <a:xfrm>
            <a:off x="8200787" y="4000500"/>
            <a:ext cx="406400" cy="406400"/>
          </a:xfrm>
          <a:prstGeom prst="roundRect">
            <a:avLst>
              <a:gd name="adj" fmla="val 50000"/>
            </a:avLst>
          </a:prstGeom>
          <a:solidFill>
            <a:srgbClr val="17787D"/>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Rubik" pitchFamily="34" charset="0"/>
                <a:ea typeface="Rubik" pitchFamily="34" charset="-122"/>
                <a:cs typeface="Rubik" pitchFamily="34" charset="-120"/>
              </a:rPr>
              <a:t>6</a:t>
            </a:r>
            <a:endParaRPr lang="en-US" sz="1600" dirty="0"/>
          </a:p>
        </p:txBody>
      </p:sp>
      <p:sp>
        <p:nvSpPr>
          <p:cNvPr id="31" name="Text 29"/>
          <p:cNvSpPr/>
          <p:nvPr/>
        </p:nvSpPr>
        <p:spPr>
          <a:xfrm>
            <a:off x="8734187" y="4081780"/>
            <a:ext cx="226590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Report / Pelaporan</a:t>
            </a:r>
            <a:endParaRPr lang="en-US" sz="1600" dirty="0"/>
          </a:p>
        </p:txBody>
      </p:sp>
      <p:sp>
        <p:nvSpPr>
          <p:cNvPr id="32" name="Text 30"/>
          <p:cNvSpPr/>
          <p:nvPr/>
        </p:nvSpPr>
        <p:spPr>
          <a:xfrm>
            <a:off x="8200787" y="4483100"/>
            <a:ext cx="305923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Laporan rutin untuk internal dan HQ.</a:t>
            </a:r>
            <a:endParaRPr lang="en-US" sz="1300" dirty="0"/>
          </a:p>
        </p:txBody>
      </p:sp>
      <p:sp>
        <p:nvSpPr>
          <p:cNvPr id="33" name="Text 31"/>
          <p:cNvSpPr/>
          <p:nvPr/>
        </p:nvSpPr>
        <p:spPr>
          <a:xfrm>
            <a:off x="8200787" y="4790441"/>
            <a:ext cx="305923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787D"/>
                </a:solidFill>
                <a:latin typeface="Nunito Sans" pitchFamily="34" charset="0"/>
                <a:ea typeface="Nunito Sans" pitchFamily="34" charset="-122"/>
                <a:cs typeface="Nunito Sans" pitchFamily="34" charset="-120"/>
              </a:rPr>
              <a:t>9 tugas</a:t>
            </a:r>
            <a:endParaRPr lang="en-US" sz="1300" dirty="0"/>
          </a:p>
        </p:txBody>
      </p:sp>
      <p:sp>
        <p:nvSpPr>
          <p:cNvPr id="34" name="Text 32"/>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35" name="Text 33"/>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84960"/>
            <a:ext cx="7315200" cy="2072640"/>
          </a:xfrm>
          <a:prstGeom prst="rect">
            <a:avLst/>
          </a:prstGeom>
          <a:noFill/>
          <a:ln/>
        </p:spPr>
        <p:txBody>
          <a:bodyPr wrap="square" lIns="0" tIns="0" rIns="0" bIns="0" rtlCol="0" anchor="b"/>
          <a:lstStyle/>
          <a:p>
            <a:r>
              <a:rPr lang="en-US" dirty="0"/>
              <a:t>1. Share DO: Otomatis vs Manual</a:t>
            </a:r>
          </a:p>
        </p:txBody>
      </p:sp>
      <p:sp>
        <p:nvSpPr>
          <p:cNvPr id="3" name="Text 0"/>
          <p:cNvSpPr>
            <a:spLocks noGrp="1"/>
          </p:cNvSpPr>
          <p:nvPr>
            <p:ph type="body" idx="101" hasCustomPrompt="1"/>
          </p:nvPr>
        </p:nvSpPr>
        <p:spPr>
          <a:xfrm>
            <a:off x="731520" y="3901440"/>
            <a:ext cx="7315200" cy="1219200"/>
          </a:xfrm>
          <a:prstGeom prst="rect">
            <a:avLst/>
          </a:prstGeom>
          <a:noFill/>
          <a:ln/>
        </p:spPr>
        <p:txBody>
          <a:bodyPr wrap="square" lIns="0" tIns="0" rIns="0" bIns="0" rtlCol="0" anchor="t"/>
          <a:lstStyle/>
          <a:p>
            <a:r>
              <a:rPr lang="en-US" dirty="0"/>
              <a:t>Dari daftar booking ke draft email, dan perbandingannya dengan cara kerja manual</a:t>
            </a:r>
          </a:p>
        </p:txBody>
      </p:sp>
      <p:sp>
        <p:nvSpPr>
          <p:cNvPr id="4" name="Title circle"/>
          <p:cNvSpPr/>
          <p:nvPr/>
        </p:nvSpPr>
        <p:spPr>
          <a:xfrm>
            <a:off x="8778240" y="1828800"/>
            <a:ext cx="2682240" cy="2682240"/>
          </a:xfrm>
          <a:prstGeom prst="ellipse">
            <a:avLst/>
          </a:prstGeom>
          <a:solidFill>
            <a:schemeClr val="accent1"/>
          </a:solidFill>
          <a:ln/>
        </p:spPr>
      </p:sp>
      <p:pic>
        <p:nvPicPr>
          <p:cNvPr id="5" name="Ship icon" descr="Ikon kapal"/>
          <p:cNvPicPr>
            <a:picLocks noChangeAspect="1"/>
          </p:cNvPicPr>
          <p:nvPr/>
        </p:nvPicPr>
        <p:blipFill>
          <a:blip r:embed="rId3"/>
          <a:stretch>
            <a:fillRect/>
          </a:stretch>
        </p:blipFill>
        <p:spPr>
          <a:xfrm>
            <a:off x="9448800" y="2499360"/>
            <a:ext cx="1341120" cy="1341120"/>
          </a:xfrm>
          <a:prstGeom prst="rect">
            <a:avLst/>
          </a:prstGeom>
        </p:spPr>
      </p:pic>
      <p:sp>
        <p:nvSpPr>
          <p:cNvPr id="6" name="Text 3"/>
          <p:cNvSpPr txBox="1"/>
          <p:nvPr/>
        </p:nvSpPr>
        <p:spPr>
          <a:xfrm>
            <a:off x="731520" y="5730240"/>
            <a:ext cx="10728960" cy="487680"/>
          </a:xfrm>
          <a:prstGeom prst="rect">
            <a:avLst/>
          </a:prstGeom>
          <a:noFill/>
          <a:ln/>
        </p:spPr>
        <p:txBody>
          <a:bodyPr wrap="square" lIns="0" tIns="0" rIns="0" bIns="0" rtlCol="0" anchor="t"/>
          <a:lstStyle/>
          <a:p>
            <a:r>
              <a:rPr lang="en-US" sz="1867" dirty="0">
                <a:solidFill>
                  <a:schemeClr val="accent4"/>
                </a:solidFill>
              </a:rPr>
              <a:t>Customer Service</a:t>
            </a:r>
            <a:r>
              <a:rPr lang="en-US" sz="1867">
                <a:solidFill>
                  <a:schemeClr val="accent4"/>
                </a:solidFill>
              </a:rPr>
              <a:t>, HAL &amp; SKR </a:t>
            </a:r>
            <a:r>
              <a:rPr lang="en-US" sz="1867" dirty="0">
                <a:solidFill>
                  <a:schemeClr val="accent4"/>
                </a:solidFill>
              </a:rPr>
              <a:t>Jakarta  |  Oktober 2026</a:t>
            </a:r>
            <a:endParaRPr lang="en-US" sz="18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lIns="0" tIns="0" rIns="0" bIns="0" rtlCol="0" anchor="ctr"/>
          <a:lstStyle/>
          <a:p>
            <a:r>
              <a:rPr lang="en-US" dirty="0"/>
              <a:t>Alur manual: diulang untuk setiap booking</a:t>
            </a:r>
          </a:p>
        </p:txBody>
      </p:sp>
      <p:sp>
        <p:nvSpPr>
          <p:cNvPr id="3" name="Step card 1"/>
          <p:cNvSpPr/>
          <p:nvPr/>
        </p:nvSpPr>
        <p:spPr>
          <a:xfrm>
            <a:off x="609600" y="1463040"/>
            <a:ext cx="3291840" cy="1706880"/>
          </a:xfrm>
          <a:prstGeom prst="roundRect">
            <a:avLst>
              <a:gd name="adj" fmla="val 5714"/>
            </a:avLst>
          </a:prstGeom>
          <a:solidFill>
            <a:schemeClr val="bg2"/>
          </a:solidFill>
          <a:ln/>
        </p:spPr>
      </p:sp>
      <p:sp>
        <p:nvSpPr>
          <p:cNvPr id="4" name="Step number 1"/>
          <p:cNvSpPr txBox="1"/>
          <p:nvPr/>
        </p:nvSpPr>
        <p:spPr>
          <a:xfrm>
            <a:off x="792480" y="162153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1</a:t>
            </a:r>
            <a:endParaRPr lang="en-US" sz="1867" dirty="0"/>
          </a:p>
        </p:txBody>
      </p:sp>
      <p:sp>
        <p:nvSpPr>
          <p:cNvPr id="5" name="Text 3"/>
          <p:cNvSpPr txBox="1"/>
          <p:nvPr/>
        </p:nvSpPr>
        <p:spPr>
          <a:xfrm>
            <a:off x="1402080" y="1621536"/>
            <a:ext cx="2438400" cy="487680"/>
          </a:xfrm>
          <a:prstGeom prst="rect">
            <a:avLst/>
          </a:prstGeom>
          <a:noFill/>
          <a:ln/>
        </p:spPr>
        <p:txBody>
          <a:bodyPr wrap="square" lIns="0" tIns="0" rIns="0" bIns="0" rtlCol="0" anchor="ctr"/>
          <a:lstStyle/>
          <a:p>
            <a:r>
              <a:rPr lang="en-US" sz="1867" b="1" dirty="0">
                <a:solidFill>
                  <a:schemeClr val="tx2"/>
                </a:solidFill>
              </a:rPr>
              <a:t>Print DO dari sistem</a:t>
            </a:r>
            <a:endParaRPr lang="en-US" sz="1867" dirty="0"/>
          </a:p>
        </p:txBody>
      </p:sp>
      <p:sp>
        <p:nvSpPr>
          <p:cNvPr id="6" name="Text 4"/>
          <p:cNvSpPr txBox="1"/>
          <p:nvPr/>
        </p:nvSpPr>
        <p:spPr>
          <a:xfrm>
            <a:off x="792480" y="2194560"/>
            <a:ext cx="2926080" cy="609600"/>
          </a:xfrm>
          <a:prstGeom prst="rect">
            <a:avLst/>
          </a:prstGeom>
          <a:noFill/>
          <a:ln/>
        </p:spPr>
        <p:txBody>
          <a:bodyPr wrap="square" lIns="0" tIns="0" rIns="0" bIns="0" rtlCol="0" anchor="t"/>
          <a:lstStyle/>
          <a:p>
            <a:r>
              <a:rPr lang="en-US" sz="1867" dirty="0"/>
              <a:t>Cetak DO tiap booking dari sistem perusahaan</a:t>
            </a:r>
          </a:p>
        </p:txBody>
      </p:sp>
      <p:sp>
        <p:nvSpPr>
          <p:cNvPr id="7" name="Text 5"/>
          <p:cNvSpPr txBox="1"/>
          <p:nvPr/>
        </p:nvSpPr>
        <p:spPr>
          <a:xfrm>
            <a:off x="792480" y="2804160"/>
            <a:ext cx="2926080" cy="268224"/>
          </a:xfrm>
          <a:prstGeom prst="rect">
            <a:avLst/>
          </a:prstGeom>
          <a:noFill/>
          <a:ln/>
        </p:spPr>
        <p:txBody>
          <a:bodyPr wrap="square" lIns="0" tIns="0" rIns="0" bIns="0" rtlCol="0" anchor="t"/>
          <a:lstStyle/>
          <a:p>
            <a:r>
              <a:rPr lang="en-US" sz="1467" b="1" dirty="0">
                <a:solidFill>
                  <a:schemeClr val="accent2"/>
                </a:solidFill>
              </a:rPr>
              <a:t>±1 MENIT</a:t>
            </a:r>
            <a:endParaRPr lang="en-US" sz="1467" dirty="0"/>
          </a:p>
        </p:txBody>
      </p:sp>
      <p:sp>
        <p:nvSpPr>
          <p:cNvPr id="8" name="Step card 2"/>
          <p:cNvSpPr/>
          <p:nvPr/>
        </p:nvSpPr>
        <p:spPr>
          <a:xfrm>
            <a:off x="4450080" y="1463040"/>
            <a:ext cx="3291840" cy="1706880"/>
          </a:xfrm>
          <a:prstGeom prst="roundRect">
            <a:avLst>
              <a:gd name="adj" fmla="val 5714"/>
            </a:avLst>
          </a:prstGeom>
          <a:solidFill>
            <a:schemeClr val="bg2"/>
          </a:solidFill>
          <a:ln/>
        </p:spPr>
      </p:sp>
      <p:sp>
        <p:nvSpPr>
          <p:cNvPr id="9" name="Step number 2"/>
          <p:cNvSpPr txBox="1"/>
          <p:nvPr/>
        </p:nvSpPr>
        <p:spPr>
          <a:xfrm>
            <a:off x="4632960" y="162153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2</a:t>
            </a:r>
            <a:endParaRPr lang="en-US" sz="1867" dirty="0"/>
          </a:p>
        </p:txBody>
      </p:sp>
      <p:sp>
        <p:nvSpPr>
          <p:cNvPr id="10" name="Text 8"/>
          <p:cNvSpPr txBox="1"/>
          <p:nvPr/>
        </p:nvSpPr>
        <p:spPr>
          <a:xfrm>
            <a:off x="5242560" y="1621536"/>
            <a:ext cx="2438400" cy="487680"/>
          </a:xfrm>
          <a:prstGeom prst="rect">
            <a:avLst/>
          </a:prstGeom>
          <a:noFill/>
          <a:ln/>
        </p:spPr>
        <p:txBody>
          <a:bodyPr wrap="square" lIns="0" tIns="0" rIns="0" bIns="0" rtlCol="0" anchor="ctr"/>
          <a:lstStyle/>
          <a:p>
            <a:r>
              <a:rPr lang="en-US" sz="1867" b="1" dirty="0">
                <a:solidFill>
                  <a:schemeClr val="tx2"/>
                </a:solidFill>
              </a:rPr>
              <a:t>Cari thread email</a:t>
            </a:r>
            <a:endParaRPr lang="en-US" sz="1867" dirty="0"/>
          </a:p>
        </p:txBody>
      </p:sp>
      <p:sp>
        <p:nvSpPr>
          <p:cNvPr id="11" name="Text 9"/>
          <p:cNvSpPr txBox="1"/>
          <p:nvPr/>
        </p:nvSpPr>
        <p:spPr>
          <a:xfrm>
            <a:off x="4632960" y="2194560"/>
            <a:ext cx="2926080" cy="609600"/>
          </a:xfrm>
          <a:prstGeom prst="rect">
            <a:avLst/>
          </a:prstGeom>
          <a:noFill/>
          <a:ln/>
        </p:spPr>
        <p:txBody>
          <a:bodyPr wrap="square" lIns="0" tIns="0" rIns="0" bIns="0" rtlCol="0" anchor="t"/>
          <a:lstStyle/>
          <a:p>
            <a:r>
              <a:rPr lang="en-US" sz="1867" dirty="0"/>
              <a:t>Cari nomor booking di Inbox, OCT, SEPT, Sent Items</a:t>
            </a:r>
          </a:p>
        </p:txBody>
      </p:sp>
      <p:sp>
        <p:nvSpPr>
          <p:cNvPr id="12" name="Text 10"/>
          <p:cNvSpPr txBox="1"/>
          <p:nvPr/>
        </p:nvSpPr>
        <p:spPr>
          <a:xfrm>
            <a:off x="4632960" y="2804160"/>
            <a:ext cx="2926080" cy="268224"/>
          </a:xfrm>
          <a:prstGeom prst="rect">
            <a:avLst/>
          </a:prstGeom>
          <a:noFill/>
          <a:ln/>
        </p:spPr>
        <p:txBody>
          <a:bodyPr wrap="square" lIns="0" tIns="0" rIns="0" bIns="0" rtlCol="0" anchor="t"/>
          <a:lstStyle/>
          <a:p>
            <a:r>
              <a:rPr lang="en-US" sz="1467" b="1" dirty="0">
                <a:solidFill>
                  <a:schemeClr val="accent2"/>
                </a:solidFill>
              </a:rPr>
              <a:t>±2 MENIT</a:t>
            </a:r>
            <a:endParaRPr lang="en-US" sz="1467" dirty="0"/>
          </a:p>
        </p:txBody>
      </p:sp>
      <p:sp>
        <p:nvSpPr>
          <p:cNvPr id="13" name="Step card 3"/>
          <p:cNvSpPr/>
          <p:nvPr/>
        </p:nvSpPr>
        <p:spPr>
          <a:xfrm>
            <a:off x="8290560" y="1463040"/>
            <a:ext cx="3291840" cy="1706880"/>
          </a:xfrm>
          <a:prstGeom prst="roundRect">
            <a:avLst>
              <a:gd name="adj" fmla="val 5714"/>
            </a:avLst>
          </a:prstGeom>
          <a:solidFill>
            <a:schemeClr val="bg2"/>
          </a:solidFill>
          <a:ln/>
        </p:spPr>
      </p:sp>
      <p:sp>
        <p:nvSpPr>
          <p:cNvPr id="14" name="Step number 3"/>
          <p:cNvSpPr txBox="1"/>
          <p:nvPr/>
        </p:nvSpPr>
        <p:spPr>
          <a:xfrm>
            <a:off x="8473440" y="162153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3</a:t>
            </a:r>
            <a:endParaRPr lang="en-US" sz="1867" dirty="0"/>
          </a:p>
        </p:txBody>
      </p:sp>
      <p:sp>
        <p:nvSpPr>
          <p:cNvPr id="15" name="Text 13"/>
          <p:cNvSpPr txBox="1"/>
          <p:nvPr/>
        </p:nvSpPr>
        <p:spPr>
          <a:xfrm>
            <a:off x="9083040" y="1621536"/>
            <a:ext cx="2438400" cy="487680"/>
          </a:xfrm>
          <a:prstGeom prst="rect">
            <a:avLst/>
          </a:prstGeom>
          <a:noFill/>
          <a:ln/>
        </p:spPr>
        <p:txBody>
          <a:bodyPr wrap="square" lIns="0" tIns="0" rIns="0" bIns="0" rtlCol="0" anchor="ctr"/>
          <a:lstStyle/>
          <a:p>
            <a:r>
              <a:rPr lang="en-US" sz="1867" b="1" dirty="0">
                <a:solidFill>
                  <a:schemeClr val="tx2"/>
                </a:solidFill>
              </a:rPr>
              <a:t>Reply All + subject</a:t>
            </a:r>
            <a:endParaRPr lang="en-US" sz="1867" dirty="0"/>
          </a:p>
        </p:txBody>
      </p:sp>
      <p:sp>
        <p:nvSpPr>
          <p:cNvPr id="16" name="Text 14"/>
          <p:cNvSpPr txBox="1"/>
          <p:nvPr/>
        </p:nvSpPr>
        <p:spPr>
          <a:xfrm>
            <a:off x="8473440" y="2194560"/>
            <a:ext cx="2926080" cy="609600"/>
          </a:xfrm>
          <a:prstGeom prst="rect">
            <a:avLst/>
          </a:prstGeom>
          <a:noFill/>
          <a:ln/>
        </p:spPr>
        <p:txBody>
          <a:bodyPr wrap="square" lIns="0" tIns="0" rIns="0" bIns="0" rtlCol="0" anchor="t"/>
          <a:lstStyle/>
          <a:p>
            <a:r>
              <a:rPr lang="en-US" sz="1867" dirty="0"/>
              <a:t>Balas thread dan ubah subject sesuai format</a:t>
            </a:r>
          </a:p>
        </p:txBody>
      </p:sp>
      <p:sp>
        <p:nvSpPr>
          <p:cNvPr id="17" name="Text 15"/>
          <p:cNvSpPr txBox="1"/>
          <p:nvPr/>
        </p:nvSpPr>
        <p:spPr>
          <a:xfrm>
            <a:off x="8473440" y="2804160"/>
            <a:ext cx="2926080" cy="268224"/>
          </a:xfrm>
          <a:prstGeom prst="rect">
            <a:avLst/>
          </a:prstGeom>
          <a:noFill/>
          <a:ln/>
        </p:spPr>
        <p:txBody>
          <a:bodyPr wrap="square" lIns="0" tIns="0" rIns="0" bIns="0" rtlCol="0" anchor="t"/>
          <a:lstStyle/>
          <a:p>
            <a:r>
              <a:rPr lang="en-US" sz="1467" b="1" dirty="0">
                <a:solidFill>
                  <a:schemeClr val="accent2"/>
                </a:solidFill>
              </a:rPr>
              <a:t>±1 MENIT</a:t>
            </a:r>
            <a:endParaRPr lang="en-US" sz="1467" dirty="0"/>
          </a:p>
        </p:txBody>
      </p:sp>
      <p:sp>
        <p:nvSpPr>
          <p:cNvPr id="18" name="Step card 4"/>
          <p:cNvSpPr/>
          <p:nvPr/>
        </p:nvSpPr>
        <p:spPr>
          <a:xfrm>
            <a:off x="8290560" y="3535680"/>
            <a:ext cx="3291840" cy="1706880"/>
          </a:xfrm>
          <a:prstGeom prst="roundRect">
            <a:avLst>
              <a:gd name="adj" fmla="val 5714"/>
            </a:avLst>
          </a:prstGeom>
          <a:solidFill>
            <a:schemeClr val="bg2"/>
          </a:solidFill>
          <a:ln/>
        </p:spPr>
      </p:sp>
      <p:sp>
        <p:nvSpPr>
          <p:cNvPr id="19" name="Step number 4"/>
          <p:cNvSpPr txBox="1"/>
          <p:nvPr/>
        </p:nvSpPr>
        <p:spPr>
          <a:xfrm>
            <a:off x="8473440" y="369417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4</a:t>
            </a:r>
            <a:endParaRPr lang="en-US" sz="1867" dirty="0"/>
          </a:p>
        </p:txBody>
      </p:sp>
      <p:sp>
        <p:nvSpPr>
          <p:cNvPr id="20" name="Text 18"/>
          <p:cNvSpPr txBox="1"/>
          <p:nvPr/>
        </p:nvSpPr>
        <p:spPr>
          <a:xfrm>
            <a:off x="9083040" y="3694176"/>
            <a:ext cx="2438400" cy="487680"/>
          </a:xfrm>
          <a:prstGeom prst="rect">
            <a:avLst/>
          </a:prstGeom>
          <a:noFill/>
          <a:ln/>
        </p:spPr>
        <p:txBody>
          <a:bodyPr wrap="square" lIns="0" tIns="0" rIns="0" bIns="0" rtlCol="0" anchor="ctr"/>
          <a:lstStyle/>
          <a:p>
            <a:r>
              <a:rPr lang="en-US" sz="1867" b="1" dirty="0">
                <a:solidFill>
                  <a:schemeClr val="tx2"/>
                </a:solidFill>
              </a:rPr>
              <a:t>Ketik isi email</a:t>
            </a:r>
            <a:endParaRPr lang="en-US" sz="1867" dirty="0"/>
          </a:p>
        </p:txBody>
      </p:sp>
      <p:sp>
        <p:nvSpPr>
          <p:cNvPr id="21" name="Text 19"/>
          <p:cNvSpPr txBox="1"/>
          <p:nvPr/>
        </p:nvSpPr>
        <p:spPr>
          <a:xfrm>
            <a:off x="8473440" y="4267200"/>
            <a:ext cx="2926080" cy="609600"/>
          </a:xfrm>
          <a:prstGeom prst="rect">
            <a:avLst/>
          </a:prstGeom>
          <a:noFill/>
          <a:ln/>
        </p:spPr>
        <p:txBody>
          <a:bodyPr wrap="square" lIns="0" tIns="0" rIns="0" bIns="0" rtlCol="0" anchor="t"/>
          <a:lstStyle/>
          <a:p>
            <a:r>
              <a:rPr lang="en-US" sz="1867" dirty="0"/>
              <a:t>Tulis isi email beserta nama kapal dan ETD</a:t>
            </a:r>
          </a:p>
        </p:txBody>
      </p:sp>
      <p:sp>
        <p:nvSpPr>
          <p:cNvPr id="22" name="Text 20"/>
          <p:cNvSpPr txBox="1"/>
          <p:nvPr/>
        </p:nvSpPr>
        <p:spPr>
          <a:xfrm>
            <a:off x="8473440" y="4876800"/>
            <a:ext cx="2926080" cy="268224"/>
          </a:xfrm>
          <a:prstGeom prst="rect">
            <a:avLst/>
          </a:prstGeom>
          <a:noFill/>
          <a:ln/>
        </p:spPr>
        <p:txBody>
          <a:bodyPr wrap="square" lIns="0" tIns="0" rIns="0" bIns="0" rtlCol="0" anchor="t"/>
          <a:lstStyle/>
          <a:p>
            <a:r>
              <a:rPr lang="en-US" sz="1467" b="1" dirty="0">
                <a:solidFill>
                  <a:schemeClr val="accent2"/>
                </a:solidFill>
              </a:rPr>
              <a:t>±2 MENIT</a:t>
            </a:r>
            <a:endParaRPr lang="en-US" sz="1467" dirty="0"/>
          </a:p>
        </p:txBody>
      </p:sp>
      <p:sp>
        <p:nvSpPr>
          <p:cNvPr id="23" name="Step card 5"/>
          <p:cNvSpPr/>
          <p:nvPr/>
        </p:nvSpPr>
        <p:spPr>
          <a:xfrm>
            <a:off x="4450080" y="3535680"/>
            <a:ext cx="3291840" cy="1706880"/>
          </a:xfrm>
          <a:prstGeom prst="roundRect">
            <a:avLst>
              <a:gd name="adj" fmla="val 5714"/>
            </a:avLst>
          </a:prstGeom>
          <a:solidFill>
            <a:schemeClr val="bg2"/>
          </a:solidFill>
          <a:ln/>
        </p:spPr>
      </p:sp>
      <p:sp>
        <p:nvSpPr>
          <p:cNvPr id="24" name="Step number 5"/>
          <p:cNvSpPr txBox="1"/>
          <p:nvPr/>
        </p:nvSpPr>
        <p:spPr>
          <a:xfrm>
            <a:off x="4632960" y="369417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5</a:t>
            </a:r>
            <a:endParaRPr lang="en-US" sz="1867" dirty="0"/>
          </a:p>
        </p:txBody>
      </p:sp>
      <p:sp>
        <p:nvSpPr>
          <p:cNvPr id="25" name="Text 23"/>
          <p:cNvSpPr txBox="1"/>
          <p:nvPr/>
        </p:nvSpPr>
        <p:spPr>
          <a:xfrm>
            <a:off x="5242560" y="3694176"/>
            <a:ext cx="2438400" cy="487680"/>
          </a:xfrm>
          <a:prstGeom prst="rect">
            <a:avLst/>
          </a:prstGeom>
          <a:noFill/>
          <a:ln/>
        </p:spPr>
        <p:txBody>
          <a:bodyPr wrap="square" lIns="0" tIns="0" rIns="0" bIns="0" rtlCol="0" anchor="ctr"/>
          <a:lstStyle/>
          <a:p>
            <a:r>
              <a:rPr lang="en-US" sz="1867" b="1" dirty="0">
                <a:solidFill>
                  <a:schemeClr val="tx2"/>
                </a:solidFill>
              </a:rPr>
              <a:t>Lampirkan &amp; simpan</a:t>
            </a:r>
            <a:endParaRPr lang="en-US" sz="1867" dirty="0"/>
          </a:p>
        </p:txBody>
      </p:sp>
      <p:sp>
        <p:nvSpPr>
          <p:cNvPr id="26" name="Text 24"/>
          <p:cNvSpPr txBox="1"/>
          <p:nvPr/>
        </p:nvSpPr>
        <p:spPr>
          <a:xfrm>
            <a:off x="4632960" y="4267200"/>
            <a:ext cx="2926080" cy="609600"/>
          </a:xfrm>
          <a:prstGeom prst="rect">
            <a:avLst/>
          </a:prstGeom>
          <a:noFill/>
          <a:ln/>
        </p:spPr>
        <p:txBody>
          <a:bodyPr wrap="square" lIns="0" tIns="0" rIns="0" bIns="0" rtlCol="0" anchor="t"/>
          <a:lstStyle/>
          <a:p>
            <a:r>
              <a:rPr lang="en-US" sz="1867" dirty="0"/>
              <a:t>Lampirkan DO yang benar, simpan sebagai draft</a:t>
            </a:r>
          </a:p>
        </p:txBody>
      </p:sp>
      <p:sp>
        <p:nvSpPr>
          <p:cNvPr id="27" name="Text 25"/>
          <p:cNvSpPr txBox="1"/>
          <p:nvPr/>
        </p:nvSpPr>
        <p:spPr>
          <a:xfrm>
            <a:off x="4632960" y="4876800"/>
            <a:ext cx="2926080" cy="268224"/>
          </a:xfrm>
          <a:prstGeom prst="rect">
            <a:avLst/>
          </a:prstGeom>
          <a:noFill/>
          <a:ln/>
        </p:spPr>
        <p:txBody>
          <a:bodyPr wrap="square" lIns="0" tIns="0" rIns="0" bIns="0" rtlCol="0" anchor="t"/>
          <a:lstStyle/>
          <a:p>
            <a:r>
              <a:rPr lang="en-US" sz="1467" b="1" dirty="0">
                <a:solidFill>
                  <a:schemeClr val="accent2"/>
                </a:solidFill>
              </a:rPr>
              <a:t>±1 MENIT</a:t>
            </a:r>
            <a:endParaRPr lang="en-US" sz="1467" dirty="0"/>
          </a:p>
        </p:txBody>
      </p:sp>
      <p:sp>
        <p:nvSpPr>
          <p:cNvPr id="28" name="Step card 6"/>
          <p:cNvSpPr/>
          <p:nvPr/>
        </p:nvSpPr>
        <p:spPr>
          <a:xfrm>
            <a:off x="609600" y="3535680"/>
            <a:ext cx="3291840" cy="1706880"/>
          </a:xfrm>
          <a:prstGeom prst="roundRect">
            <a:avLst>
              <a:gd name="adj" fmla="val 5714"/>
            </a:avLst>
          </a:prstGeom>
          <a:solidFill>
            <a:schemeClr val="bg2"/>
          </a:solidFill>
          <a:ln/>
        </p:spPr>
      </p:sp>
      <p:sp>
        <p:nvSpPr>
          <p:cNvPr id="29" name="Step number 6"/>
          <p:cNvSpPr txBox="1"/>
          <p:nvPr/>
        </p:nvSpPr>
        <p:spPr>
          <a:xfrm>
            <a:off x="792480" y="369417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6</a:t>
            </a:r>
            <a:endParaRPr lang="en-US" sz="1867" dirty="0"/>
          </a:p>
        </p:txBody>
      </p:sp>
      <p:sp>
        <p:nvSpPr>
          <p:cNvPr id="30" name="Text 28"/>
          <p:cNvSpPr txBox="1"/>
          <p:nvPr/>
        </p:nvSpPr>
        <p:spPr>
          <a:xfrm>
            <a:off x="1402080" y="3694176"/>
            <a:ext cx="2438400" cy="487680"/>
          </a:xfrm>
          <a:prstGeom prst="rect">
            <a:avLst/>
          </a:prstGeom>
          <a:noFill/>
          <a:ln/>
        </p:spPr>
        <p:txBody>
          <a:bodyPr wrap="square" lIns="0" tIns="0" rIns="0" bIns="0" rtlCol="0" anchor="ctr"/>
          <a:lstStyle/>
          <a:p>
            <a:r>
              <a:rPr lang="en-US" sz="1867" b="1" dirty="0">
                <a:solidFill>
                  <a:schemeClr val="tx2"/>
                </a:solidFill>
              </a:rPr>
              <a:t>Catat di Excel</a:t>
            </a:r>
            <a:endParaRPr lang="en-US" sz="1867" dirty="0"/>
          </a:p>
        </p:txBody>
      </p:sp>
      <p:sp>
        <p:nvSpPr>
          <p:cNvPr id="31" name="Text 29"/>
          <p:cNvSpPr txBox="1"/>
          <p:nvPr/>
        </p:nvSpPr>
        <p:spPr>
          <a:xfrm>
            <a:off x="792480" y="4267200"/>
            <a:ext cx="2926080" cy="609600"/>
          </a:xfrm>
          <a:prstGeom prst="rect">
            <a:avLst/>
          </a:prstGeom>
          <a:noFill/>
          <a:ln/>
        </p:spPr>
        <p:txBody>
          <a:bodyPr wrap="square" lIns="0" tIns="0" rIns="0" bIns="0" rtlCol="0" anchor="t"/>
          <a:lstStyle/>
          <a:p>
            <a:r>
              <a:rPr lang="en-US" sz="1867" dirty="0"/>
              <a:t>Catat status dan email customer secara manual</a:t>
            </a:r>
          </a:p>
        </p:txBody>
      </p:sp>
      <p:sp>
        <p:nvSpPr>
          <p:cNvPr id="32" name="Text 30"/>
          <p:cNvSpPr txBox="1"/>
          <p:nvPr/>
        </p:nvSpPr>
        <p:spPr>
          <a:xfrm>
            <a:off x="792480" y="4876800"/>
            <a:ext cx="2926080" cy="268224"/>
          </a:xfrm>
          <a:prstGeom prst="rect">
            <a:avLst/>
          </a:prstGeom>
          <a:noFill/>
          <a:ln/>
        </p:spPr>
        <p:txBody>
          <a:bodyPr wrap="square" lIns="0" tIns="0" rIns="0" bIns="0" rtlCol="0" anchor="t"/>
          <a:lstStyle/>
          <a:p>
            <a:r>
              <a:rPr lang="en-US" sz="1467" b="1" dirty="0">
                <a:solidFill>
                  <a:schemeClr val="accent2"/>
                </a:solidFill>
              </a:rPr>
              <a:t>±1 MENIT</a:t>
            </a:r>
            <a:endParaRPr lang="en-US" sz="1467" dirty="0"/>
          </a:p>
        </p:txBody>
      </p:sp>
      <p:sp>
        <p:nvSpPr>
          <p:cNvPr id="33" name="Arrow row 1 1"/>
          <p:cNvSpPr/>
          <p:nvPr/>
        </p:nvSpPr>
        <p:spPr>
          <a:xfrm>
            <a:off x="3962400" y="2097024"/>
            <a:ext cx="426720" cy="438912"/>
          </a:xfrm>
          <a:prstGeom prst="rightArrow">
            <a:avLst/>
          </a:prstGeom>
          <a:solidFill>
            <a:schemeClr val="accent4"/>
          </a:solidFill>
          <a:ln/>
        </p:spPr>
      </p:sp>
      <p:sp>
        <p:nvSpPr>
          <p:cNvPr id="34" name="Arrow row 2 1"/>
          <p:cNvSpPr/>
          <p:nvPr/>
        </p:nvSpPr>
        <p:spPr>
          <a:xfrm>
            <a:off x="3962400" y="4169664"/>
            <a:ext cx="426720" cy="438912"/>
          </a:xfrm>
          <a:prstGeom prst="leftArrow">
            <a:avLst/>
          </a:prstGeom>
          <a:solidFill>
            <a:schemeClr val="accent4"/>
          </a:solidFill>
          <a:ln/>
        </p:spPr>
      </p:sp>
      <p:sp>
        <p:nvSpPr>
          <p:cNvPr id="35" name="Arrow row 1 2"/>
          <p:cNvSpPr/>
          <p:nvPr/>
        </p:nvSpPr>
        <p:spPr>
          <a:xfrm>
            <a:off x="7802880" y="2097024"/>
            <a:ext cx="426720" cy="438912"/>
          </a:xfrm>
          <a:prstGeom prst="rightArrow">
            <a:avLst/>
          </a:prstGeom>
          <a:solidFill>
            <a:schemeClr val="accent4"/>
          </a:solidFill>
          <a:ln/>
        </p:spPr>
      </p:sp>
      <p:sp>
        <p:nvSpPr>
          <p:cNvPr id="36" name="Arrow row 2 2"/>
          <p:cNvSpPr/>
          <p:nvPr/>
        </p:nvSpPr>
        <p:spPr>
          <a:xfrm>
            <a:off x="7802880" y="4169664"/>
            <a:ext cx="426720" cy="438912"/>
          </a:xfrm>
          <a:prstGeom prst="leftArrow">
            <a:avLst/>
          </a:prstGeom>
          <a:solidFill>
            <a:schemeClr val="accent4"/>
          </a:solidFill>
          <a:ln/>
        </p:spPr>
      </p:sp>
      <p:sp>
        <p:nvSpPr>
          <p:cNvPr id="37" name="Arrow down"/>
          <p:cNvSpPr/>
          <p:nvPr/>
        </p:nvSpPr>
        <p:spPr>
          <a:xfrm>
            <a:off x="9753600" y="3206496"/>
            <a:ext cx="365760" cy="316992"/>
          </a:xfrm>
          <a:prstGeom prst="downArrow">
            <a:avLst/>
          </a:prstGeom>
          <a:solidFill>
            <a:schemeClr val="accent4"/>
          </a:solidFill>
          <a:ln/>
        </p:spPr>
      </p:sp>
      <p:sp>
        <p:nvSpPr>
          <p:cNvPr id="38" name="Loop banner"/>
          <p:cNvSpPr/>
          <p:nvPr/>
        </p:nvSpPr>
        <p:spPr>
          <a:xfrm>
            <a:off x="609600" y="5486400"/>
            <a:ext cx="10972800" cy="548640"/>
          </a:xfrm>
          <a:prstGeom prst="roundRect">
            <a:avLst>
              <a:gd name="adj" fmla="val 17778"/>
            </a:avLst>
          </a:prstGeom>
          <a:solidFill>
            <a:schemeClr val="accent2"/>
          </a:solidFill>
          <a:ln/>
        </p:spPr>
      </p:sp>
      <p:sp>
        <p:nvSpPr>
          <p:cNvPr id="39" name="Text 37"/>
          <p:cNvSpPr txBox="1"/>
          <p:nvPr/>
        </p:nvSpPr>
        <p:spPr>
          <a:xfrm>
            <a:off x="609600" y="5486400"/>
            <a:ext cx="10972800" cy="548640"/>
          </a:xfrm>
          <a:prstGeom prst="rect">
            <a:avLst/>
          </a:prstGeom>
          <a:noFill/>
          <a:ln/>
        </p:spPr>
        <p:txBody>
          <a:bodyPr wrap="square" lIns="0" tIns="0" rIns="0" bIns="0" rtlCol="0" anchor="ctr"/>
          <a:lstStyle/>
          <a:p>
            <a:pPr algn="ctr"/>
            <a:r>
              <a:rPr lang="en-US" sz="1867" b="1" dirty="0">
                <a:solidFill>
                  <a:schemeClr val="bg1"/>
                </a:solidFill>
              </a:rPr>
              <a:t>Total ±8 menit per booking, mulai dari print DO, diulang ±50 kali per kapal</a:t>
            </a:r>
            <a:endParaRPr lang="en-US" sz="1867" dirty="0"/>
          </a:p>
        </p:txBody>
      </p:sp>
      <p:sp>
        <p:nvSpPr>
          <p:cNvPr id="4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lIns="0" tIns="0" rIns="0" bIns="0" rtlCol="0" anchor="ctr"/>
          <a:lstStyle/>
          <a:p>
            <a:r>
              <a:rPr lang="en-US" dirty="0"/>
              <a:t>Alur otomatis: skrip bekerja, CS meninjau</a:t>
            </a:r>
          </a:p>
        </p:txBody>
      </p:sp>
      <p:sp>
        <p:nvSpPr>
          <p:cNvPr id="3" name="Step card 1"/>
          <p:cNvSpPr/>
          <p:nvPr/>
        </p:nvSpPr>
        <p:spPr>
          <a:xfrm>
            <a:off x="609600" y="1463040"/>
            <a:ext cx="3291840" cy="1706880"/>
          </a:xfrm>
          <a:prstGeom prst="roundRect">
            <a:avLst>
              <a:gd name="adj" fmla="val 5714"/>
            </a:avLst>
          </a:prstGeom>
          <a:solidFill>
            <a:schemeClr val="bg1"/>
          </a:solidFill>
          <a:ln w="19050">
            <a:solidFill>
              <a:schemeClr val="accent2"/>
            </a:solidFill>
            <a:prstDash val="solid"/>
          </a:ln>
        </p:spPr>
      </p:sp>
      <p:sp>
        <p:nvSpPr>
          <p:cNvPr id="4" name="Step number 1"/>
          <p:cNvSpPr txBox="1"/>
          <p:nvPr/>
        </p:nvSpPr>
        <p:spPr>
          <a:xfrm>
            <a:off x="792480" y="162153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1</a:t>
            </a:r>
            <a:endParaRPr lang="en-US" sz="1867" dirty="0"/>
          </a:p>
        </p:txBody>
      </p:sp>
      <p:sp>
        <p:nvSpPr>
          <p:cNvPr id="5" name="Text 3"/>
          <p:cNvSpPr txBox="1"/>
          <p:nvPr/>
        </p:nvSpPr>
        <p:spPr>
          <a:xfrm>
            <a:off x="1402080" y="1621536"/>
            <a:ext cx="2438400" cy="487680"/>
          </a:xfrm>
          <a:prstGeom prst="rect">
            <a:avLst/>
          </a:prstGeom>
          <a:noFill/>
          <a:ln/>
        </p:spPr>
        <p:txBody>
          <a:bodyPr wrap="square" lIns="0" tIns="0" rIns="0" bIns="0" rtlCol="0" anchor="ctr"/>
          <a:lstStyle/>
          <a:p>
            <a:r>
              <a:rPr lang="en-US" sz="1867" b="1" dirty="0">
                <a:solidFill>
                  <a:schemeClr val="tx2"/>
                </a:solidFill>
              </a:rPr>
              <a:t>Siapkan input</a:t>
            </a:r>
            <a:endParaRPr lang="en-US" sz="1867" dirty="0"/>
          </a:p>
        </p:txBody>
      </p:sp>
      <p:sp>
        <p:nvSpPr>
          <p:cNvPr id="6" name="Text 4"/>
          <p:cNvSpPr txBox="1"/>
          <p:nvPr/>
        </p:nvSpPr>
        <p:spPr>
          <a:xfrm>
            <a:off x="792480" y="2194560"/>
            <a:ext cx="2926080" cy="609600"/>
          </a:xfrm>
          <a:prstGeom prst="rect">
            <a:avLst/>
          </a:prstGeom>
          <a:noFill/>
          <a:ln/>
        </p:spPr>
        <p:txBody>
          <a:bodyPr wrap="square" lIns="0" tIns="0" rIns="0" bIns="0" rtlCol="0" anchor="t"/>
          <a:lstStyle/>
          <a:p>
            <a:r>
              <a:rPr lang="en-US" sz="1867" dirty="0"/>
              <a:t>Print DO dari sistem, daftar booking, info kapal</a:t>
            </a:r>
          </a:p>
        </p:txBody>
      </p:sp>
      <p:sp>
        <p:nvSpPr>
          <p:cNvPr id="7" name="Text 5"/>
          <p:cNvSpPr txBox="1"/>
          <p:nvPr/>
        </p:nvSpPr>
        <p:spPr>
          <a:xfrm>
            <a:off x="792480" y="2804160"/>
            <a:ext cx="2926080" cy="268224"/>
          </a:xfrm>
          <a:prstGeom prst="rect">
            <a:avLst/>
          </a:prstGeom>
          <a:noFill/>
          <a:ln/>
        </p:spPr>
        <p:txBody>
          <a:bodyPr wrap="square" lIns="0" tIns="0" rIns="0" bIns="0" rtlCol="0" anchor="t"/>
          <a:lstStyle/>
          <a:p>
            <a:r>
              <a:rPr lang="en-US" sz="1467" b="1" dirty="0">
                <a:solidFill>
                  <a:schemeClr val="accent2"/>
                </a:solidFill>
              </a:rPr>
              <a:t>DIKERJAKAN CS</a:t>
            </a:r>
            <a:endParaRPr lang="en-US" sz="1467" dirty="0"/>
          </a:p>
        </p:txBody>
      </p:sp>
      <p:sp>
        <p:nvSpPr>
          <p:cNvPr id="8" name="Step card 2"/>
          <p:cNvSpPr/>
          <p:nvPr/>
        </p:nvSpPr>
        <p:spPr>
          <a:xfrm>
            <a:off x="4450080" y="1463040"/>
            <a:ext cx="3291840" cy="1706880"/>
          </a:xfrm>
          <a:prstGeom prst="roundRect">
            <a:avLst>
              <a:gd name="adj" fmla="val 5714"/>
            </a:avLst>
          </a:prstGeom>
          <a:solidFill>
            <a:schemeClr val="bg2"/>
          </a:solidFill>
          <a:ln/>
        </p:spPr>
      </p:sp>
      <p:sp>
        <p:nvSpPr>
          <p:cNvPr id="9" name="Step number 2"/>
          <p:cNvSpPr txBox="1"/>
          <p:nvPr/>
        </p:nvSpPr>
        <p:spPr>
          <a:xfrm>
            <a:off x="4632960" y="1621536"/>
            <a:ext cx="487680" cy="487680"/>
          </a:xfrm>
          <a:prstGeom prst="ellipse">
            <a:avLst/>
          </a:prstGeom>
          <a:solidFill>
            <a:schemeClr val="accent1"/>
          </a:solidFill>
          <a:ln/>
        </p:spPr>
        <p:txBody>
          <a:bodyPr wrap="square" lIns="0" tIns="0" rIns="0" bIns="0" rtlCol="0" anchor="ctr"/>
          <a:lstStyle/>
          <a:p>
            <a:pPr algn="ctr"/>
            <a:r>
              <a:rPr lang="en-US" sz="1867" b="1" dirty="0">
                <a:solidFill>
                  <a:schemeClr val="bg1"/>
                </a:solidFill>
              </a:rPr>
              <a:t>2</a:t>
            </a:r>
            <a:endParaRPr lang="en-US" sz="1867" dirty="0"/>
          </a:p>
        </p:txBody>
      </p:sp>
      <p:sp>
        <p:nvSpPr>
          <p:cNvPr id="10" name="Text 8"/>
          <p:cNvSpPr txBox="1"/>
          <p:nvPr/>
        </p:nvSpPr>
        <p:spPr>
          <a:xfrm>
            <a:off x="5242560" y="1621536"/>
            <a:ext cx="2438400" cy="487680"/>
          </a:xfrm>
          <a:prstGeom prst="rect">
            <a:avLst/>
          </a:prstGeom>
          <a:noFill/>
          <a:ln/>
        </p:spPr>
        <p:txBody>
          <a:bodyPr wrap="square" lIns="0" tIns="0" rIns="0" bIns="0" rtlCol="0" anchor="ctr"/>
          <a:lstStyle/>
          <a:p>
            <a:r>
              <a:rPr lang="en-US" sz="1867" b="1" dirty="0">
                <a:solidFill>
                  <a:schemeClr val="tx2"/>
                </a:solidFill>
              </a:rPr>
              <a:t>Cocokkan booking &amp; DO</a:t>
            </a:r>
            <a:endParaRPr lang="en-US" sz="1867" dirty="0"/>
          </a:p>
        </p:txBody>
      </p:sp>
      <p:sp>
        <p:nvSpPr>
          <p:cNvPr id="11" name="Text 9"/>
          <p:cNvSpPr txBox="1"/>
          <p:nvPr/>
        </p:nvSpPr>
        <p:spPr>
          <a:xfrm>
            <a:off x="4632960" y="2194560"/>
            <a:ext cx="2926080" cy="609600"/>
          </a:xfrm>
          <a:prstGeom prst="rect">
            <a:avLst/>
          </a:prstGeom>
          <a:noFill/>
          <a:ln/>
        </p:spPr>
        <p:txBody>
          <a:bodyPr wrap="square" lIns="0" tIns="0" rIns="0" bIns="0" rtlCol="0" anchor="t"/>
          <a:lstStyle/>
          <a:p>
            <a:r>
              <a:rPr lang="en-US" sz="1867" dirty="0"/>
              <a:t>Tiap booking dipasangkan dengan file DO</a:t>
            </a:r>
          </a:p>
        </p:txBody>
      </p:sp>
      <p:sp>
        <p:nvSpPr>
          <p:cNvPr id="12" name="Text 10"/>
          <p:cNvSpPr txBox="1"/>
          <p:nvPr/>
        </p:nvSpPr>
        <p:spPr>
          <a:xfrm>
            <a:off x="4632960" y="2804160"/>
            <a:ext cx="2926080" cy="268224"/>
          </a:xfrm>
          <a:prstGeom prst="rect">
            <a:avLst/>
          </a:prstGeom>
          <a:noFill/>
          <a:ln/>
        </p:spPr>
        <p:txBody>
          <a:bodyPr wrap="square" lIns="0" tIns="0" rIns="0" bIns="0" rtlCol="0" anchor="t"/>
          <a:lstStyle/>
          <a:p>
            <a:r>
              <a:rPr lang="en-US" sz="1467" b="1" dirty="0">
                <a:solidFill>
                  <a:schemeClr val="accent1"/>
                </a:solidFill>
              </a:rPr>
              <a:t>OTOMATIS</a:t>
            </a:r>
            <a:endParaRPr lang="en-US" sz="1467" dirty="0"/>
          </a:p>
        </p:txBody>
      </p:sp>
      <p:sp>
        <p:nvSpPr>
          <p:cNvPr id="13" name="Step card 3"/>
          <p:cNvSpPr/>
          <p:nvPr/>
        </p:nvSpPr>
        <p:spPr>
          <a:xfrm>
            <a:off x="8290560" y="1463040"/>
            <a:ext cx="3291840" cy="1706880"/>
          </a:xfrm>
          <a:prstGeom prst="roundRect">
            <a:avLst>
              <a:gd name="adj" fmla="val 5714"/>
            </a:avLst>
          </a:prstGeom>
          <a:solidFill>
            <a:schemeClr val="bg2"/>
          </a:solidFill>
          <a:ln/>
        </p:spPr>
      </p:sp>
      <p:sp>
        <p:nvSpPr>
          <p:cNvPr id="14" name="Step number 3"/>
          <p:cNvSpPr txBox="1"/>
          <p:nvPr/>
        </p:nvSpPr>
        <p:spPr>
          <a:xfrm>
            <a:off x="8473440" y="1621536"/>
            <a:ext cx="487680" cy="487680"/>
          </a:xfrm>
          <a:prstGeom prst="ellipse">
            <a:avLst/>
          </a:prstGeom>
          <a:solidFill>
            <a:schemeClr val="accent1"/>
          </a:solidFill>
          <a:ln/>
        </p:spPr>
        <p:txBody>
          <a:bodyPr wrap="square" lIns="0" tIns="0" rIns="0" bIns="0" rtlCol="0" anchor="ctr"/>
          <a:lstStyle/>
          <a:p>
            <a:pPr algn="ctr"/>
            <a:r>
              <a:rPr lang="en-US" sz="1867" b="1" dirty="0">
                <a:solidFill>
                  <a:schemeClr val="bg1"/>
                </a:solidFill>
              </a:rPr>
              <a:t>3</a:t>
            </a:r>
            <a:endParaRPr lang="en-US" sz="1867" dirty="0"/>
          </a:p>
        </p:txBody>
      </p:sp>
      <p:sp>
        <p:nvSpPr>
          <p:cNvPr id="15" name="Text 13"/>
          <p:cNvSpPr txBox="1"/>
          <p:nvPr/>
        </p:nvSpPr>
        <p:spPr>
          <a:xfrm>
            <a:off x="9083040" y="1621536"/>
            <a:ext cx="2438400" cy="487680"/>
          </a:xfrm>
          <a:prstGeom prst="rect">
            <a:avLst/>
          </a:prstGeom>
          <a:noFill/>
          <a:ln/>
        </p:spPr>
        <p:txBody>
          <a:bodyPr wrap="square" lIns="0" tIns="0" rIns="0" bIns="0" rtlCol="0" anchor="ctr"/>
          <a:lstStyle/>
          <a:p>
            <a:r>
              <a:rPr lang="en-US" sz="1867" b="1" dirty="0">
                <a:solidFill>
                  <a:schemeClr val="tx2"/>
                </a:solidFill>
              </a:rPr>
              <a:t>Cari thread Outlook</a:t>
            </a:r>
            <a:endParaRPr lang="en-US" sz="1867" dirty="0"/>
          </a:p>
        </p:txBody>
      </p:sp>
      <p:sp>
        <p:nvSpPr>
          <p:cNvPr id="16" name="Text 14"/>
          <p:cNvSpPr txBox="1"/>
          <p:nvPr/>
        </p:nvSpPr>
        <p:spPr>
          <a:xfrm>
            <a:off x="8473440" y="2194560"/>
            <a:ext cx="2926080" cy="609600"/>
          </a:xfrm>
          <a:prstGeom prst="rect">
            <a:avLst/>
          </a:prstGeom>
          <a:noFill/>
          <a:ln/>
        </p:spPr>
        <p:txBody>
          <a:bodyPr wrap="square" lIns="0" tIns="0" rIns="0" bIns="0" rtlCol="0" anchor="t"/>
          <a:lstStyle/>
          <a:p>
            <a:r>
              <a:rPr lang="en-US" sz="1867" dirty="0"/>
              <a:t>Thread dicari lewat nomor booking</a:t>
            </a:r>
          </a:p>
        </p:txBody>
      </p:sp>
      <p:sp>
        <p:nvSpPr>
          <p:cNvPr id="17" name="Text 15"/>
          <p:cNvSpPr txBox="1"/>
          <p:nvPr/>
        </p:nvSpPr>
        <p:spPr>
          <a:xfrm>
            <a:off x="8473440" y="2804160"/>
            <a:ext cx="2926080" cy="268224"/>
          </a:xfrm>
          <a:prstGeom prst="rect">
            <a:avLst/>
          </a:prstGeom>
          <a:noFill/>
          <a:ln/>
        </p:spPr>
        <p:txBody>
          <a:bodyPr wrap="square" lIns="0" tIns="0" rIns="0" bIns="0" rtlCol="0" anchor="t"/>
          <a:lstStyle/>
          <a:p>
            <a:r>
              <a:rPr lang="en-US" sz="1467" b="1" dirty="0">
                <a:solidFill>
                  <a:schemeClr val="accent1"/>
                </a:solidFill>
              </a:rPr>
              <a:t>OTOMATIS</a:t>
            </a:r>
            <a:endParaRPr lang="en-US" sz="1467" dirty="0"/>
          </a:p>
        </p:txBody>
      </p:sp>
      <p:sp>
        <p:nvSpPr>
          <p:cNvPr id="18" name="Step card 4"/>
          <p:cNvSpPr/>
          <p:nvPr/>
        </p:nvSpPr>
        <p:spPr>
          <a:xfrm>
            <a:off x="8290560" y="3535680"/>
            <a:ext cx="3291840" cy="1706880"/>
          </a:xfrm>
          <a:prstGeom prst="roundRect">
            <a:avLst>
              <a:gd name="adj" fmla="val 5714"/>
            </a:avLst>
          </a:prstGeom>
          <a:solidFill>
            <a:schemeClr val="bg2"/>
          </a:solidFill>
          <a:ln/>
        </p:spPr>
      </p:sp>
      <p:sp>
        <p:nvSpPr>
          <p:cNvPr id="19" name="Step number 4"/>
          <p:cNvSpPr txBox="1"/>
          <p:nvPr/>
        </p:nvSpPr>
        <p:spPr>
          <a:xfrm>
            <a:off x="8473440" y="3694176"/>
            <a:ext cx="487680" cy="487680"/>
          </a:xfrm>
          <a:prstGeom prst="ellipse">
            <a:avLst/>
          </a:prstGeom>
          <a:solidFill>
            <a:schemeClr val="accent1"/>
          </a:solidFill>
          <a:ln/>
        </p:spPr>
        <p:txBody>
          <a:bodyPr wrap="square" lIns="0" tIns="0" rIns="0" bIns="0" rtlCol="0" anchor="ctr"/>
          <a:lstStyle/>
          <a:p>
            <a:pPr algn="ctr"/>
            <a:r>
              <a:rPr lang="en-US" sz="1867" b="1" dirty="0">
                <a:solidFill>
                  <a:schemeClr val="bg1"/>
                </a:solidFill>
              </a:rPr>
              <a:t>4</a:t>
            </a:r>
            <a:endParaRPr lang="en-US" sz="1867" dirty="0"/>
          </a:p>
        </p:txBody>
      </p:sp>
      <p:sp>
        <p:nvSpPr>
          <p:cNvPr id="20" name="Text 18"/>
          <p:cNvSpPr txBox="1"/>
          <p:nvPr/>
        </p:nvSpPr>
        <p:spPr>
          <a:xfrm>
            <a:off x="9083040" y="3694176"/>
            <a:ext cx="2438400" cy="487680"/>
          </a:xfrm>
          <a:prstGeom prst="rect">
            <a:avLst/>
          </a:prstGeom>
          <a:noFill/>
          <a:ln/>
        </p:spPr>
        <p:txBody>
          <a:bodyPr wrap="square" lIns="0" tIns="0" rIns="0" bIns="0" rtlCol="0" anchor="ctr"/>
          <a:lstStyle/>
          <a:p>
            <a:r>
              <a:rPr lang="en-US" sz="1867" b="1" dirty="0">
                <a:solidFill>
                  <a:schemeClr val="tx2"/>
                </a:solidFill>
              </a:rPr>
              <a:t>Susun draft Reply All</a:t>
            </a:r>
            <a:endParaRPr lang="en-US" sz="1867" dirty="0"/>
          </a:p>
        </p:txBody>
      </p:sp>
      <p:sp>
        <p:nvSpPr>
          <p:cNvPr id="21" name="Text 19"/>
          <p:cNvSpPr txBox="1"/>
          <p:nvPr/>
        </p:nvSpPr>
        <p:spPr>
          <a:xfrm>
            <a:off x="8473440" y="4267200"/>
            <a:ext cx="2926080" cy="609600"/>
          </a:xfrm>
          <a:prstGeom prst="rect">
            <a:avLst/>
          </a:prstGeom>
          <a:noFill/>
          <a:ln/>
        </p:spPr>
        <p:txBody>
          <a:bodyPr wrap="square" lIns="0" tIns="0" rIns="0" bIns="0" rtlCol="0" anchor="t"/>
          <a:lstStyle/>
          <a:p>
            <a:r>
              <a:rPr lang="en-US" sz="1867" dirty="0"/>
              <a:t>Subject, lampiran, dan isi email terisi</a:t>
            </a:r>
          </a:p>
        </p:txBody>
      </p:sp>
      <p:sp>
        <p:nvSpPr>
          <p:cNvPr id="22" name="Text 20"/>
          <p:cNvSpPr txBox="1"/>
          <p:nvPr/>
        </p:nvSpPr>
        <p:spPr>
          <a:xfrm>
            <a:off x="8473440" y="4876800"/>
            <a:ext cx="2926080" cy="268224"/>
          </a:xfrm>
          <a:prstGeom prst="rect">
            <a:avLst/>
          </a:prstGeom>
          <a:noFill/>
          <a:ln/>
        </p:spPr>
        <p:txBody>
          <a:bodyPr wrap="square" lIns="0" tIns="0" rIns="0" bIns="0" rtlCol="0" anchor="t"/>
          <a:lstStyle/>
          <a:p>
            <a:r>
              <a:rPr lang="en-US" sz="1467" b="1" dirty="0">
                <a:solidFill>
                  <a:schemeClr val="accent1"/>
                </a:solidFill>
              </a:rPr>
              <a:t>OTOMATIS</a:t>
            </a:r>
            <a:endParaRPr lang="en-US" sz="1467" dirty="0"/>
          </a:p>
        </p:txBody>
      </p:sp>
      <p:sp>
        <p:nvSpPr>
          <p:cNvPr id="23" name="Step card 5"/>
          <p:cNvSpPr/>
          <p:nvPr/>
        </p:nvSpPr>
        <p:spPr>
          <a:xfrm>
            <a:off x="4450080" y="3535680"/>
            <a:ext cx="3291840" cy="1706880"/>
          </a:xfrm>
          <a:prstGeom prst="roundRect">
            <a:avLst>
              <a:gd name="adj" fmla="val 5714"/>
            </a:avLst>
          </a:prstGeom>
          <a:solidFill>
            <a:schemeClr val="bg2"/>
          </a:solidFill>
          <a:ln/>
        </p:spPr>
      </p:sp>
      <p:sp>
        <p:nvSpPr>
          <p:cNvPr id="24" name="Step number 5"/>
          <p:cNvSpPr txBox="1"/>
          <p:nvPr/>
        </p:nvSpPr>
        <p:spPr>
          <a:xfrm>
            <a:off x="4632960" y="3694176"/>
            <a:ext cx="487680" cy="487680"/>
          </a:xfrm>
          <a:prstGeom prst="ellipse">
            <a:avLst/>
          </a:prstGeom>
          <a:solidFill>
            <a:schemeClr val="accent1"/>
          </a:solidFill>
          <a:ln/>
        </p:spPr>
        <p:txBody>
          <a:bodyPr wrap="square" lIns="0" tIns="0" rIns="0" bIns="0" rtlCol="0" anchor="ctr"/>
          <a:lstStyle/>
          <a:p>
            <a:pPr algn="ctr"/>
            <a:r>
              <a:rPr lang="en-US" sz="1867" b="1" dirty="0">
                <a:solidFill>
                  <a:schemeClr val="bg1"/>
                </a:solidFill>
              </a:rPr>
              <a:t>5</a:t>
            </a:r>
            <a:endParaRPr lang="en-US" sz="1867" dirty="0"/>
          </a:p>
        </p:txBody>
      </p:sp>
      <p:sp>
        <p:nvSpPr>
          <p:cNvPr id="25" name="Text 23"/>
          <p:cNvSpPr txBox="1"/>
          <p:nvPr/>
        </p:nvSpPr>
        <p:spPr>
          <a:xfrm>
            <a:off x="5242560" y="3694176"/>
            <a:ext cx="2438400" cy="487680"/>
          </a:xfrm>
          <a:prstGeom prst="rect">
            <a:avLst/>
          </a:prstGeom>
          <a:noFill/>
          <a:ln/>
        </p:spPr>
        <p:txBody>
          <a:bodyPr wrap="square" lIns="0" tIns="0" rIns="0" bIns="0" rtlCol="0" anchor="ctr"/>
          <a:lstStyle/>
          <a:p>
            <a:r>
              <a:rPr lang="en-US" sz="1867" b="1" dirty="0">
                <a:solidFill>
                  <a:schemeClr val="tx2"/>
                </a:solidFill>
              </a:rPr>
              <a:t>Simpan &amp; laporkan</a:t>
            </a:r>
            <a:endParaRPr lang="en-US" sz="1867" dirty="0"/>
          </a:p>
        </p:txBody>
      </p:sp>
      <p:sp>
        <p:nvSpPr>
          <p:cNvPr id="26" name="Text 24"/>
          <p:cNvSpPr txBox="1"/>
          <p:nvPr/>
        </p:nvSpPr>
        <p:spPr>
          <a:xfrm>
            <a:off x="4632960" y="4267200"/>
            <a:ext cx="2926080" cy="609600"/>
          </a:xfrm>
          <a:prstGeom prst="rect">
            <a:avLst/>
          </a:prstGeom>
          <a:noFill/>
          <a:ln/>
        </p:spPr>
        <p:txBody>
          <a:bodyPr wrap="square" lIns="0" tIns="0" rIns="0" bIns="0" rtlCol="0" anchor="t"/>
          <a:lstStyle/>
          <a:p>
            <a:r>
              <a:rPr lang="en-US" sz="1867" dirty="0"/>
              <a:t>Draft masuk Drafts, laporan Excel dan CSV dibuat</a:t>
            </a:r>
          </a:p>
        </p:txBody>
      </p:sp>
      <p:sp>
        <p:nvSpPr>
          <p:cNvPr id="27" name="Text 25"/>
          <p:cNvSpPr txBox="1"/>
          <p:nvPr/>
        </p:nvSpPr>
        <p:spPr>
          <a:xfrm>
            <a:off x="4632960" y="4876800"/>
            <a:ext cx="2926080" cy="268224"/>
          </a:xfrm>
          <a:prstGeom prst="rect">
            <a:avLst/>
          </a:prstGeom>
          <a:noFill/>
          <a:ln/>
        </p:spPr>
        <p:txBody>
          <a:bodyPr wrap="square" lIns="0" tIns="0" rIns="0" bIns="0" rtlCol="0" anchor="t"/>
          <a:lstStyle/>
          <a:p>
            <a:r>
              <a:rPr lang="en-US" sz="1467" b="1" dirty="0">
                <a:solidFill>
                  <a:schemeClr val="accent1"/>
                </a:solidFill>
              </a:rPr>
              <a:t>OTOMATIS</a:t>
            </a:r>
            <a:endParaRPr lang="en-US" sz="1467" dirty="0"/>
          </a:p>
        </p:txBody>
      </p:sp>
      <p:sp>
        <p:nvSpPr>
          <p:cNvPr id="28" name="Step card 6"/>
          <p:cNvSpPr/>
          <p:nvPr/>
        </p:nvSpPr>
        <p:spPr>
          <a:xfrm>
            <a:off x="609600" y="3535680"/>
            <a:ext cx="3291840" cy="1706880"/>
          </a:xfrm>
          <a:prstGeom prst="roundRect">
            <a:avLst>
              <a:gd name="adj" fmla="val 5714"/>
            </a:avLst>
          </a:prstGeom>
          <a:solidFill>
            <a:schemeClr val="bg1"/>
          </a:solidFill>
          <a:ln w="19050">
            <a:solidFill>
              <a:schemeClr val="accent2"/>
            </a:solidFill>
            <a:prstDash val="solid"/>
          </a:ln>
        </p:spPr>
      </p:sp>
      <p:sp>
        <p:nvSpPr>
          <p:cNvPr id="29" name="Step number 6"/>
          <p:cNvSpPr txBox="1"/>
          <p:nvPr/>
        </p:nvSpPr>
        <p:spPr>
          <a:xfrm>
            <a:off x="792480" y="3694176"/>
            <a:ext cx="487680" cy="487680"/>
          </a:xfrm>
          <a:prstGeom prst="ellipse">
            <a:avLst/>
          </a:prstGeom>
          <a:solidFill>
            <a:schemeClr val="accent2"/>
          </a:solidFill>
          <a:ln/>
        </p:spPr>
        <p:txBody>
          <a:bodyPr wrap="square" lIns="0" tIns="0" rIns="0" bIns="0" rtlCol="0" anchor="ctr"/>
          <a:lstStyle/>
          <a:p>
            <a:pPr algn="ctr"/>
            <a:r>
              <a:rPr lang="en-US" sz="1867" b="1" dirty="0">
                <a:solidFill>
                  <a:schemeClr val="bg1"/>
                </a:solidFill>
              </a:rPr>
              <a:t>6</a:t>
            </a:r>
            <a:endParaRPr lang="en-US" sz="1867" dirty="0"/>
          </a:p>
        </p:txBody>
      </p:sp>
      <p:sp>
        <p:nvSpPr>
          <p:cNvPr id="30" name="Text 28"/>
          <p:cNvSpPr txBox="1"/>
          <p:nvPr/>
        </p:nvSpPr>
        <p:spPr>
          <a:xfrm>
            <a:off x="1402080" y="3694176"/>
            <a:ext cx="2438400" cy="487680"/>
          </a:xfrm>
          <a:prstGeom prst="rect">
            <a:avLst/>
          </a:prstGeom>
          <a:noFill/>
          <a:ln/>
        </p:spPr>
        <p:txBody>
          <a:bodyPr wrap="square" lIns="0" tIns="0" rIns="0" bIns="0" rtlCol="0" anchor="ctr"/>
          <a:lstStyle/>
          <a:p>
            <a:r>
              <a:rPr lang="en-US" sz="1867" b="1" dirty="0">
                <a:solidFill>
                  <a:schemeClr val="tx2"/>
                </a:solidFill>
              </a:rPr>
              <a:t>Tinjau &amp; kirim</a:t>
            </a:r>
            <a:endParaRPr lang="en-US" sz="1867" dirty="0"/>
          </a:p>
        </p:txBody>
      </p:sp>
      <p:sp>
        <p:nvSpPr>
          <p:cNvPr id="31" name="Text 29"/>
          <p:cNvSpPr txBox="1"/>
          <p:nvPr/>
        </p:nvSpPr>
        <p:spPr>
          <a:xfrm>
            <a:off x="792480" y="4267200"/>
            <a:ext cx="2926080" cy="609600"/>
          </a:xfrm>
          <a:prstGeom prst="rect">
            <a:avLst/>
          </a:prstGeom>
          <a:noFill/>
          <a:ln/>
        </p:spPr>
        <p:txBody>
          <a:bodyPr wrap="square" lIns="0" tIns="0" rIns="0" bIns="0" rtlCol="0" anchor="t"/>
          <a:lstStyle/>
          <a:p>
            <a:r>
              <a:rPr lang="en-US" sz="1867" dirty="0"/>
              <a:t>CS cek 3 draft pertama, lalu mengirim sendiri</a:t>
            </a:r>
          </a:p>
        </p:txBody>
      </p:sp>
      <p:sp>
        <p:nvSpPr>
          <p:cNvPr id="32" name="Text 30"/>
          <p:cNvSpPr txBox="1"/>
          <p:nvPr/>
        </p:nvSpPr>
        <p:spPr>
          <a:xfrm>
            <a:off x="792480" y="4876800"/>
            <a:ext cx="2926080" cy="268224"/>
          </a:xfrm>
          <a:prstGeom prst="rect">
            <a:avLst/>
          </a:prstGeom>
          <a:noFill/>
          <a:ln/>
        </p:spPr>
        <p:txBody>
          <a:bodyPr wrap="square" lIns="0" tIns="0" rIns="0" bIns="0" rtlCol="0" anchor="t"/>
          <a:lstStyle/>
          <a:p>
            <a:r>
              <a:rPr lang="en-US" sz="1467" b="1" dirty="0">
                <a:solidFill>
                  <a:schemeClr val="accent2"/>
                </a:solidFill>
              </a:rPr>
              <a:t>DIKERJAKAN CS</a:t>
            </a:r>
            <a:endParaRPr lang="en-US" sz="1467" dirty="0"/>
          </a:p>
        </p:txBody>
      </p:sp>
      <p:sp>
        <p:nvSpPr>
          <p:cNvPr id="33" name="Arrow row 1 1"/>
          <p:cNvSpPr/>
          <p:nvPr/>
        </p:nvSpPr>
        <p:spPr>
          <a:xfrm>
            <a:off x="3962400" y="2097024"/>
            <a:ext cx="426720" cy="438912"/>
          </a:xfrm>
          <a:prstGeom prst="rightArrow">
            <a:avLst/>
          </a:prstGeom>
          <a:solidFill>
            <a:schemeClr val="accent4"/>
          </a:solidFill>
          <a:ln/>
        </p:spPr>
      </p:sp>
      <p:sp>
        <p:nvSpPr>
          <p:cNvPr id="34" name="Arrow row 2 1"/>
          <p:cNvSpPr/>
          <p:nvPr/>
        </p:nvSpPr>
        <p:spPr>
          <a:xfrm>
            <a:off x="3962400" y="4169664"/>
            <a:ext cx="426720" cy="438912"/>
          </a:xfrm>
          <a:prstGeom prst="leftArrow">
            <a:avLst/>
          </a:prstGeom>
          <a:solidFill>
            <a:schemeClr val="accent4"/>
          </a:solidFill>
          <a:ln/>
        </p:spPr>
      </p:sp>
      <p:sp>
        <p:nvSpPr>
          <p:cNvPr id="35" name="Arrow row 1 2"/>
          <p:cNvSpPr/>
          <p:nvPr/>
        </p:nvSpPr>
        <p:spPr>
          <a:xfrm>
            <a:off x="7802880" y="2097024"/>
            <a:ext cx="426720" cy="438912"/>
          </a:xfrm>
          <a:prstGeom prst="rightArrow">
            <a:avLst/>
          </a:prstGeom>
          <a:solidFill>
            <a:schemeClr val="accent4"/>
          </a:solidFill>
          <a:ln/>
        </p:spPr>
      </p:sp>
      <p:sp>
        <p:nvSpPr>
          <p:cNvPr id="36" name="Arrow row 2 2"/>
          <p:cNvSpPr/>
          <p:nvPr/>
        </p:nvSpPr>
        <p:spPr>
          <a:xfrm>
            <a:off x="7802880" y="4169664"/>
            <a:ext cx="426720" cy="438912"/>
          </a:xfrm>
          <a:prstGeom prst="leftArrow">
            <a:avLst/>
          </a:prstGeom>
          <a:solidFill>
            <a:schemeClr val="accent4"/>
          </a:solidFill>
          <a:ln/>
        </p:spPr>
      </p:sp>
      <p:sp>
        <p:nvSpPr>
          <p:cNvPr id="37" name="Arrow down"/>
          <p:cNvSpPr/>
          <p:nvPr/>
        </p:nvSpPr>
        <p:spPr>
          <a:xfrm>
            <a:off x="9753600" y="3206496"/>
            <a:ext cx="365760" cy="316992"/>
          </a:xfrm>
          <a:prstGeom prst="downArrow">
            <a:avLst/>
          </a:prstGeom>
          <a:solidFill>
            <a:schemeClr val="accent4"/>
          </a:solidFill>
          <a:ln/>
        </p:spPr>
      </p:sp>
      <p:sp>
        <p:nvSpPr>
          <p:cNvPr id="38" name="Effort banner"/>
          <p:cNvSpPr/>
          <p:nvPr/>
        </p:nvSpPr>
        <p:spPr>
          <a:xfrm>
            <a:off x="609600" y="5486400"/>
            <a:ext cx="10972800" cy="548640"/>
          </a:xfrm>
          <a:prstGeom prst="roundRect">
            <a:avLst>
              <a:gd name="adj" fmla="val 17778"/>
            </a:avLst>
          </a:prstGeom>
          <a:solidFill>
            <a:schemeClr val="accent1"/>
          </a:solidFill>
          <a:ln/>
        </p:spPr>
      </p:sp>
      <p:sp>
        <p:nvSpPr>
          <p:cNvPr id="39" name="Text 37"/>
          <p:cNvSpPr txBox="1"/>
          <p:nvPr/>
        </p:nvSpPr>
        <p:spPr>
          <a:xfrm>
            <a:off x="609600" y="5486400"/>
            <a:ext cx="10972800" cy="548640"/>
          </a:xfrm>
          <a:prstGeom prst="rect">
            <a:avLst/>
          </a:prstGeom>
          <a:noFill/>
          <a:ln/>
        </p:spPr>
        <p:txBody>
          <a:bodyPr wrap="square" lIns="0" tIns="0" rIns="0" bIns="0" rtlCol="0" anchor="ctr"/>
          <a:lstStyle/>
          <a:p>
            <a:pPr algn="ctr"/>
            <a:r>
              <a:rPr lang="en-US" sz="1867" b="1" dirty="0">
                <a:solidFill>
                  <a:schemeClr val="bg1"/>
                </a:solidFill>
              </a:rPr>
              <a:t>Beban CS: print DO ±1 menit + meninjau draft ±2 menit per booking</a:t>
            </a:r>
            <a:endParaRPr lang="en-US" sz="1867" dirty="0"/>
          </a:p>
        </p:txBody>
      </p:sp>
      <p:sp>
        <p:nvSpPr>
          <p:cNvPr id="4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lIns="0" tIns="0" rIns="0" bIns="0" rtlCol="0" anchor="ctr"/>
          <a:lstStyle/>
          <a:p>
            <a:r>
              <a:rPr lang="en-US" dirty="0"/>
              <a:t>Perbandingan langkah kerja</a:t>
            </a:r>
          </a:p>
        </p:txBody>
      </p:sp>
      <p:graphicFrame>
        <p:nvGraphicFramePr>
          <p:cNvPr id="6" name="Comparison table"/>
          <p:cNvGraphicFramePr>
            <a:graphicFrameLocks noGrp="1"/>
          </p:cNvGraphicFramePr>
          <p:nvPr/>
        </p:nvGraphicFramePr>
        <p:xfrm>
          <a:off x="609600" y="1524000"/>
          <a:ext cx="10972800" cy="4541520"/>
        </p:xfrm>
        <a:graphic>
          <a:graphicData uri="http://schemas.openxmlformats.org/drawingml/2006/table">
            <a:tbl>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87680">
                <a:tc>
                  <a:txBody>
                    <a:bodyPr/>
                    <a:lstStyle/>
                    <a:p>
                      <a:pPr marL="0" indent="0">
                        <a:buNone/>
                      </a:pPr>
                      <a:r>
                        <a:rPr lang="en-US" sz="1900" b="1" dirty="0">
                          <a:solidFill>
                            <a:schemeClr val="bg1"/>
                          </a:solidFill>
                        </a:rPr>
                        <a:t>Aspek</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marL="0" indent="0">
                        <a:buNone/>
                      </a:pPr>
                      <a:r>
                        <a:rPr lang="en-US" sz="1900" b="1" dirty="0">
                          <a:solidFill>
                            <a:schemeClr val="bg1"/>
                          </a:solidFill>
                        </a:rPr>
                        <a:t>Manual</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accent2"/>
                    </a:solidFill>
                  </a:tcPr>
                </a:tc>
                <a:tc>
                  <a:txBody>
                    <a:bodyPr/>
                    <a:lstStyle/>
                    <a:p>
                      <a:pPr marL="0" indent="0">
                        <a:buNone/>
                      </a:pPr>
                      <a:r>
                        <a:rPr lang="en-US" sz="1900" b="1" dirty="0">
                          <a:solidFill>
                            <a:schemeClr val="bg1"/>
                          </a:solidFill>
                        </a:rPr>
                        <a:t>Otomatis</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70560">
                <a:tc>
                  <a:txBody>
                    <a:bodyPr/>
                    <a:lstStyle/>
                    <a:p>
                      <a:pPr marL="0" indent="0">
                        <a:buNone/>
                      </a:pPr>
                      <a:r>
                        <a:rPr lang="en-US" sz="1900" b="1" dirty="0">
                          <a:solidFill>
                            <a:schemeClr val="tx2"/>
                          </a:solidFill>
                        </a:rPr>
                        <a:t>Cari thread</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marL="0" indent="0">
                        <a:buNone/>
                      </a:pPr>
                      <a:r>
                        <a:rPr lang="en-US" sz="1900" dirty="0">
                          <a:solidFill>
                            <a:schemeClr val="tx1"/>
                          </a:solidFill>
                        </a:rPr>
                        <a:t>Satu per satu di beberapa folder</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marL="0" indent="0">
                        <a:buNone/>
                      </a:pPr>
                      <a:r>
                        <a:rPr lang="en-US" sz="1900" dirty="0">
                          <a:solidFill>
                            <a:schemeClr val="tx1"/>
                          </a:solidFill>
                        </a:rPr>
                        <a:t>Otomatis, berdasarkan nomor booking</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70560">
                <a:tc>
                  <a:txBody>
                    <a:bodyPr/>
                    <a:lstStyle/>
                    <a:p>
                      <a:pPr marL="0" indent="0">
                        <a:buNone/>
                      </a:pPr>
                      <a:r>
                        <a:rPr lang="en-US" sz="1900" b="1" dirty="0">
                          <a:solidFill>
                            <a:schemeClr val="tx2"/>
                          </a:solidFill>
                        </a:rPr>
                        <a:t>Subject email</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marL="0" indent="0">
                        <a:buNone/>
                      </a:pPr>
                      <a:r>
                        <a:rPr lang="en-US" sz="1900" dirty="0">
                          <a:solidFill>
                            <a:schemeClr val="tx1"/>
                          </a:solidFill>
                        </a:rPr>
                        <a:t>Diketik ulang, format bisa berbeda</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marL="0" indent="0">
                        <a:buNone/>
                      </a:pPr>
                      <a:r>
                        <a:rPr lang="en-US" sz="1900" dirty="0">
                          <a:solidFill>
                            <a:schemeClr val="tx1"/>
                          </a:solidFill>
                        </a:rPr>
                        <a:t>Seragam: DO KODE VOY // subject lama</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70560">
                <a:tc>
                  <a:txBody>
                    <a:bodyPr/>
                    <a:lstStyle/>
                    <a:p>
                      <a:pPr marL="0" indent="0">
                        <a:buNone/>
                      </a:pPr>
                      <a:r>
                        <a:rPr lang="en-US" sz="1900" b="1" dirty="0">
                          <a:solidFill>
                            <a:schemeClr val="tx2"/>
                          </a:solidFill>
                        </a:rPr>
                        <a:t>Lampiran DO</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marL="0" indent="0">
                        <a:buNone/>
                      </a:pPr>
                      <a:r>
                        <a:rPr lang="en-US" sz="1900" dirty="0">
                          <a:solidFill>
                            <a:schemeClr val="tx1"/>
                          </a:solidFill>
                        </a:rPr>
                        <a:t>Dicari dan dilampirkan manual</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marL="0" indent="0">
                        <a:buNone/>
                      </a:pPr>
                      <a:r>
                        <a:rPr lang="en-US" sz="1900" dirty="0">
                          <a:solidFill>
                            <a:schemeClr val="tx1"/>
                          </a:solidFill>
                        </a:rPr>
                        <a:t>Dicocokkan otomatis per nomor booking</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70560">
                <a:tc>
                  <a:txBody>
                    <a:bodyPr/>
                    <a:lstStyle/>
                    <a:p>
                      <a:pPr marL="0" indent="0">
                        <a:buNone/>
                      </a:pPr>
                      <a:r>
                        <a:rPr lang="en-US" sz="1900" b="1" dirty="0">
                          <a:solidFill>
                            <a:schemeClr val="tx2"/>
                          </a:solidFill>
                        </a:rPr>
                        <a:t>Satu thread, banyak booking</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marL="0" indent="0">
                        <a:buNone/>
                      </a:pPr>
                      <a:r>
                        <a:rPr lang="en-US" sz="1900" dirty="0">
                          <a:solidFill>
                            <a:schemeClr val="tx1"/>
                          </a:solidFill>
                        </a:rPr>
                        <a:t>Mudah ada DO yang terlewat</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marL="0" indent="0">
                        <a:buNone/>
                      </a:pPr>
                      <a:r>
                        <a:rPr lang="en-US" sz="1900" dirty="0">
                          <a:solidFill>
                            <a:schemeClr val="tx1"/>
                          </a:solidFill>
                        </a:rPr>
                        <a:t>Digabung, semua DO ikut terlampir</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70560">
                <a:tc>
                  <a:txBody>
                    <a:bodyPr/>
                    <a:lstStyle/>
                    <a:p>
                      <a:pPr marL="0" indent="0">
                        <a:buNone/>
                      </a:pPr>
                      <a:r>
                        <a:rPr lang="en-US" sz="1900" b="1" dirty="0">
                          <a:solidFill>
                            <a:schemeClr val="tx2"/>
                          </a:solidFill>
                        </a:rPr>
                        <a:t>Pencatatan</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marL="0" indent="0">
                        <a:buNone/>
                      </a:pPr>
                      <a:r>
                        <a:rPr lang="en-US" sz="1900" dirty="0">
                          <a:solidFill>
                            <a:schemeClr val="tx1"/>
                          </a:solidFill>
                        </a:rPr>
                        <a:t>Diketik manual di Excel</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marL="0" indent="0">
                        <a:buNone/>
                      </a:pPr>
                      <a:r>
                        <a:rPr lang="en-US" sz="1900" dirty="0">
                          <a:solidFill>
                            <a:schemeClr val="tx1"/>
                          </a:solidFill>
                        </a:rPr>
                        <a:t>Laporan Excel dan CSV otomatis</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70560">
                <a:tc>
                  <a:txBody>
                    <a:bodyPr/>
                    <a:lstStyle/>
                    <a:p>
                      <a:pPr marL="0" indent="0">
                        <a:buNone/>
                      </a:pPr>
                      <a:r>
                        <a:rPr lang="en-US" sz="1900" b="1" dirty="0">
                          <a:solidFill>
                            <a:schemeClr val="tx2"/>
                          </a:solidFill>
                        </a:rPr>
                        <a:t>Pengiriman email</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marL="0" indent="0">
                        <a:buNone/>
                      </a:pPr>
                      <a:r>
                        <a:rPr lang="en-US" sz="1900" dirty="0">
                          <a:solidFill>
                            <a:schemeClr val="tx1"/>
                          </a:solidFill>
                        </a:rPr>
                        <a:t>Dikirim oleh CS</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marL="0" indent="0">
                        <a:buNone/>
                      </a:pPr>
                      <a:r>
                        <a:rPr lang="en-US" sz="1900" dirty="0">
                          <a:solidFill>
                            <a:schemeClr val="tx1"/>
                          </a:solidFill>
                        </a:rPr>
                        <a:t>Tetap hanya draft, CS yang mengirim</a:t>
                      </a:r>
                      <a:endParaRPr lang="en-US" sz="1900" dirty="0"/>
                    </a:p>
                  </a:txBody>
                  <a:tcPr marL="146304" marR="146304" marT="48768" marB="48768"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DF1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1 · SHARE DO</a:t>
            </a:r>
            <a:endParaRPr lang="en-US" sz="1400" dirty="0"/>
          </a:p>
        </p:txBody>
      </p:sp>
      <p:sp>
        <p:nvSpPr>
          <p:cNvPr id="3" name="Text 1"/>
          <p:cNvSpPr>
            <a:spLocks noGrp="1"/>
          </p:cNvSpPr>
          <p:nvPr>
            <p:ph type="title"/>
          </p:nvPr>
        </p:nvSpPr>
        <p:spPr>
          <a:xfrm>
            <a:off x="812800" y="11379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Hemat ±4 jam per kapal, kendali tetap di CS</a:t>
            </a:r>
            <a:endParaRPr lang="en-US" sz="3200" dirty="0"/>
          </a:p>
        </p:txBody>
      </p:sp>
      <p:sp>
        <p:nvSpPr>
          <p:cNvPr id="4" name="Text 2"/>
          <p:cNvSpPr/>
          <p:nvPr/>
        </p:nvSpPr>
        <p:spPr>
          <a:xfrm>
            <a:off x="812800" y="1838961"/>
            <a:ext cx="582104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Nunito Sans" pitchFamily="34" charset="0"/>
                <a:ea typeface="Nunito Sans" pitchFamily="34" charset="-122"/>
                <a:cs typeface="Nunito Sans" pitchFamily="34" charset="-120"/>
              </a:rPr>
              <a:t>Manual · 50 booking × 8 menit</a:t>
            </a:r>
            <a:endParaRPr lang="en-US" sz="1400" dirty="0"/>
          </a:p>
        </p:txBody>
      </p:sp>
      <p:sp>
        <p:nvSpPr>
          <p:cNvPr id="5" name="Text 3"/>
          <p:cNvSpPr/>
          <p:nvPr/>
        </p:nvSpPr>
        <p:spPr>
          <a:xfrm>
            <a:off x="812800" y="2138682"/>
            <a:ext cx="5651500" cy="457200"/>
          </a:xfrm>
          <a:prstGeom prst="roundRect">
            <a:avLst>
              <a:gd name="adj" fmla="val 16667"/>
            </a:avLst>
          </a:prstGeom>
          <a:solidFill>
            <a:srgbClr val="12263F"/>
          </a:solidFill>
          <a:ln/>
        </p:spPr>
        <p:txBody>
          <a:bodyPr wrap="square" lIns="130082" tIns="0" rIns="130082" bIns="0" rtlCol="0" anchor="ctr">
            <a:normAutofit/>
          </a:bodyPr>
          <a:lstStyle/>
          <a:p>
            <a:pPr marL="0" indent="0" algn="l">
              <a:lnSpc>
                <a:spcPts val="2240"/>
              </a:lnSpc>
              <a:buNone/>
            </a:pPr>
            <a:r>
              <a:rPr lang="en-US" sz="1600" b="1" dirty="0">
                <a:solidFill>
                  <a:srgbClr val="F6F4EE"/>
                </a:solidFill>
                <a:latin typeface="Nunito Sans" pitchFamily="34" charset="0"/>
                <a:ea typeface="Nunito Sans" pitchFamily="34" charset="-122"/>
                <a:cs typeface="Nunito Sans" pitchFamily="34" charset="-120"/>
              </a:rPr>
              <a:t>400 menit (±6 jam 40 menit)</a:t>
            </a:r>
            <a:endParaRPr lang="en-US" sz="1600" dirty="0"/>
          </a:p>
        </p:txBody>
      </p:sp>
      <p:sp>
        <p:nvSpPr>
          <p:cNvPr id="6" name="Text 4"/>
          <p:cNvSpPr/>
          <p:nvPr/>
        </p:nvSpPr>
        <p:spPr>
          <a:xfrm>
            <a:off x="812800" y="2722882"/>
            <a:ext cx="582104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Nunito Sans" pitchFamily="34" charset="0"/>
                <a:ea typeface="Nunito Sans" pitchFamily="34" charset="-122"/>
                <a:cs typeface="Nunito Sans" pitchFamily="34" charset="-120"/>
              </a:rPr>
              <a:t>Otomatis · 50 × (1 + 2) + 10 menit</a:t>
            </a:r>
            <a:endParaRPr lang="en-US" sz="1400" dirty="0"/>
          </a:p>
        </p:txBody>
      </p:sp>
      <p:sp>
        <p:nvSpPr>
          <p:cNvPr id="7" name="Text 5"/>
          <p:cNvSpPr/>
          <p:nvPr/>
        </p:nvSpPr>
        <p:spPr>
          <a:xfrm>
            <a:off x="812800" y="3022600"/>
            <a:ext cx="2260600" cy="457200"/>
          </a:xfrm>
          <a:prstGeom prst="roundRect">
            <a:avLst>
              <a:gd name="adj" fmla="val 16667"/>
            </a:avLst>
          </a:prstGeom>
          <a:solidFill>
            <a:srgbClr val="EE8446"/>
          </a:solidFill>
          <a:ln/>
        </p:spPr>
        <p:txBody>
          <a:bodyPr wrap="square" lIns="130082" tIns="0" rIns="130082" bIns="0" rtlCol="0" anchor="ctr">
            <a:normAutofit/>
          </a:bodyPr>
          <a:lstStyle/>
          <a:p>
            <a:pPr marL="0" indent="0" algn="l">
              <a:lnSpc>
                <a:spcPts val="2240"/>
              </a:lnSpc>
              <a:buNone/>
            </a:pPr>
            <a:r>
              <a:rPr lang="en-US" sz="1600" b="1" dirty="0">
                <a:solidFill>
                  <a:srgbClr val="12263F"/>
                </a:solidFill>
                <a:latin typeface="Nunito Sans" pitchFamily="34" charset="0"/>
                <a:ea typeface="Nunito Sans" pitchFamily="34" charset="-122"/>
                <a:cs typeface="Nunito Sans" pitchFamily="34" charset="-120"/>
              </a:rPr>
              <a:t>160 menit</a:t>
            </a:r>
            <a:endParaRPr lang="en-US" sz="1600" dirty="0"/>
          </a:p>
        </p:txBody>
      </p:sp>
      <p:sp>
        <p:nvSpPr>
          <p:cNvPr id="8" name="Text 6"/>
          <p:cNvSpPr/>
          <p:nvPr/>
        </p:nvSpPr>
        <p:spPr>
          <a:xfrm>
            <a:off x="812800" y="3606800"/>
            <a:ext cx="1915636" cy="838200"/>
          </a:xfrm>
          <a:prstGeom prst="rect">
            <a:avLst/>
          </a:prstGeom>
          <a:noFill/>
          <a:ln/>
        </p:spPr>
        <p:txBody>
          <a:bodyPr wrap="square" lIns="0" tIns="0" rIns="0" bIns="0" rtlCol="0" anchor="t">
            <a:normAutofit fontScale="92500"/>
          </a:bodyPr>
          <a:lstStyle/>
          <a:p>
            <a:pPr marL="0" indent="0" algn="l">
              <a:lnSpc>
                <a:spcPts val="6400"/>
              </a:lnSpc>
              <a:buNone/>
            </a:pPr>
            <a:r>
              <a:rPr lang="en-US" sz="6400" b="1" dirty="0">
                <a:solidFill>
                  <a:srgbClr val="B84A18"/>
                </a:solidFill>
                <a:latin typeface="Rubik" pitchFamily="34" charset="0"/>
                <a:ea typeface="Rubik" pitchFamily="34" charset="-122"/>
                <a:cs typeface="Rubik" pitchFamily="34" charset="-120"/>
              </a:rPr>
              <a:t>60%</a:t>
            </a:r>
            <a:endParaRPr lang="en-US" sz="6400" dirty="0"/>
          </a:p>
        </p:txBody>
      </p:sp>
      <p:sp>
        <p:nvSpPr>
          <p:cNvPr id="9" name="Text 7"/>
          <p:cNvSpPr/>
          <p:nvPr/>
        </p:nvSpPr>
        <p:spPr>
          <a:xfrm>
            <a:off x="2728436" y="3749039"/>
            <a:ext cx="3401060" cy="5537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2263F"/>
                </a:solidFill>
                <a:latin typeface="Nunito Sans" pitchFamily="34" charset="0"/>
                <a:ea typeface="Nunito Sans" pitchFamily="34" charset="-122"/>
                <a:cs typeface="Nunito Sans" pitchFamily="34" charset="-120"/>
              </a:rPr>
              <a:t>lebih hemat waktu, ±4 jam per kapal</a:t>
            </a:r>
            <a:endParaRPr lang="en-US" sz="1600" dirty="0"/>
          </a:p>
        </p:txBody>
      </p:sp>
      <p:sp>
        <p:nvSpPr>
          <p:cNvPr id="10" name="Text 8"/>
          <p:cNvSpPr/>
          <p:nvPr/>
        </p:nvSpPr>
        <p:spPr>
          <a:xfrm>
            <a:off x="812800" y="4546600"/>
            <a:ext cx="58210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Asumsi: 50 booking per kapal; ±10 menit untuk cek 3 draft pertama. Perlu divalidasi dengan data aktual.</a:t>
            </a:r>
            <a:endParaRPr lang="en-US" sz="1200" dirty="0"/>
          </a:p>
        </p:txBody>
      </p:sp>
      <p:sp>
        <p:nvSpPr>
          <p:cNvPr id="11" name="Shape 9"/>
          <p:cNvSpPr/>
          <p:nvPr/>
        </p:nvSpPr>
        <p:spPr>
          <a:xfrm>
            <a:off x="6772275" y="1842136"/>
            <a:ext cx="4603750" cy="3214370"/>
          </a:xfrm>
          <a:prstGeom prst="roundRect">
            <a:avLst>
              <a:gd name="adj" fmla="val 3852"/>
            </a:avLst>
          </a:prstGeom>
          <a:solidFill>
            <a:srgbClr val="FFFDF8"/>
          </a:solidFill>
          <a:ln w="6350">
            <a:solidFill>
              <a:srgbClr val="D5DCDA"/>
            </a:solidFill>
            <a:prstDash val="solid"/>
          </a:ln>
        </p:spPr>
      </p:sp>
      <p:sp>
        <p:nvSpPr>
          <p:cNvPr id="12" name="Text 10"/>
          <p:cNvSpPr/>
          <p:nvPr/>
        </p:nvSpPr>
        <p:spPr>
          <a:xfrm>
            <a:off x="7002780" y="2072639"/>
            <a:ext cx="426702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63F"/>
                </a:solidFill>
                <a:latin typeface="Rubik" pitchFamily="34" charset="0"/>
                <a:ea typeface="Rubik" pitchFamily="34" charset="-122"/>
                <a:cs typeface="Rubik" pitchFamily="34" charset="-120"/>
              </a:rPr>
              <a:t>Tetap terkendali</a:t>
            </a:r>
            <a:endParaRPr lang="en-US" sz="1800" dirty="0"/>
          </a:p>
        </p:txBody>
      </p:sp>
      <p:pic>
        <p:nvPicPr>
          <p:cNvPr id="13" name="Image 0" descr="Check"/>
          <p:cNvPicPr>
            <a:picLocks noChangeAspect="1"/>
          </p:cNvPicPr>
          <p:nvPr/>
        </p:nvPicPr>
        <p:blipFill>
          <a:blip r:embed="rId3"/>
          <a:srcRect t="-585" b="-585"/>
          <a:stretch/>
        </p:blipFill>
        <p:spPr>
          <a:xfrm>
            <a:off x="7002780" y="2486661"/>
            <a:ext cx="251063" cy="254000"/>
          </a:xfrm>
          <a:prstGeom prst="rect">
            <a:avLst/>
          </a:prstGeom>
        </p:spPr>
      </p:pic>
      <p:sp>
        <p:nvSpPr>
          <p:cNvPr id="14" name="Text 11"/>
          <p:cNvSpPr/>
          <p:nvPr/>
        </p:nvSpPr>
        <p:spPr>
          <a:xfrm>
            <a:off x="7355443" y="2486661"/>
            <a:ext cx="3903779"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2263F"/>
                </a:solidFill>
                <a:latin typeface="Nunito Sans" pitchFamily="34" charset="0"/>
                <a:ea typeface="Nunito Sans" pitchFamily="34" charset="-122"/>
                <a:cs typeface="Nunito Sans" pitchFamily="34" charset="-120"/>
              </a:rPr>
              <a:t>Hanya draft.</a:t>
            </a:r>
            <a:r>
              <a:rPr lang="en-US" sz="1400" dirty="0">
                <a:solidFill>
                  <a:srgbClr val="12263F"/>
                </a:solidFill>
                <a:latin typeface="Nunito Sans" pitchFamily="34" charset="0"/>
                <a:ea typeface="Nunito Sans" pitchFamily="34" charset="-122"/>
                <a:cs typeface="Nunito Sans" pitchFamily="34" charset="-120"/>
              </a:rPr>
              <a:t> Skrip tidak pernah mengirim email.</a:t>
            </a:r>
            <a:endParaRPr lang="en-US" sz="1400" dirty="0"/>
          </a:p>
        </p:txBody>
      </p:sp>
      <p:pic>
        <p:nvPicPr>
          <p:cNvPr id="15" name="Image 1" descr="Check"/>
          <p:cNvPicPr>
            <a:picLocks noChangeAspect="1"/>
          </p:cNvPicPr>
          <p:nvPr/>
        </p:nvPicPr>
        <p:blipFill>
          <a:blip r:embed="rId4"/>
          <a:srcRect t="-651" b="-651"/>
          <a:stretch/>
        </p:blipFill>
        <p:spPr>
          <a:xfrm>
            <a:off x="7002780" y="3106421"/>
            <a:ext cx="225663" cy="254000"/>
          </a:xfrm>
          <a:prstGeom prst="rect">
            <a:avLst/>
          </a:prstGeom>
        </p:spPr>
      </p:pic>
      <p:sp>
        <p:nvSpPr>
          <p:cNvPr id="16" name="Text 12"/>
          <p:cNvSpPr/>
          <p:nvPr/>
        </p:nvSpPr>
        <p:spPr>
          <a:xfrm>
            <a:off x="7330043" y="3106421"/>
            <a:ext cx="3929941"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2263F"/>
                </a:solidFill>
                <a:latin typeface="Nunito Sans" pitchFamily="34" charset="0"/>
                <a:ea typeface="Nunito Sans" pitchFamily="34" charset="-122"/>
                <a:cs typeface="Nunito Sans" pitchFamily="34" charset="-120"/>
              </a:rPr>
              <a:t>Reply All di thread asli.</a:t>
            </a:r>
            <a:r>
              <a:rPr lang="en-US" sz="1400" dirty="0">
                <a:solidFill>
                  <a:srgbClr val="12263F"/>
                </a:solidFill>
                <a:latin typeface="Nunito Sans" pitchFamily="34" charset="0"/>
                <a:ea typeface="Nunito Sans" pitchFamily="34" charset="-122"/>
                <a:cs typeface="Nunito Sans" pitchFamily="34" charset="-120"/>
              </a:rPr>
              <a:t> Semua penerima tetap di CC.</a:t>
            </a:r>
            <a:endParaRPr lang="en-US" sz="1400" dirty="0"/>
          </a:p>
        </p:txBody>
      </p:sp>
      <p:pic>
        <p:nvPicPr>
          <p:cNvPr id="17" name="Image 2" descr="Check"/>
          <p:cNvPicPr>
            <a:picLocks noChangeAspect="1"/>
          </p:cNvPicPr>
          <p:nvPr/>
        </p:nvPicPr>
        <p:blipFill>
          <a:blip r:embed="rId5"/>
          <a:srcRect t="-399" b="-399"/>
          <a:stretch/>
        </p:blipFill>
        <p:spPr>
          <a:xfrm>
            <a:off x="7002780" y="3726182"/>
            <a:ext cx="188992" cy="254000"/>
          </a:xfrm>
          <a:prstGeom prst="rect">
            <a:avLst/>
          </a:prstGeom>
        </p:spPr>
      </p:pic>
      <p:sp>
        <p:nvSpPr>
          <p:cNvPr id="18" name="Text 13"/>
          <p:cNvSpPr/>
          <p:nvPr/>
        </p:nvSpPr>
        <p:spPr>
          <a:xfrm>
            <a:off x="7293372" y="3726182"/>
            <a:ext cx="3967713"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2263F"/>
                </a:solidFill>
                <a:latin typeface="Nunito Sans" pitchFamily="34" charset="0"/>
                <a:ea typeface="Nunito Sans" pitchFamily="34" charset="-122"/>
                <a:cs typeface="Nunito Sans" pitchFamily="34" charset="-120"/>
              </a:rPr>
              <a:t>Tidak menebak.</a:t>
            </a:r>
            <a:r>
              <a:rPr lang="en-US" sz="1400" dirty="0">
                <a:solidFill>
                  <a:srgbClr val="12263F"/>
                </a:solidFill>
                <a:latin typeface="Nunito Sans" pitchFamily="34" charset="0"/>
                <a:ea typeface="Nunito Sans" pitchFamily="34" charset="-122"/>
                <a:cs typeface="Nunito Sans" pitchFamily="34" charset="-120"/>
              </a:rPr>
              <a:t> DO atau thread tak ketemu? Ditandai di laporan.</a:t>
            </a:r>
            <a:endParaRPr lang="en-US" sz="1400" dirty="0"/>
          </a:p>
        </p:txBody>
      </p:sp>
      <p:pic>
        <p:nvPicPr>
          <p:cNvPr id="19" name="Image 3" descr="Check"/>
          <p:cNvPicPr>
            <a:picLocks noChangeAspect="1"/>
          </p:cNvPicPr>
          <p:nvPr/>
        </p:nvPicPr>
        <p:blipFill>
          <a:blip r:embed="rId3"/>
          <a:srcRect t="-16" b="-16"/>
          <a:stretch/>
        </p:blipFill>
        <p:spPr>
          <a:xfrm>
            <a:off x="7002780" y="4345939"/>
            <a:ext cx="253921" cy="254000"/>
          </a:xfrm>
          <a:prstGeom prst="rect">
            <a:avLst/>
          </a:prstGeom>
        </p:spPr>
      </p:pic>
      <p:sp>
        <p:nvSpPr>
          <p:cNvPr id="20" name="Text 14"/>
          <p:cNvSpPr/>
          <p:nvPr/>
        </p:nvSpPr>
        <p:spPr>
          <a:xfrm>
            <a:off x="7358300" y="4345939"/>
            <a:ext cx="3900836"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2263F"/>
                </a:solidFill>
                <a:latin typeface="Nunito Sans" pitchFamily="34" charset="0"/>
                <a:ea typeface="Nunito Sans" pitchFamily="34" charset="-122"/>
                <a:cs typeface="Nunito Sans" pitchFamily="34" charset="-120"/>
              </a:rPr>
              <a:t>Dicek bertahap.</a:t>
            </a:r>
            <a:r>
              <a:rPr lang="en-US" sz="1400" dirty="0">
                <a:solidFill>
                  <a:srgbClr val="12263F"/>
                </a:solidFill>
                <a:latin typeface="Nunito Sans" pitchFamily="34" charset="0"/>
                <a:ea typeface="Nunito Sans" pitchFamily="34" charset="-122"/>
                <a:cs typeface="Nunito Sans" pitchFamily="34" charset="-120"/>
              </a:rPr>
              <a:t> 3 draft pertama diperiksa dulu.</a:t>
            </a:r>
            <a:endParaRPr lang="en-US" sz="1400" dirty="0"/>
          </a:p>
        </p:txBody>
      </p:sp>
      <p:sp>
        <p:nvSpPr>
          <p:cNvPr id="21" name="Text 15"/>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22" name="Text 1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lIns="0" tIns="0" rIns="0" bIns="0" rtlCol="0" anchor="ctr"/>
          <a:lstStyle/>
          <a:p>
            <a:r>
              <a:rPr lang="en-US" dirty="0"/>
              <a:t>Terkendali: hanya draft, CS yang mengirim</a:t>
            </a:r>
          </a:p>
        </p:txBody>
      </p:sp>
      <p:sp>
        <p:nvSpPr>
          <p:cNvPr id="3" name="Control card 1"/>
          <p:cNvSpPr/>
          <p:nvPr/>
        </p:nvSpPr>
        <p:spPr>
          <a:xfrm>
            <a:off x="609600" y="1524000"/>
            <a:ext cx="5364480" cy="2072640"/>
          </a:xfrm>
          <a:prstGeom prst="roundRect">
            <a:avLst>
              <a:gd name="adj" fmla="val 4706"/>
            </a:avLst>
          </a:prstGeom>
          <a:solidFill>
            <a:schemeClr val="bg2"/>
          </a:solidFill>
          <a:ln/>
        </p:spPr>
      </p:sp>
      <p:sp>
        <p:nvSpPr>
          <p:cNvPr id="4" name="Ikon Hanya draft circle"/>
          <p:cNvSpPr/>
          <p:nvPr/>
        </p:nvSpPr>
        <p:spPr>
          <a:xfrm>
            <a:off x="853440" y="1767840"/>
            <a:ext cx="731520" cy="731520"/>
          </a:xfrm>
          <a:prstGeom prst="ellipse">
            <a:avLst/>
          </a:prstGeom>
          <a:solidFill>
            <a:schemeClr val="accent1"/>
          </a:solidFill>
          <a:ln/>
        </p:spPr>
      </p:sp>
      <p:pic>
        <p:nvPicPr>
          <p:cNvPr id="5" name="Ikon Hanya draft" descr="Ikon Hanya draft"/>
          <p:cNvPicPr>
            <a:picLocks noChangeAspect="1"/>
          </p:cNvPicPr>
          <p:nvPr/>
        </p:nvPicPr>
        <p:blipFill>
          <a:blip r:embed="rId3"/>
          <a:stretch>
            <a:fillRect/>
          </a:stretch>
        </p:blipFill>
        <p:spPr>
          <a:xfrm>
            <a:off x="1036320" y="1950720"/>
            <a:ext cx="365760" cy="365760"/>
          </a:xfrm>
          <a:prstGeom prst="rect">
            <a:avLst/>
          </a:prstGeom>
        </p:spPr>
      </p:pic>
      <p:sp>
        <p:nvSpPr>
          <p:cNvPr id="6" name="Text 3"/>
          <p:cNvSpPr txBox="1"/>
          <p:nvPr/>
        </p:nvSpPr>
        <p:spPr>
          <a:xfrm>
            <a:off x="1828800" y="1828800"/>
            <a:ext cx="3901440" cy="487680"/>
          </a:xfrm>
          <a:prstGeom prst="rect">
            <a:avLst/>
          </a:prstGeom>
          <a:noFill/>
          <a:ln/>
        </p:spPr>
        <p:txBody>
          <a:bodyPr wrap="square" lIns="0" tIns="0" rIns="0" bIns="0" rtlCol="0" anchor="ctr"/>
          <a:lstStyle/>
          <a:p>
            <a:r>
              <a:rPr lang="en-US" sz="2133" b="1" dirty="0">
                <a:solidFill>
                  <a:schemeClr val="tx2"/>
                </a:solidFill>
              </a:rPr>
              <a:t>Hanya draft</a:t>
            </a:r>
            <a:endParaRPr lang="en-US" sz="2133" dirty="0"/>
          </a:p>
        </p:txBody>
      </p:sp>
      <p:sp>
        <p:nvSpPr>
          <p:cNvPr id="7" name="Text 4"/>
          <p:cNvSpPr txBox="1"/>
          <p:nvPr/>
        </p:nvSpPr>
        <p:spPr>
          <a:xfrm>
            <a:off x="1828800" y="2438400"/>
            <a:ext cx="3901440" cy="1036320"/>
          </a:xfrm>
          <a:prstGeom prst="rect">
            <a:avLst/>
          </a:prstGeom>
          <a:noFill/>
          <a:ln/>
        </p:spPr>
        <p:txBody>
          <a:bodyPr wrap="square" lIns="0" tIns="0" rIns="0" bIns="0" rtlCol="0" anchor="t"/>
          <a:lstStyle/>
          <a:p>
            <a:r>
              <a:rPr lang="en-US" sz="1867" dirty="0"/>
              <a:t>Skrip tidak pernah mengirim email. CS meninjau dan mengirim sendiri.</a:t>
            </a:r>
          </a:p>
        </p:txBody>
      </p:sp>
      <p:sp>
        <p:nvSpPr>
          <p:cNvPr id="8" name="Control card 2"/>
          <p:cNvSpPr/>
          <p:nvPr/>
        </p:nvSpPr>
        <p:spPr>
          <a:xfrm>
            <a:off x="6217920" y="1524000"/>
            <a:ext cx="5364480" cy="2072640"/>
          </a:xfrm>
          <a:prstGeom prst="roundRect">
            <a:avLst>
              <a:gd name="adj" fmla="val 4706"/>
            </a:avLst>
          </a:prstGeom>
          <a:solidFill>
            <a:schemeClr val="bg2"/>
          </a:solidFill>
          <a:ln/>
        </p:spPr>
      </p:sp>
      <p:sp>
        <p:nvSpPr>
          <p:cNvPr id="9" name="Ikon Reply All di thread asli circle"/>
          <p:cNvSpPr/>
          <p:nvPr/>
        </p:nvSpPr>
        <p:spPr>
          <a:xfrm>
            <a:off x="6461760" y="1767840"/>
            <a:ext cx="731520" cy="731520"/>
          </a:xfrm>
          <a:prstGeom prst="ellipse">
            <a:avLst/>
          </a:prstGeom>
          <a:solidFill>
            <a:schemeClr val="accent1"/>
          </a:solidFill>
          <a:ln/>
        </p:spPr>
      </p:sp>
      <p:pic>
        <p:nvPicPr>
          <p:cNvPr id="10" name="Ikon Reply All di thread asli" descr="Ikon Reply All di thread asli"/>
          <p:cNvPicPr>
            <a:picLocks noChangeAspect="1"/>
          </p:cNvPicPr>
          <p:nvPr/>
        </p:nvPicPr>
        <p:blipFill>
          <a:blip r:embed="rId4"/>
          <a:stretch>
            <a:fillRect/>
          </a:stretch>
        </p:blipFill>
        <p:spPr>
          <a:xfrm>
            <a:off x="6644640" y="1950720"/>
            <a:ext cx="365760" cy="365760"/>
          </a:xfrm>
          <a:prstGeom prst="rect">
            <a:avLst/>
          </a:prstGeom>
        </p:spPr>
      </p:pic>
      <p:sp>
        <p:nvSpPr>
          <p:cNvPr id="11" name="Text 7"/>
          <p:cNvSpPr txBox="1"/>
          <p:nvPr/>
        </p:nvSpPr>
        <p:spPr>
          <a:xfrm>
            <a:off x="7437120" y="1828800"/>
            <a:ext cx="3901440" cy="487680"/>
          </a:xfrm>
          <a:prstGeom prst="rect">
            <a:avLst/>
          </a:prstGeom>
          <a:noFill/>
          <a:ln/>
        </p:spPr>
        <p:txBody>
          <a:bodyPr wrap="square" lIns="0" tIns="0" rIns="0" bIns="0" rtlCol="0" anchor="ctr"/>
          <a:lstStyle/>
          <a:p>
            <a:r>
              <a:rPr lang="en-US" sz="2133" b="1" dirty="0">
                <a:solidFill>
                  <a:schemeClr val="tx2"/>
                </a:solidFill>
              </a:rPr>
              <a:t>Reply All di thread asli</a:t>
            </a:r>
            <a:endParaRPr lang="en-US" sz="2133" dirty="0"/>
          </a:p>
        </p:txBody>
      </p:sp>
      <p:sp>
        <p:nvSpPr>
          <p:cNvPr id="12" name="Text 8"/>
          <p:cNvSpPr txBox="1"/>
          <p:nvPr/>
        </p:nvSpPr>
        <p:spPr>
          <a:xfrm>
            <a:off x="7437120" y="2438400"/>
            <a:ext cx="3901440" cy="1036320"/>
          </a:xfrm>
          <a:prstGeom prst="rect">
            <a:avLst/>
          </a:prstGeom>
          <a:noFill/>
          <a:ln/>
        </p:spPr>
        <p:txBody>
          <a:bodyPr wrap="square" lIns="0" tIns="0" rIns="0" bIns="0" rtlCol="0" anchor="t"/>
          <a:lstStyle/>
          <a:p>
            <a:r>
              <a:rPr lang="en-US" sz="1867" dirty="0"/>
              <a:t>Semua penerima thread tetap di CC dan subject lama tidak dihapus.</a:t>
            </a:r>
          </a:p>
        </p:txBody>
      </p:sp>
      <p:sp>
        <p:nvSpPr>
          <p:cNvPr id="13" name="Control card 3"/>
          <p:cNvSpPr/>
          <p:nvPr/>
        </p:nvSpPr>
        <p:spPr>
          <a:xfrm>
            <a:off x="609600" y="3840480"/>
            <a:ext cx="5364480" cy="2072640"/>
          </a:xfrm>
          <a:prstGeom prst="roundRect">
            <a:avLst>
              <a:gd name="adj" fmla="val 4706"/>
            </a:avLst>
          </a:prstGeom>
          <a:solidFill>
            <a:schemeClr val="bg2"/>
          </a:solidFill>
          <a:ln/>
        </p:spPr>
      </p:sp>
      <p:sp>
        <p:nvSpPr>
          <p:cNvPr id="14" name="Ikon Tidak menebak circle"/>
          <p:cNvSpPr/>
          <p:nvPr/>
        </p:nvSpPr>
        <p:spPr>
          <a:xfrm>
            <a:off x="853440" y="4084320"/>
            <a:ext cx="731520" cy="731520"/>
          </a:xfrm>
          <a:prstGeom prst="ellipse">
            <a:avLst/>
          </a:prstGeom>
          <a:solidFill>
            <a:schemeClr val="accent1"/>
          </a:solidFill>
          <a:ln/>
        </p:spPr>
      </p:sp>
      <p:pic>
        <p:nvPicPr>
          <p:cNvPr id="15" name="Ikon Tidak menebak" descr="Ikon Tidak menebak"/>
          <p:cNvPicPr>
            <a:picLocks noChangeAspect="1"/>
          </p:cNvPicPr>
          <p:nvPr/>
        </p:nvPicPr>
        <p:blipFill>
          <a:blip r:embed="rId5"/>
          <a:stretch>
            <a:fillRect/>
          </a:stretch>
        </p:blipFill>
        <p:spPr>
          <a:xfrm>
            <a:off x="1036320" y="4267200"/>
            <a:ext cx="365760" cy="365760"/>
          </a:xfrm>
          <a:prstGeom prst="rect">
            <a:avLst/>
          </a:prstGeom>
        </p:spPr>
      </p:pic>
      <p:sp>
        <p:nvSpPr>
          <p:cNvPr id="16" name="Text 11"/>
          <p:cNvSpPr txBox="1"/>
          <p:nvPr/>
        </p:nvSpPr>
        <p:spPr>
          <a:xfrm>
            <a:off x="1828800" y="4145280"/>
            <a:ext cx="3901440" cy="487680"/>
          </a:xfrm>
          <a:prstGeom prst="rect">
            <a:avLst/>
          </a:prstGeom>
          <a:noFill/>
          <a:ln/>
        </p:spPr>
        <p:txBody>
          <a:bodyPr wrap="square" lIns="0" tIns="0" rIns="0" bIns="0" rtlCol="0" anchor="ctr"/>
          <a:lstStyle/>
          <a:p>
            <a:r>
              <a:rPr lang="en-US" sz="2133" b="1" dirty="0">
                <a:solidFill>
                  <a:schemeClr val="tx2"/>
                </a:solidFill>
              </a:rPr>
              <a:t>Tidak menebak</a:t>
            </a:r>
            <a:endParaRPr lang="en-US" sz="2133" dirty="0"/>
          </a:p>
        </p:txBody>
      </p:sp>
      <p:sp>
        <p:nvSpPr>
          <p:cNvPr id="17" name="Text 12"/>
          <p:cNvSpPr txBox="1"/>
          <p:nvPr/>
        </p:nvSpPr>
        <p:spPr>
          <a:xfrm>
            <a:off x="1828800" y="4754880"/>
            <a:ext cx="3901440" cy="1036320"/>
          </a:xfrm>
          <a:prstGeom prst="rect">
            <a:avLst/>
          </a:prstGeom>
          <a:noFill/>
          <a:ln/>
        </p:spPr>
        <p:txBody>
          <a:bodyPr wrap="square" lIns="0" tIns="0" rIns="0" bIns="0" rtlCol="0" anchor="t"/>
          <a:lstStyle/>
          <a:p>
            <a:r>
              <a:rPr lang="en-US" sz="1867" dirty="0"/>
              <a:t>DO tidak ada atau thread tidak ketemu? Ditandai di laporan, bukan ditebak.</a:t>
            </a:r>
          </a:p>
        </p:txBody>
      </p:sp>
      <p:sp>
        <p:nvSpPr>
          <p:cNvPr id="18" name="Control card 4"/>
          <p:cNvSpPr/>
          <p:nvPr/>
        </p:nvSpPr>
        <p:spPr>
          <a:xfrm>
            <a:off x="6217920" y="3840480"/>
            <a:ext cx="5364480" cy="2072640"/>
          </a:xfrm>
          <a:prstGeom prst="roundRect">
            <a:avLst>
              <a:gd name="adj" fmla="val 4706"/>
            </a:avLst>
          </a:prstGeom>
          <a:solidFill>
            <a:schemeClr val="bg2"/>
          </a:solidFill>
          <a:ln/>
        </p:spPr>
      </p:sp>
      <p:sp>
        <p:nvSpPr>
          <p:cNvPr id="19" name="Ikon Dicek bertahap circle"/>
          <p:cNvSpPr/>
          <p:nvPr/>
        </p:nvSpPr>
        <p:spPr>
          <a:xfrm>
            <a:off x="6461760" y="4084320"/>
            <a:ext cx="731520" cy="731520"/>
          </a:xfrm>
          <a:prstGeom prst="ellipse">
            <a:avLst/>
          </a:prstGeom>
          <a:solidFill>
            <a:schemeClr val="accent1"/>
          </a:solidFill>
          <a:ln/>
        </p:spPr>
      </p:sp>
      <p:pic>
        <p:nvPicPr>
          <p:cNvPr id="20" name="Ikon Dicek bertahap" descr="Ikon Dicek bertahap"/>
          <p:cNvPicPr>
            <a:picLocks noChangeAspect="1"/>
          </p:cNvPicPr>
          <p:nvPr/>
        </p:nvPicPr>
        <p:blipFill>
          <a:blip r:embed="rId6"/>
          <a:stretch>
            <a:fillRect/>
          </a:stretch>
        </p:blipFill>
        <p:spPr>
          <a:xfrm>
            <a:off x="6644640" y="4267200"/>
            <a:ext cx="365760" cy="365760"/>
          </a:xfrm>
          <a:prstGeom prst="rect">
            <a:avLst/>
          </a:prstGeom>
        </p:spPr>
      </p:pic>
      <p:sp>
        <p:nvSpPr>
          <p:cNvPr id="21" name="Text 15"/>
          <p:cNvSpPr txBox="1"/>
          <p:nvPr/>
        </p:nvSpPr>
        <p:spPr>
          <a:xfrm>
            <a:off x="7437120" y="4145280"/>
            <a:ext cx="3901440" cy="487680"/>
          </a:xfrm>
          <a:prstGeom prst="rect">
            <a:avLst/>
          </a:prstGeom>
          <a:noFill/>
          <a:ln/>
        </p:spPr>
        <p:txBody>
          <a:bodyPr wrap="square" lIns="0" tIns="0" rIns="0" bIns="0" rtlCol="0" anchor="ctr"/>
          <a:lstStyle/>
          <a:p>
            <a:r>
              <a:rPr lang="en-US" sz="2133" b="1" dirty="0">
                <a:solidFill>
                  <a:schemeClr val="tx2"/>
                </a:solidFill>
              </a:rPr>
              <a:t>Dicek bertahap</a:t>
            </a:r>
            <a:endParaRPr lang="en-US" sz="2133" dirty="0"/>
          </a:p>
        </p:txBody>
      </p:sp>
      <p:sp>
        <p:nvSpPr>
          <p:cNvPr id="22" name="Text 16"/>
          <p:cNvSpPr txBox="1"/>
          <p:nvPr/>
        </p:nvSpPr>
        <p:spPr>
          <a:xfrm>
            <a:off x="7437120" y="4754880"/>
            <a:ext cx="3901440" cy="1036320"/>
          </a:xfrm>
          <a:prstGeom prst="rect">
            <a:avLst/>
          </a:prstGeom>
          <a:noFill/>
          <a:ln/>
        </p:spPr>
        <p:txBody>
          <a:bodyPr wrap="square" lIns="0" tIns="0" rIns="0" bIns="0" rtlCol="0" anchor="t"/>
          <a:lstStyle/>
          <a:p>
            <a:r>
              <a:rPr lang="en-US" sz="1867" dirty="0"/>
              <a:t>Tiga draft pertama dibuat lebih dulu untuk diperiksa sebelum sisanya.</a:t>
            </a: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975360"/>
          </a:xfrm>
          <a:prstGeom prst="rect">
            <a:avLst/>
          </a:prstGeom>
          <a:noFill/>
          <a:ln/>
        </p:spPr>
        <p:txBody>
          <a:bodyPr wrap="square" lIns="0" tIns="0" rIns="0" bIns="0" rtlCol="0" anchor="ctr"/>
          <a:lstStyle/>
          <a:p>
            <a:r>
              <a:rPr lang="en-US" dirty="0"/>
              <a:t>Kesimpulan dan langkah berikutnya</a:t>
            </a:r>
          </a:p>
        </p:txBody>
      </p:sp>
      <p:sp>
        <p:nvSpPr>
          <p:cNvPr id="3" name="Closing panel 1"/>
          <p:cNvSpPr/>
          <p:nvPr/>
        </p:nvSpPr>
        <p:spPr>
          <a:xfrm>
            <a:off x="609600" y="1645920"/>
            <a:ext cx="5364480" cy="4328160"/>
          </a:xfrm>
          <a:prstGeom prst="roundRect">
            <a:avLst>
              <a:gd name="adj" fmla="val 2254"/>
            </a:avLst>
          </a:prstGeom>
          <a:solidFill>
            <a:schemeClr val="accent3"/>
          </a:solidFill>
          <a:ln/>
        </p:spPr>
      </p:sp>
      <p:sp>
        <p:nvSpPr>
          <p:cNvPr id="4" name="Closing circle 1"/>
          <p:cNvSpPr/>
          <p:nvPr/>
        </p:nvSpPr>
        <p:spPr>
          <a:xfrm>
            <a:off x="914400" y="1950720"/>
            <a:ext cx="670560" cy="670560"/>
          </a:xfrm>
          <a:prstGeom prst="ellipse">
            <a:avLst/>
          </a:prstGeom>
          <a:solidFill>
            <a:schemeClr val="accent6"/>
          </a:solidFill>
          <a:ln/>
        </p:spPr>
      </p:sp>
      <p:pic>
        <p:nvPicPr>
          <p:cNvPr id="5" name="Closing icon 1" descr="Ikon Manfaat"/>
          <p:cNvPicPr>
            <a:picLocks noChangeAspect="1"/>
          </p:cNvPicPr>
          <p:nvPr/>
        </p:nvPicPr>
        <p:blipFill>
          <a:blip r:embed="rId3"/>
          <a:stretch>
            <a:fillRect/>
          </a:stretch>
        </p:blipFill>
        <p:spPr>
          <a:xfrm>
            <a:off x="1085088" y="2121408"/>
            <a:ext cx="329184" cy="329184"/>
          </a:xfrm>
          <a:prstGeom prst="rect">
            <a:avLst/>
          </a:prstGeom>
        </p:spPr>
      </p:pic>
      <p:sp>
        <p:nvSpPr>
          <p:cNvPr id="6" name="Text 3"/>
          <p:cNvSpPr txBox="1"/>
          <p:nvPr/>
        </p:nvSpPr>
        <p:spPr>
          <a:xfrm>
            <a:off x="1828800" y="1950720"/>
            <a:ext cx="3901440" cy="670560"/>
          </a:xfrm>
          <a:prstGeom prst="rect">
            <a:avLst/>
          </a:prstGeom>
          <a:noFill/>
          <a:ln/>
        </p:spPr>
        <p:txBody>
          <a:bodyPr wrap="square" lIns="0" tIns="0" rIns="0" bIns="0" rtlCol="0" anchor="ctr"/>
          <a:lstStyle/>
          <a:p>
            <a:r>
              <a:rPr lang="en-US" sz="2400" b="1" dirty="0">
                <a:solidFill>
                  <a:schemeClr val="bg1"/>
                </a:solidFill>
              </a:rPr>
              <a:t>Manfaat</a:t>
            </a:r>
            <a:endParaRPr lang="en-US" sz="2400" dirty="0"/>
          </a:p>
        </p:txBody>
      </p:sp>
      <p:sp>
        <p:nvSpPr>
          <p:cNvPr id="7" name="Text 4"/>
          <p:cNvSpPr txBox="1"/>
          <p:nvPr/>
        </p:nvSpPr>
        <p:spPr>
          <a:xfrm>
            <a:off x="975360" y="2987040"/>
            <a:ext cx="4632960" cy="2804160"/>
          </a:xfrm>
          <a:prstGeom prst="rect">
            <a:avLst/>
          </a:prstGeom>
          <a:noFill/>
          <a:ln/>
        </p:spPr>
        <p:txBody>
          <a:bodyPr wrap="square" lIns="0" tIns="0" rIns="0" bIns="0" rtlCol="0" anchor="t"/>
          <a:lstStyle/>
          <a:p>
            <a:pPr marL="457189" indent="-457189">
              <a:spcAft>
                <a:spcPts val="1333"/>
              </a:spcAft>
              <a:buSzPct val="100000"/>
              <a:buChar char="•"/>
            </a:pPr>
            <a:r>
              <a:rPr lang="en-US" sz="2133" dirty="0">
                <a:solidFill>
                  <a:schemeClr val="bg1"/>
                </a:solidFill>
              </a:rPr>
              <a:t>Waktu kerja per kapal turun sekitar 60% (estimasi)</a:t>
            </a:r>
            <a:endParaRPr lang="en-US" sz="2133" dirty="0"/>
          </a:p>
          <a:p>
            <a:pPr marL="457189" indent="-457189">
              <a:spcAft>
                <a:spcPts val="1333"/>
              </a:spcAft>
              <a:buSzPct val="100000"/>
              <a:buChar char="•"/>
            </a:pPr>
            <a:r>
              <a:rPr lang="en-US" sz="2133" dirty="0">
                <a:solidFill>
                  <a:schemeClr val="bg1"/>
                </a:solidFill>
              </a:rPr>
              <a:t>Format subject dan isi email seragam</a:t>
            </a:r>
            <a:endParaRPr lang="en-US" sz="2133" dirty="0"/>
          </a:p>
          <a:p>
            <a:pPr marL="457189" indent="-457189">
              <a:spcAft>
                <a:spcPts val="1333"/>
              </a:spcAft>
              <a:buSzPct val="100000"/>
              <a:buChar char="•"/>
            </a:pPr>
            <a:r>
              <a:rPr lang="en-US" sz="2133" dirty="0">
                <a:solidFill>
                  <a:schemeClr val="bg1"/>
                </a:solidFill>
              </a:rPr>
              <a:t>CS tetap memegang kendali: hanya draft</a:t>
            </a:r>
            <a:endParaRPr lang="en-US" sz="2133" dirty="0"/>
          </a:p>
        </p:txBody>
      </p:sp>
      <p:sp>
        <p:nvSpPr>
          <p:cNvPr id="8" name="Closing panel 2"/>
          <p:cNvSpPr/>
          <p:nvPr/>
        </p:nvSpPr>
        <p:spPr>
          <a:xfrm>
            <a:off x="6217920" y="1645920"/>
            <a:ext cx="5364480" cy="4328160"/>
          </a:xfrm>
          <a:prstGeom prst="roundRect">
            <a:avLst>
              <a:gd name="adj" fmla="val 2254"/>
            </a:avLst>
          </a:prstGeom>
          <a:solidFill>
            <a:schemeClr val="accent3"/>
          </a:solidFill>
          <a:ln/>
        </p:spPr>
      </p:sp>
      <p:sp>
        <p:nvSpPr>
          <p:cNvPr id="9" name="Closing circle 2"/>
          <p:cNvSpPr/>
          <p:nvPr/>
        </p:nvSpPr>
        <p:spPr>
          <a:xfrm>
            <a:off x="6522720" y="1950720"/>
            <a:ext cx="670560" cy="670560"/>
          </a:xfrm>
          <a:prstGeom prst="ellipse">
            <a:avLst/>
          </a:prstGeom>
          <a:solidFill>
            <a:schemeClr val="accent6"/>
          </a:solidFill>
          <a:ln/>
        </p:spPr>
      </p:sp>
      <p:pic>
        <p:nvPicPr>
          <p:cNvPr id="10" name="Closing icon 2" descr="Ikon Langkah berikutnya"/>
          <p:cNvPicPr>
            <a:picLocks noChangeAspect="1"/>
          </p:cNvPicPr>
          <p:nvPr/>
        </p:nvPicPr>
        <p:blipFill>
          <a:blip r:embed="rId4"/>
          <a:stretch>
            <a:fillRect/>
          </a:stretch>
        </p:blipFill>
        <p:spPr>
          <a:xfrm>
            <a:off x="6693408" y="2121408"/>
            <a:ext cx="329184" cy="329184"/>
          </a:xfrm>
          <a:prstGeom prst="rect">
            <a:avLst/>
          </a:prstGeom>
        </p:spPr>
      </p:pic>
      <p:sp>
        <p:nvSpPr>
          <p:cNvPr id="11" name="Text 7"/>
          <p:cNvSpPr txBox="1"/>
          <p:nvPr/>
        </p:nvSpPr>
        <p:spPr>
          <a:xfrm>
            <a:off x="7437120" y="1950720"/>
            <a:ext cx="3901440" cy="670560"/>
          </a:xfrm>
          <a:prstGeom prst="rect">
            <a:avLst/>
          </a:prstGeom>
          <a:noFill/>
          <a:ln/>
        </p:spPr>
        <p:txBody>
          <a:bodyPr wrap="square" lIns="0" tIns="0" rIns="0" bIns="0" rtlCol="0" anchor="ctr"/>
          <a:lstStyle/>
          <a:p>
            <a:r>
              <a:rPr lang="en-US" sz="2400" b="1" dirty="0">
                <a:solidFill>
                  <a:schemeClr val="bg1"/>
                </a:solidFill>
              </a:rPr>
              <a:t>Langkah berikutnya</a:t>
            </a:r>
            <a:endParaRPr lang="en-US" sz="2400" dirty="0"/>
          </a:p>
        </p:txBody>
      </p:sp>
      <p:sp>
        <p:nvSpPr>
          <p:cNvPr id="12" name="Text 8"/>
          <p:cNvSpPr txBox="1"/>
          <p:nvPr/>
        </p:nvSpPr>
        <p:spPr>
          <a:xfrm>
            <a:off x="6583680" y="2987040"/>
            <a:ext cx="4632960" cy="2804160"/>
          </a:xfrm>
          <a:prstGeom prst="rect">
            <a:avLst/>
          </a:prstGeom>
          <a:noFill/>
          <a:ln/>
        </p:spPr>
        <p:txBody>
          <a:bodyPr wrap="square" lIns="0" tIns="0" rIns="0" bIns="0" rtlCol="0" anchor="t"/>
          <a:lstStyle/>
          <a:p>
            <a:pPr marL="457189" indent="-457189">
              <a:spcAft>
                <a:spcPts val="1333"/>
              </a:spcAft>
              <a:buSzPct val="100000"/>
              <a:buChar char="•"/>
            </a:pPr>
            <a:r>
              <a:rPr lang="en-US" sz="2133" dirty="0">
                <a:solidFill>
                  <a:schemeClr val="bg1"/>
                </a:solidFill>
              </a:rPr>
              <a:t>Validasi estimasi waktu dengan data aktual</a:t>
            </a:r>
            <a:endParaRPr lang="en-US" sz="2133" dirty="0"/>
          </a:p>
          <a:p>
            <a:pPr marL="457189" indent="-457189">
              <a:spcAft>
                <a:spcPts val="1333"/>
              </a:spcAft>
              <a:buSzPct val="100000"/>
              <a:buChar char="•"/>
            </a:pPr>
            <a:r>
              <a:rPr lang="en-US" sz="2133" dirty="0">
                <a:solidFill>
                  <a:schemeClr val="bg1"/>
                </a:solidFill>
              </a:rPr>
              <a:t>Tahap B: update open closing ke customer</a:t>
            </a:r>
            <a:endParaRPr lang="en-US" sz="2133" dirty="0"/>
          </a:p>
          <a:p>
            <a:pPr marL="457189" indent="-457189">
              <a:spcAft>
                <a:spcPts val="1333"/>
              </a:spcAft>
              <a:buSzPct val="100000"/>
              <a:buChar char="•"/>
            </a:pPr>
            <a:r>
              <a:rPr lang="en-US" sz="2133" dirty="0">
                <a:solidFill>
                  <a:schemeClr val="bg1"/>
                </a:solidFill>
              </a:rPr>
              <a:t>Tahap C: klasifikasi balasan customer per booking (Check Booking)</a:t>
            </a:r>
            <a:endParaRPr lang="en-US" sz="2133"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84960"/>
            <a:ext cx="7071360" cy="2194560"/>
          </a:xfrm>
          <a:prstGeom prst="rect">
            <a:avLst/>
          </a:prstGeom>
          <a:noFill/>
          <a:ln/>
        </p:spPr>
        <p:txBody>
          <a:bodyPr wrap="square" lIns="0" tIns="0" rIns="0" bIns="0" rtlCol="0" anchor="b"/>
          <a:lstStyle/>
          <a:p>
            <a:r>
              <a:rPr lang="en-US" dirty="0"/>
              <a:t>2. Check Booking: Manual vs Skill</a:t>
            </a:r>
          </a:p>
        </p:txBody>
      </p:sp>
      <p:sp>
        <p:nvSpPr>
          <p:cNvPr id="3" name="Subjudul"/>
          <p:cNvSpPr txBox="1"/>
          <p:nvPr/>
        </p:nvSpPr>
        <p:spPr>
          <a:xfrm>
            <a:off x="731520" y="4023360"/>
            <a:ext cx="7071360" cy="609600"/>
          </a:xfrm>
          <a:prstGeom prst="rect">
            <a:avLst/>
          </a:prstGeom>
          <a:noFill/>
          <a:ln/>
        </p:spPr>
        <p:txBody>
          <a:bodyPr wrap="square" lIns="0" tIns="0" rIns="0" bIns="0" rtlCol="0" anchor="t"/>
          <a:lstStyle/>
          <a:p>
            <a:r>
              <a:rPr lang="en-US" sz="2667" dirty="0">
                <a:solidFill>
                  <a:schemeClr val="bg2"/>
                </a:solidFill>
              </a:rPr>
              <a:t>Perbandingan diagram alur kerja per tahap</a:t>
            </a:r>
            <a:endParaRPr lang="en-US" sz="2667" dirty="0"/>
          </a:p>
        </p:txBody>
      </p:sp>
      <p:sp>
        <p:nvSpPr>
          <p:cNvPr id="4" name="Unit"/>
          <p:cNvSpPr txBox="1"/>
          <p:nvPr/>
        </p:nvSpPr>
        <p:spPr>
          <a:xfrm>
            <a:off x="731520" y="5120640"/>
            <a:ext cx="7071360" cy="426720"/>
          </a:xfrm>
          <a:prstGeom prst="rect">
            <a:avLst/>
          </a:prstGeom>
          <a:noFill/>
          <a:ln/>
        </p:spPr>
        <p:txBody>
          <a:bodyPr wrap="square" lIns="0" tIns="0" rIns="0" bIns="0" rtlCol="0" anchor="t"/>
          <a:lstStyle/>
          <a:p>
            <a:r>
              <a:rPr lang="en-US" sz="1867" b="1" dirty="0">
                <a:solidFill>
                  <a:schemeClr val="accent1"/>
                </a:solidFill>
              </a:rPr>
              <a:t>Customer Service  |  HAL &amp; SKR Jakarta</a:t>
            </a:r>
            <a:endParaRPr lang="en-US" sz="1867" dirty="0"/>
          </a:p>
        </p:txBody>
      </p:sp>
      <p:sp>
        <p:nvSpPr>
          <p:cNvPr id="5" name="Kartu manual"/>
          <p:cNvSpPr/>
          <p:nvPr/>
        </p:nvSpPr>
        <p:spPr>
          <a:xfrm>
            <a:off x="8534400" y="1584960"/>
            <a:ext cx="2926080" cy="1706880"/>
          </a:xfrm>
          <a:prstGeom prst="roundRect">
            <a:avLst>
              <a:gd name="adj" fmla="val 7143"/>
            </a:avLst>
          </a:prstGeom>
          <a:solidFill>
            <a:schemeClr val="accent5"/>
          </a:solidFill>
          <a:ln w="6350">
            <a:solidFill>
              <a:schemeClr val="accent5"/>
            </a:solidFill>
            <a:prstDash val="solid"/>
          </a:ln>
        </p:spPr>
      </p:sp>
      <p:sp>
        <p:nvSpPr>
          <p:cNvPr id="6" name="Teks manual"/>
          <p:cNvSpPr txBox="1"/>
          <p:nvPr/>
        </p:nvSpPr>
        <p:spPr>
          <a:xfrm>
            <a:off x="8534400" y="1584960"/>
            <a:ext cx="2926080" cy="1706880"/>
          </a:xfrm>
          <a:prstGeom prst="rect">
            <a:avLst/>
          </a:prstGeom>
          <a:noFill/>
          <a:ln/>
        </p:spPr>
        <p:txBody>
          <a:bodyPr wrap="square" lIns="0" tIns="0" rIns="0" bIns="0" rtlCol="0" anchor="ctr"/>
          <a:lstStyle/>
          <a:p>
            <a:pPr algn="ctr"/>
            <a:r>
              <a:rPr lang="en-US" sz="2933" b="1" dirty="0">
                <a:solidFill>
                  <a:schemeClr val="bg1"/>
                </a:solidFill>
              </a:rPr>
              <a:t>Manual</a:t>
            </a:r>
            <a:endParaRPr lang="en-US" sz="2933" dirty="0"/>
          </a:p>
        </p:txBody>
      </p:sp>
      <p:sp>
        <p:nvSpPr>
          <p:cNvPr id="7" name="Teks vs"/>
          <p:cNvSpPr txBox="1"/>
          <p:nvPr/>
        </p:nvSpPr>
        <p:spPr>
          <a:xfrm>
            <a:off x="8534400" y="3413760"/>
            <a:ext cx="2926080" cy="487680"/>
          </a:xfrm>
          <a:prstGeom prst="rect">
            <a:avLst/>
          </a:prstGeom>
          <a:noFill/>
          <a:ln/>
        </p:spPr>
        <p:txBody>
          <a:bodyPr wrap="square" lIns="0" tIns="0" rIns="0" bIns="0" rtlCol="0" anchor="ctr"/>
          <a:lstStyle/>
          <a:p>
            <a:pPr algn="ctr"/>
            <a:r>
              <a:rPr lang="en-US" sz="2133" b="1" dirty="0">
                <a:solidFill>
                  <a:schemeClr val="accent2"/>
                </a:solidFill>
              </a:rPr>
              <a:t>vs</a:t>
            </a:r>
            <a:endParaRPr lang="en-US" sz="2133" dirty="0"/>
          </a:p>
        </p:txBody>
      </p:sp>
      <p:sp>
        <p:nvSpPr>
          <p:cNvPr id="8" name="Kartu skill"/>
          <p:cNvSpPr/>
          <p:nvPr/>
        </p:nvSpPr>
        <p:spPr>
          <a:xfrm>
            <a:off x="8534400" y="4023360"/>
            <a:ext cx="2926080" cy="1706880"/>
          </a:xfrm>
          <a:prstGeom prst="roundRect">
            <a:avLst>
              <a:gd name="adj" fmla="val 7143"/>
            </a:avLst>
          </a:prstGeom>
          <a:solidFill>
            <a:schemeClr val="accent1"/>
          </a:solidFill>
          <a:ln w="6350">
            <a:solidFill>
              <a:schemeClr val="accent1"/>
            </a:solidFill>
            <a:prstDash val="solid"/>
          </a:ln>
        </p:spPr>
      </p:sp>
      <p:sp>
        <p:nvSpPr>
          <p:cNvPr id="9" name="Teks skill"/>
          <p:cNvSpPr txBox="1"/>
          <p:nvPr/>
        </p:nvSpPr>
        <p:spPr>
          <a:xfrm>
            <a:off x="8534400" y="4023360"/>
            <a:ext cx="2926080" cy="1706880"/>
          </a:xfrm>
          <a:prstGeom prst="rect">
            <a:avLst/>
          </a:prstGeom>
          <a:noFill/>
          <a:ln/>
        </p:spPr>
        <p:txBody>
          <a:bodyPr wrap="square" lIns="0" tIns="0" rIns="0" bIns="0" rtlCol="0" anchor="ctr"/>
          <a:lstStyle/>
          <a:p>
            <a:pPr algn="ctr"/>
            <a:r>
              <a:rPr lang="en-US" sz="2933" b="1" dirty="0">
                <a:solidFill>
                  <a:schemeClr val="tx2"/>
                </a:solidFill>
              </a:rPr>
              <a:t>Dengan skill</a:t>
            </a:r>
            <a:endParaRPr lang="en-US" sz="293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CHECK BOOKING</a:t>
            </a:r>
            <a:endParaRPr lang="en-US" sz="1400" dirty="0"/>
          </a:p>
        </p:txBody>
      </p:sp>
      <p:sp>
        <p:nvSpPr>
          <p:cNvPr id="3" name="Text 1"/>
          <p:cNvSpPr>
            <a:spLocks noGrp="1"/>
          </p:cNvSpPr>
          <p:nvPr>
            <p:ph type="title"/>
          </p:nvPr>
        </p:nvSpPr>
        <p:spPr>
          <a:xfrm>
            <a:off x="812800" y="11379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Tiga tahap, semua dibantu skill</a:t>
            </a:r>
            <a:endParaRPr lang="en-US" sz="3200" dirty="0"/>
          </a:p>
        </p:txBody>
      </p:sp>
      <p:sp>
        <p:nvSpPr>
          <p:cNvPr id="4" name="Shape 2"/>
          <p:cNvSpPr/>
          <p:nvPr/>
        </p:nvSpPr>
        <p:spPr>
          <a:xfrm>
            <a:off x="815975" y="1791339"/>
            <a:ext cx="3397250" cy="2520950"/>
          </a:xfrm>
          <a:prstGeom prst="roundRect">
            <a:avLst>
              <a:gd name="adj" fmla="val 4912"/>
            </a:avLst>
          </a:prstGeom>
          <a:solidFill>
            <a:srgbClr val="FFFDF8"/>
          </a:solidFill>
          <a:ln w="6350">
            <a:solidFill>
              <a:srgbClr val="D5DCDA"/>
            </a:solidFill>
            <a:prstDash val="solid"/>
          </a:ln>
        </p:spPr>
      </p:sp>
      <p:sp>
        <p:nvSpPr>
          <p:cNvPr id="5" name="Text 3"/>
          <p:cNvSpPr/>
          <p:nvPr/>
        </p:nvSpPr>
        <p:spPr>
          <a:xfrm>
            <a:off x="1046480" y="2021842"/>
            <a:ext cx="1002189" cy="289560"/>
          </a:xfrm>
          <a:custGeom>
            <a:avLst/>
            <a:gdLst/>
            <a:ahLst/>
            <a:cxnLst/>
            <a:rect l="l" t="t" r="r" b="b"/>
            <a:pathLst>
              <a:path w="1002189" h="289560">
                <a:moveTo>
                  <a:pt x="144780" y="0"/>
                </a:moveTo>
                <a:lnTo>
                  <a:pt x="857409" y="0"/>
                </a:lnTo>
                <a:arcTo wR="144780" hR="144780" stAng="16200000" swAng="5400000"/>
                <a:lnTo>
                  <a:pt x="1002189" y="144780"/>
                </a:lnTo>
                <a:arcTo wR="144780" hR="144780" stAng="0" swAng="5400000"/>
                <a:lnTo>
                  <a:pt x="144780" y="289560"/>
                </a:lnTo>
                <a:arcTo wR="144780" hR="144780" stAng="5400000" swAng="5400000"/>
                <a:lnTo>
                  <a:pt x="0" y="144780"/>
                </a:lnTo>
                <a:arcTo wR="144780" hR="144780" stAng="10800000" swAng="5400000"/>
                <a:close/>
              </a:path>
            </a:pathLst>
          </a:custGeom>
          <a:solidFill>
            <a:srgbClr val="17787D"/>
          </a:solidFill>
          <a:ln/>
        </p:spPr>
        <p:txBody>
          <a:bodyPr wrap="none" lIns="0" tIns="0" rIns="0" bIns="0" rtlCol="0" anchor="ctr">
            <a:normAutofit/>
          </a:bodyPr>
          <a:lstStyle/>
          <a:p>
            <a:pPr marL="0" indent="0" algn="ctr">
              <a:lnSpc>
                <a:spcPts val="1680"/>
              </a:lnSpc>
              <a:buNone/>
            </a:pPr>
            <a:r>
              <a:rPr lang="en-US" sz="1200" b="1" kern="0" spc="100" dirty="0">
                <a:solidFill>
                  <a:srgbClr val="FFFDF8"/>
                </a:solidFill>
                <a:latin typeface="Nunito Sans" pitchFamily="34" charset="0"/>
                <a:ea typeface="Nunito Sans" pitchFamily="34" charset="-122"/>
                <a:cs typeface="Nunito Sans" pitchFamily="34" charset="-120"/>
              </a:rPr>
              <a:t>TAHAP 1</a:t>
            </a:r>
            <a:endParaRPr lang="en-US" sz="1200" dirty="0"/>
          </a:p>
        </p:txBody>
      </p:sp>
      <p:sp>
        <p:nvSpPr>
          <p:cNvPr id="6" name="Text 4"/>
          <p:cNvSpPr/>
          <p:nvPr/>
        </p:nvSpPr>
        <p:spPr>
          <a:xfrm>
            <a:off x="1046480" y="2400300"/>
            <a:ext cx="30243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Rubik" pitchFamily="34" charset="0"/>
                <a:ea typeface="Rubik" pitchFamily="34" charset="-122"/>
                <a:cs typeface="Rubik" pitchFamily="34" charset="-120"/>
              </a:rPr>
              <a:t>Draft CHECK BOOKING</a:t>
            </a:r>
            <a:endParaRPr lang="en-US" sz="1700" dirty="0"/>
          </a:p>
        </p:txBody>
      </p:sp>
      <p:sp>
        <p:nvSpPr>
          <p:cNvPr id="7" name="Text 5"/>
          <p:cNvSpPr/>
          <p:nvPr/>
        </p:nvSpPr>
        <p:spPr>
          <a:xfrm>
            <a:off x="1046480" y="2748279"/>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Cari thread lewat filter pencarian</a:t>
            </a:r>
            <a:endParaRPr lang="en-US" sz="1300" dirty="0"/>
          </a:p>
        </p:txBody>
      </p:sp>
      <p:sp>
        <p:nvSpPr>
          <p:cNvPr id="8" name="Text 6"/>
          <p:cNvSpPr/>
          <p:nvPr/>
        </p:nvSpPr>
        <p:spPr>
          <a:xfrm>
            <a:off x="1046480" y="3068321"/>
            <a:ext cx="30243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Subject CHECK BOOKING // subject lama, penerima otomatis</a:t>
            </a:r>
            <a:endParaRPr lang="en-US" sz="1300" dirty="0"/>
          </a:p>
        </p:txBody>
      </p:sp>
      <p:sp>
        <p:nvSpPr>
          <p:cNvPr id="9" name="Text 7"/>
          <p:cNvSpPr/>
          <p:nvPr/>
        </p:nvSpPr>
        <p:spPr>
          <a:xfrm>
            <a:off x="1046480" y="3619500"/>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Booking tanpa thread ditandai di CSV</a:t>
            </a:r>
            <a:endParaRPr lang="en-US" sz="1300" dirty="0"/>
          </a:p>
        </p:txBody>
      </p:sp>
      <p:sp>
        <p:nvSpPr>
          <p:cNvPr id="10" name="Shape 8"/>
          <p:cNvSpPr/>
          <p:nvPr/>
        </p:nvSpPr>
        <p:spPr>
          <a:xfrm>
            <a:off x="4397375" y="1791339"/>
            <a:ext cx="3397250" cy="2520950"/>
          </a:xfrm>
          <a:prstGeom prst="roundRect">
            <a:avLst>
              <a:gd name="adj" fmla="val 4912"/>
            </a:avLst>
          </a:prstGeom>
          <a:solidFill>
            <a:srgbClr val="FFFDF8"/>
          </a:solidFill>
          <a:ln w="6350">
            <a:solidFill>
              <a:srgbClr val="D5DCDA"/>
            </a:solidFill>
            <a:prstDash val="solid"/>
          </a:ln>
        </p:spPr>
      </p:sp>
      <p:sp>
        <p:nvSpPr>
          <p:cNvPr id="11" name="Text 9"/>
          <p:cNvSpPr/>
          <p:nvPr/>
        </p:nvSpPr>
        <p:spPr>
          <a:xfrm>
            <a:off x="4627880" y="2021842"/>
            <a:ext cx="1002189" cy="289560"/>
          </a:xfrm>
          <a:custGeom>
            <a:avLst/>
            <a:gdLst/>
            <a:ahLst/>
            <a:cxnLst/>
            <a:rect l="l" t="t" r="r" b="b"/>
            <a:pathLst>
              <a:path w="1002189" h="289560">
                <a:moveTo>
                  <a:pt x="144780" y="0"/>
                </a:moveTo>
                <a:lnTo>
                  <a:pt x="857409" y="0"/>
                </a:lnTo>
                <a:arcTo wR="144780" hR="144780" stAng="16200000" swAng="5400000"/>
                <a:lnTo>
                  <a:pt x="1002189" y="144780"/>
                </a:lnTo>
                <a:arcTo wR="144780" hR="144780" stAng="0" swAng="5400000"/>
                <a:lnTo>
                  <a:pt x="144780" y="289560"/>
                </a:lnTo>
                <a:arcTo wR="144780" hR="144780" stAng="5400000" swAng="5400000"/>
                <a:lnTo>
                  <a:pt x="0" y="144780"/>
                </a:lnTo>
                <a:arcTo wR="144780" hR="144780" stAng="10800000" swAng="5400000"/>
                <a:close/>
              </a:path>
            </a:pathLst>
          </a:custGeom>
          <a:solidFill>
            <a:srgbClr val="17787D"/>
          </a:solidFill>
          <a:ln/>
        </p:spPr>
        <p:txBody>
          <a:bodyPr wrap="none" lIns="0" tIns="0" rIns="0" bIns="0" rtlCol="0" anchor="ctr">
            <a:normAutofit/>
          </a:bodyPr>
          <a:lstStyle/>
          <a:p>
            <a:pPr marL="0" indent="0" algn="ctr">
              <a:lnSpc>
                <a:spcPts val="1680"/>
              </a:lnSpc>
              <a:buNone/>
            </a:pPr>
            <a:r>
              <a:rPr lang="en-US" sz="1200" b="1" kern="0" spc="100" dirty="0">
                <a:solidFill>
                  <a:srgbClr val="FFFDF8"/>
                </a:solidFill>
                <a:latin typeface="Nunito Sans" pitchFamily="34" charset="0"/>
                <a:ea typeface="Nunito Sans" pitchFamily="34" charset="-122"/>
                <a:cs typeface="Nunito Sans" pitchFamily="34" charset="-120"/>
              </a:rPr>
              <a:t>TAHAP 2</a:t>
            </a:r>
            <a:endParaRPr lang="en-US" sz="1200" dirty="0"/>
          </a:p>
        </p:txBody>
      </p:sp>
      <p:sp>
        <p:nvSpPr>
          <p:cNvPr id="12" name="Text 10"/>
          <p:cNvSpPr/>
          <p:nvPr/>
        </p:nvSpPr>
        <p:spPr>
          <a:xfrm>
            <a:off x="4627880" y="2400300"/>
            <a:ext cx="30243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Rubik" pitchFamily="34" charset="0"/>
                <a:ea typeface="Rubik" pitchFamily="34" charset="-122"/>
                <a:cs typeface="Rubik" pitchFamily="34" charset="-120"/>
              </a:rPr>
              <a:t>Klasifikasi balasan</a:t>
            </a:r>
            <a:endParaRPr lang="en-US" sz="1700" dirty="0"/>
          </a:p>
        </p:txBody>
      </p:sp>
      <p:sp>
        <p:nvSpPr>
          <p:cNvPr id="13" name="Text 11"/>
          <p:cNvSpPr/>
          <p:nvPr/>
        </p:nvSpPr>
        <p:spPr>
          <a:xfrm>
            <a:off x="4627880" y="2748279"/>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Baca balasan terbaru tiap booking</a:t>
            </a:r>
            <a:endParaRPr lang="en-US" sz="1300" dirty="0"/>
          </a:p>
        </p:txBody>
      </p:sp>
      <p:sp>
        <p:nvSpPr>
          <p:cNvPr id="14" name="Text 12"/>
          <p:cNvSpPr/>
          <p:nvPr/>
        </p:nvSpPr>
        <p:spPr>
          <a:xfrm>
            <a:off x="4627880" y="3068321"/>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Pilih 1 dari 8 kategori</a:t>
            </a:r>
            <a:endParaRPr lang="en-US" sz="1300" dirty="0"/>
          </a:p>
        </p:txBody>
      </p:sp>
      <p:sp>
        <p:nvSpPr>
          <p:cNvPr id="15" name="Text 13"/>
          <p:cNvSpPr/>
          <p:nvPr/>
        </p:nvSpPr>
        <p:spPr>
          <a:xfrm>
            <a:off x="4627880" y="3388364"/>
            <a:ext cx="316357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Excel berisi urgensi dan saran tindakan</a:t>
            </a:r>
            <a:endParaRPr lang="en-US" sz="1300" dirty="0"/>
          </a:p>
        </p:txBody>
      </p:sp>
      <p:sp>
        <p:nvSpPr>
          <p:cNvPr id="16" name="Shape 14"/>
          <p:cNvSpPr/>
          <p:nvPr/>
        </p:nvSpPr>
        <p:spPr>
          <a:xfrm>
            <a:off x="7978775" y="1791339"/>
            <a:ext cx="3397250" cy="2520950"/>
          </a:xfrm>
          <a:prstGeom prst="roundRect">
            <a:avLst>
              <a:gd name="adj" fmla="val 4912"/>
            </a:avLst>
          </a:prstGeom>
          <a:solidFill>
            <a:srgbClr val="FFFDF8"/>
          </a:solidFill>
          <a:ln w="6350">
            <a:solidFill>
              <a:srgbClr val="D5DCDA"/>
            </a:solidFill>
            <a:prstDash val="solid"/>
          </a:ln>
        </p:spPr>
      </p:sp>
      <p:sp>
        <p:nvSpPr>
          <p:cNvPr id="17" name="Text 15"/>
          <p:cNvSpPr/>
          <p:nvPr/>
        </p:nvSpPr>
        <p:spPr>
          <a:xfrm>
            <a:off x="8209280" y="2021842"/>
            <a:ext cx="1002189" cy="289560"/>
          </a:xfrm>
          <a:custGeom>
            <a:avLst/>
            <a:gdLst/>
            <a:ahLst/>
            <a:cxnLst/>
            <a:rect l="l" t="t" r="r" b="b"/>
            <a:pathLst>
              <a:path w="1002189" h="289560">
                <a:moveTo>
                  <a:pt x="144780" y="0"/>
                </a:moveTo>
                <a:lnTo>
                  <a:pt x="857409" y="0"/>
                </a:lnTo>
                <a:arcTo wR="144780" hR="144780" stAng="16200000" swAng="5400000"/>
                <a:lnTo>
                  <a:pt x="1002189" y="144780"/>
                </a:lnTo>
                <a:arcTo wR="144780" hR="144780" stAng="0" swAng="5400000"/>
                <a:lnTo>
                  <a:pt x="144780" y="289560"/>
                </a:lnTo>
                <a:arcTo wR="144780" hR="144780" stAng="5400000" swAng="5400000"/>
                <a:lnTo>
                  <a:pt x="0" y="144780"/>
                </a:lnTo>
                <a:arcTo wR="144780" hR="144780" stAng="10800000" swAng="5400000"/>
                <a:close/>
              </a:path>
            </a:pathLst>
          </a:custGeom>
          <a:solidFill>
            <a:srgbClr val="17787D"/>
          </a:solidFill>
          <a:ln/>
        </p:spPr>
        <p:txBody>
          <a:bodyPr wrap="none" lIns="0" tIns="0" rIns="0" bIns="0" rtlCol="0" anchor="ctr">
            <a:normAutofit/>
          </a:bodyPr>
          <a:lstStyle/>
          <a:p>
            <a:pPr marL="0" indent="0" algn="ctr">
              <a:lnSpc>
                <a:spcPts val="1680"/>
              </a:lnSpc>
              <a:buNone/>
            </a:pPr>
            <a:r>
              <a:rPr lang="en-US" sz="1200" b="1" kern="0" spc="100" dirty="0">
                <a:solidFill>
                  <a:srgbClr val="FFFDF8"/>
                </a:solidFill>
                <a:latin typeface="Nunito Sans" pitchFamily="34" charset="0"/>
                <a:ea typeface="Nunito Sans" pitchFamily="34" charset="-122"/>
                <a:cs typeface="Nunito Sans" pitchFamily="34" charset="-120"/>
              </a:rPr>
              <a:t>TAHAP 3</a:t>
            </a:r>
            <a:endParaRPr lang="en-US" sz="1200" dirty="0"/>
          </a:p>
        </p:txBody>
      </p:sp>
      <p:sp>
        <p:nvSpPr>
          <p:cNvPr id="18" name="Text 16"/>
          <p:cNvSpPr/>
          <p:nvPr/>
        </p:nvSpPr>
        <p:spPr>
          <a:xfrm>
            <a:off x="8209280" y="2400300"/>
            <a:ext cx="30243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Rubik" pitchFamily="34" charset="0"/>
                <a:ea typeface="Rubik" pitchFamily="34" charset="-122"/>
                <a:cs typeface="Rubik" pitchFamily="34" charset="-120"/>
              </a:rPr>
              <a:t>Reminder</a:t>
            </a:r>
            <a:endParaRPr lang="en-US" sz="1700" dirty="0"/>
          </a:p>
        </p:txBody>
      </p:sp>
      <p:sp>
        <p:nvSpPr>
          <p:cNvPr id="19" name="Text 17"/>
          <p:cNvSpPr/>
          <p:nvPr/>
        </p:nvSpPr>
        <p:spPr>
          <a:xfrm>
            <a:off x="8209280" y="2748279"/>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Temukan booking BELUM_BALAS</a:t>
            </a:r>
            <a:endParaRPr lang="en-US" sz="1300" dirty="0"/>
          </a:p>
        </p:txBody>
      </p:sp>
      <p:sp>
        <p:nvSpPr>
          <p:cNvPr id="20" name="Text 18"/>
          <p:cNvSpPr/>
          <p:nvPr/>
        </p:nvSpPr>
        <p:spPr>
          <a:xfrm>
            <a:off x="8209280" y="3068321"/>
            <a:ext cx="30243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Syarat: lewat 1 hari kerja dan reminder kurang dari 2</a:t>
            </a:r>
            <a:endParaRPr lang="en-US" sz="1300" dirty="0"/>
          </a:p>
        </p:txBody>
      </p:sp>
      <p:sp>
        <p:nvSpPr>
          <p:cNvPr id="21" name="Text 19"/>
          <p:cNvSpPr/>
          <p:nvPr/>
        </p:nvSpPr>
        <p:spPr>
          <a:xfrm>
            <a:off x="8209280" y="3619500"/>
            <a:ext cx="30243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Draft REMINDER, maksimal 2 kali per booking</a:t>
            </a:r>
            <a:endParaRPr lang="en-US" sz="1300" dirty="0"/>
          </a:p>
        </p:txBody>
      </p:sp>
      <p:sp>
        <p:nvSpPr>
          <p:cNvPr id="22" name="Shape 20"/>
          <p:cNvSpPr/>
          <p:nvPr/>
        </p:nvSpPr>
        <p:spPr>
          <a:xfrm>
            <a:off x="812800" y="4518664"/>
            <a:ext cx="10566400" cy="817880"/>
          </a:xfrm>
          <a:prstGeom prst="roundRect">
            <a:avLst>
              <a:gd name="adj" fmla="val 15528"/>
            </a:avLst>
          </a:prstGeom>
          <a:solidFill>
            <a:srgbClr val="12263F"/>
          </a:solidFill>
          <a:ln/>
        </p:spPr>
      </p:sp>
      <p:sp>
        <p:nvSpPr>
          <p:cNvPr id="23" name="Text 21"/>
          <p:cNvSpPr/>
          <p:nvPr/>
        </p:nvSpPr>
        <p:spPr>
          <a:xfrm>
            <a:off x="1066800" y="4696464"/>
            <a:ext cx="1962150"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6F4EE"/>
                </a:solidFill>
                <a:latin typeface="Nunito Sans" pitchFamily="34" charset="0"/>
                <a:ea typeface="Nunito Sans" pitchFamily="34" charset="-122"/>
                <a:cs typeface="Nunito Sans" pitchFamily="34" charset="-120"/>
              </a:rPr>
              <a:t>Uji coba kapal KXM 2608N</a:t>
            </a:r>
            <a:endParaRPr lang="en-US" sz="1400" dirty="0"/>
          </a:p>
        </p:txBody>
      </p:sp>
      <p:sp>
        <p:nvSpPr>
          <p:cNvPr id="24" name="Text 22"/>
          <p:cNvSpPr/>
          <p:nvPr/>
        </p:nvSpPr>
        <p:spPr>
          <a:xfrm>
            <a:off x="3225800" y="4704079"/>
            <a:ext cx="645795"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A05E"/>
                </a:solidFill>
                <a:latin typeface="Rubik" pitchFamily="34" charset="0"/>
                <a:ea typeface="Rubik" pitchFamily="34" charset="-122"/>
                <a:cs typeface="Rubik" pitchFamily="34" charset="-120"/>
              </a:rPr>
              <a:t>30</a:t>
            </a:r>
            <a:endParaRPr lang="en-US" sz="3200" dirty="0"/>
          </a:p>
        </p:txBody>
      </p:sp>
      <p:sp>
        <p:nvSpPr>
          <p:cNvPr id="25" name="Text 23"/>
          <p:cNvSpPr/>
          <p:nvPr/>
        </p:nvSpPr>
        <p:spPr>
          <a:xfrm>
            <a:off x="3871595" y="4712971"/>
            <a:ext cx="100330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6F4EE"/>
                </a:solidFill>
                <a:latin typeface="Nunito Sans" pitchFamily="34" charset="0"/>
                <a:ea typeface="Nunito Sans" pitchFamily="34" charset="-122"/>
                <a:cs typeface="Nunito Sans" pitchFamily="34" charset="-120"/>
              </a:rPr>
              <a:t>booking dicek</a:t>
            </a:r>
            <a:endParaRPr lang="en-US" sz="1300" dirty="0"/>
          </a:p>
        </p:txBody>
      </p:sp>
      <p:sp>
        <p:nvSpPr>
          <p:cNvPr id="26" name="Text 24"/>
          <p:cNvSpPr/>
          <p:nvPr/>
        </p:nvSpPr>
        <p:spPr>
          <a:xfrm>
            <a:off x="5078095" y="4704079"/>
            <a:ext cx="55502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A05E"/>
                </a:solidFill>
                <a:latin typeface="Rubik" pitchFamily="34" charset="0"/>
                <a:ea typeface="Rubik" pitchFamily="34" charset="-122"/>
                <a:cs typeface="Rubik" pitchFamily="34" charset="-120"/>
              </a:rPr>
              <a:t>19</a:t>
            </a:r>
            <a:endParaRPr lang="en-US" sz="3200" dirty="0"/>
          </a:p>
        </p:txBody>
      </p:sp>
      <p:sp>
        <p:nvSpPr>
          <p:cNvPr id="27" name="Text 25"/>
          <p:cNvSpPr/>
          <p:nvPr/>
        </p:nvSpPr>
        <p:spPr>
          <a:xfrm>
            <a:off x="5642213" y="4712971"/>
            <a:ext cx="157480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6F4EE"/>
                </a:solidFill>
                <a:latin typeface="Nunito Sans" pitchFamily="34" charset="0"/>
                <a:ea typeface="Nunito Sans" pitchFamily="34" charset="-122"/>
                <a:cs typeface="Nunito Sans" pitchFamily="34" charset="-120"/>
              </a:rPr>
              <a:t>punya thread (8 draft)</a:t>
            </a:r>
            <a:endParaRPr lang="en-US" sz="1300" dirty="0"/>
          </a:p>
        </p:txBody>
      </p:sp>
      <p:sp>
        <p:nvSpPr>
          <p:cNvPr id="28" name="Text 26"/>
          <p:cNvSpPr/>
          <p:nvPr/>
        </p:nvSpPr>
        <p:spPr>
          <a:xfrm>
            <a:off x="7420213" y="4704079"/>
            <a:ext cx="484822" cy="472440"/>
          </a:xfrm>
          <a:prstGeom prst="rect">
            <a:avLst/>
          </a:prstGeom>
          <a:noFill/>
          <a:ln/>
        </p:spPr>
        <p:txBody>
          <a:bodyPr wrap="square" lIns="0" tIns="0" rIns="0" bIns="0" rtlCol="0" anchor="t">
            <a:normAutofit lnSpcReduction="10000"/>
          </a:bodyPr>
          <a:lstStyle/>
          <a:p>
            <a:pPr marL="0" indent="0" algn="l">
              <a:lnSpc>
                <a:spcPts val="3520"/>
              </a:lnSpc>
              <a:buNone/>
            </a:pPr>
            <a:r>
              <a:rPr lang="en-US" sz="3200" b="1" dirty="0">
                <a:solidFill>
                  <a:srgbClr val="F2A05E"/>
                </a:solidFill>
                <a:latin typeface="Rubik" pitchFamily="34" charset="0"/>
                <a:ea typeface="Rubik" pitchFamily="34" charset="-122"/>
                <a:cs typeface="Rubik" pitchFamily="34" charset="-120"/>
              </a:rPr>
              <a:t>11</a:t>
            </a:r>
            <a:endParaRPr lang="en-US" sz="3200" dirty="0"/>
          </a:p>
        </p:txBody>
      </p:sp>
      <p:sp>
        <p:nvSpPr>
          <p:cNvPr id="29" name="Text 27"/>
          <p:cNvSpPr/>
          <p:nvPr/>
        </p:nvSpPr>
        <p:spPr>
          <a:xfrm>
            <a:off x="7925832" y="4712971"/>
            <a:ext cx="157480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6F4EE"/>
                </a:solidFill>
                <a:latin typeface="Nunito Sans" pitchFamily="34" charset="0"/>
                <a:ea typeface="Nunito Sans" pitchFamily="34" charset="-122"/>
                <a:cs typeface="Nunito Sans" pitchFamily="34" charset="-120"/>
              </a:rPr>
              <a:t>tanpa thread, ditandai</a:t>
            </a:r>
            <a:endParaRPr lang="en-US" sz="1300" dirty="0"/>
          </a:p>
        </p:txBody>
      </p:sp>
      <p:sp>
        <p:nvSpPr>
          <p:cNvPr id="30" name="Text 2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31" name="Text 2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9</a:t>
            </a:r>
            <a:endParaRPr lang="en-US" sz="1200" dirty="0"/>
          </a:p>
        </p:txBody>
      </p:sp>
    </p:spTree>
    <p:extLst>
      <p:ext uri="{BB962C8B-B14F-4D97-AF65-F5344CB8AC3E}">
        <p14:creationId xmlns:p14="http://schemas.microsoft.com/office/powerpoint/2010/main" val="3750691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lIns="0" tIns="0" rIns="0" bIns="0" rtlCol="0" anchor="ctr"/>
          <a:lstStyle/>
          <a:p>
            <a:r>
              <a:rPr lang="en-US" dirty="0"/>
              <a:t>Gambaran umum: dua cara, satu tujuan</a:t>
            </a:r>
          </a:p>
        </p:txBody>
      </p:sp>
      <p:sp>
        <p:nvSpPr>
          <p:cNvPr id="3" name="Label manual"/>
          <p:cNvSpPr txBox="1"/>
          <p:nvPr/>
        </p:nvSpPr>
        <p:spPr>
          <a:xfrm>
            <a:off x="609600" y="1402080"/>
            <a:ext cx="1706880" cy="390144"/>
          </a:xfrm>
          <a:prstGeom prst="roundRect">
            <a:avLst>
              <a:gd name="adj" fmla="val 46875"/>
            </a:avLst>
          </a:prstGeom>
          <a:solidFill>
            <a:schemeClr val="accent5"/>
          </a:solidFill>
          <a:ln/>
        </p:spPr>
        <p:txBody>
          <a:bodyPr wrap="square" lIns="0" tIns="0" rIns="0" bIns="0" rtlCol="0" anchor="ctr"/>
          <a:lstStyle/>
          <a:p>
            <a:pPr algn="ctr"/>
            <a:r>
              <a:rPr lang="en-US" sz="1600" b="1" dirty="0">
                <a:solidFill>
                  <a:schemeClr val="bg1"/>
                </a:solidFill>
              </a:rPr>
              <a:t>MANUAL</a:t>
            </a:r>
            <a:endParaRPr lang="en-US" sz="1600" dirty="0"/>
          </a:p>
        </p:txBody>
      </p:sp>
      <p:sp>
        <p:nvSpPr>
          <p:cNvPr id="4" name="Label skill"/>
          <p:cNvSpPr txBox="1"/>
          <p:nvPr/>
        </p:nvSpPr>
        <p:spPr>
          <a:xfrm>
            <a:off x="609600" y="3718560"/>
            <a:ext cx="2194560" cy="390144"/>
          </a:xfrm>
          <a:prstGeom prst="roundRect">
            <a:avLst>
              <a:gd name="adj" fmla="val 46875"/>
            </a:avLst>
          </a:prstGeom>
          <a:solidFill>
            <a:schemeClr val="accent1"/>
          </a:solidFill>
          <a:ln/>
        </p:spPr>
        <p:txBody>
          <a:bodyPr wrap="square" lIns="0" tIns="0" rIns="0" bIns="0" rtlCol="0" anchor="ctr"/>
          <a:lstStyle/>
          <a:p>
            <a:pPr algn="ctr"/>
            <a:r>
              <a:rPr lang="en-US" sz="1600" b="1" dirty="0">
                <a:solidFill>
                  <a:schemeClr val="bg1"/>
                </a:solidFill>
              </a:rPr>
              <a:t>DENGAN SKILL</a:t>
            </a:r>
            <a:endParaRPr lang="en-US" sz="1600" dirty="0"/>
          </a:p>
        </p:txBody>
      </p:sp>
      <p:sp>
        <p:nvSpPr>
          <p:cNvPr id="5" name="Manual 1"/>
          <p:cNvSpPr txBox="1"/>
          <p:nvPr/>
        </p:nvSpPr>
        <p:spPr>
          <a:xfrm>
            <a:off x="609600" y="1889760"/>
            <a:ext cx="1889760" cy="1219200"/>
          </a:xfrm>
          <a:prstGeom prst="roundRect">
            <a:avLst>
              <a:gd name="adj" fmla="val 8000"/>
            </a:avLst>
          </a:prstGeom>
          <a:solidFill>
            <a:schemeClr val="accent5"/>
          </a:solidFill>
          <a:ln/>
        </p:spPr>
        <p:txBody>
          <a:bodyPr wrap="square" lIns="1355" tIns="1355" rIns="1355" bIns="1355" rtlCol="0" anchor="ctr"/>
          <a:lstStyle/>
          <a:p>
            <a:pPr algn="ctr"/>
            <a:r>
              <a:rPr lang="en-US" sz="1600" b="1" dirty="0">
                <a:solidFill>
                  <a:schemeClr val="bg1"/>
                </a:solidFill>
              </a:rPr>
              <a:t>Buka daftar booking</a:t>
            </a:r>
            <a:endParaRPr lang="en-US" sz="1600" dirty="0"/>
          </a:p>
        </p:txBody>
      </p:sp>
      <p:sp>
        <p:nvSpPr>
          <p:cNvPr id="6" name="Panah"/>
          <p:cNvSpPr/>
          <p:nvPr/>
        </p:nvSpPr>
        <p:spPr>
          <a:xfrm>
            <a:off x="2499360" y="2499360"/>
            <a:ext cx="365760" cy="0"/>
          </a:xfrm>
          <a:prstGeom prst="line">
            <a:avLst/>
          </a:prstGeom>
          <a:noFill/>
          <a:ln w="25400">
            <a:solidFill>
              <a:schemeClr val="accent5"/>
            </a:solidFill>
            <a:prstDash val="solid"/>
            <a:tailEnd type="triangle"/>
          </a:ln>
        </p:spPr>
      </p:sp>
      <p:sp>
        <p:nvSpPr>
          <p:cNvPr id="7" name="Manual 2"/>
          <p:cNvSpPr txBox="1"/>
          <p:nvPr/>
        </p:nvSpPr>
        <p:spPr>
          <a:xfrm>
            <a:off x="2865120" y="1889760"/>
            <a:ext cx="1889760" cy="1219200"/>
          </a:xfrm>
          <a:prstGeom prst="roundRect">
            <a:avLst>
              <a:gd name="adj" fmla="val 8000"/>
            </a:avLst>
          </a:prstGeom>
          <a:solidFill>
            <a:schemeClr val="accent5"/>
          </a:solidFill>
          <a:ln/>
        </p:spPr>
        <p:txBody>
          <a:bodyPr wrap="square" lIns="1355" tIns="1355" rIns="1355" bIns="1355" rtlCol="0" anchor="ctr"/>
          <a:lstStyle/>
          <a:p>
            <a:pPr algn="ctr"/>
            <a:r>
              <a:rPr lang="en-US" sz="1600" b="1" dirty="0">
                <a:solidFill>
                  <a:schemeClr val="bg1"/>
                </a:solidFill>
              </a:rPr>
              <a:t>Cari email tiap booking di Outlook</a:t>
            </a:r>
            <a:endParaRPr lang="en-US" sz="1600" dirty="0"/>
          </a:p>
        </p:txBody>
      </p:sp>
      <p:sp>
        <p:nvSpPr>
          <p:cNvPr id="8" name="Panah"/>
          <p:cNvSpPr/>
          <p:nvPr/>
        </p:nvSpPr>
        <p:spPr>
          <a:xfrm>
            <a:off x="4754880" y="2499360"/>
            <a:ext cx="365760" cy="0"/>
          </a:xfrm>
          <a:prstGeom prst="line">
            <a:avLst/>
          </a:prstGeom>
          <a:noFill/>
          <a:ln w="25400">
            <a:solidFill>
              <a:schemeClr val="accent5"/>
            </a:solidFill>
            <a:prstDash val="solid"/>
            <a:tailEnd type="triangle"/>
          </a:ln>
        </p:spPr>
      </p:sp>
      <p:sp>
        <p:nvSpPr>
          <p:cNvPr id="9" name="Manual 3"/>
          <p:cNvSpPr txBox="1"/>
          <p:nvPr/>
        </p:nvSpPr>
        <p:spPr>
          <a:xfrm>
            <a:off x="5120640" y="1889760"/>
            <a:ext cx="1889760" cy="1219200"/>
          </a:xfrm>
          <a:prstGeom prst="roundRect">
            <a:avLst>
              <a:gd name="adj" fmla="val 8000"/>
            </a:avLst>
          </a:prstGeom>
          <a:solidFill>
            <a:schemeClr val="accent5"/>
          </a:solidFill>
          <a:ln/>
        </p:spPr>
        <p:txBody>
          <a:bodyPr wrap="square" lIns="1355" tIns="1355" rIns="1355" bIns="1355" rtlCol="0" anchor="ctr"/>
          <a:lstStyle/>
          <a:p>
            <a:pPr algn="ctr"/>
            <a:r>
              <a:rPr lang="en-US" sz="1600" b="1" dirty="0">
                <a:solidFill>
                  <a:schemeClr val="bg1"/>
                </a:solidFill>
              </a:rPr>
              <a:t>Reply All dan ketik email satu per satu</a:t>
            </a:r>
            <a:endParaRPr lang="en-US" sz="1600" dirty="0"/>
          </a:p>
        </p:txBody>
      </p:sp>
      <p:sp>
        <p:nvSpPr>
          <p:cNvPr id="10" name="Panah"/>
          <p:cNvSpPr/>
          <p:nvPr/>
        </p:nvSpPr>
        <p:spPr>
          <a:xfrm>
            <a:off x="7010400" y="2499360"/>
            <a:ext cx="365760" cy="0"/>
          </a:xfrm>
          <a:prstGeom prst="line">
            <a:avLst/>
          </a:prstGeom>
          <a:noFill/>
          <a:ln w="25400">
            <a:solidFill>
              <a:schemeClr val="accent5"/>
            </a:solidFill>
            <a:prstDash val="solid"/>
            <a:tailEnd type="triangle"/>
          </a:ln>
        </p:spPr>
      </p:sp>
      <p:sp>
        <p:nvSpPr>
          <p:cNvPr id="11" name="Manual 4"/>
          <p:cNvSpPr txBox="1"/>
          <p:nvPr/>
        </p:nvSpPr>
        <p:spPr>
          <a:xfrm>
            <a:off x="7376160" y="1889760"/>
            <a:ext cx="1889760" cy="1219200"/>
          </a:xfrm>
          <a:prstGeom prst="roundRect">
            <a:avLst>
              <a:gd name="adj" fmla="val 8000"/>
            </a:avLst>
          </a:prstGeom>
          <a:solidFill>
            <a:schemeClr val="accent5"/>
          </a:solidFill>
          <a:ln/>
        </p:spPr>
        <p:txBody>
          <a:bodyPr wrap="square" lIns="1355" tIns="1355" rIns="1355" bIns="1355" rtlCol="0" anchor="ctr"/>
          <a:lstStyle/>
          <a:p>
            <a:pPr algn="ctr"/>
            <a:r>
              <a:rPr lang="en-US" sz="1600" b="1" dirty="0">
                <a:solidFill>
                  <a:schemeClr val="bg1"/>
                </a:solidFill>
              </a:rPr>
              <a:t>Cek balasan di inbox</a:t>
            </a:r>
            <a:endParaRPr lang="en-US" sz="1600" dirty="0"/>
          </a:p>
        </p:txBody>
      </p:sp>
      <p:sp>
        <p:nvSpPr>
          <p:cNvPr id="12" name="Panah"/>
          <p:cNvSpPr/>
          <p:nvPr/>
        </p:nvSpPr>
        <p:spPr>
          <a:xfrm>
            <a:off x="9265920" y="2499360"/>
            <a:ext cx="365760" cy="0"/>
          </a:xfrm>
          <a:prstGeom prst="line">
            <a:avLst/>
          </a:prstGeom>
          <a:noFill/>
          <a:ln w="25400">
            <a:solidFill>
              <a:schemeClr val="accent5"/>
            </a:solidFill>
            <a:prstDash val="solid"/>
            <a:tailEnd type="triangle"/>
          </a:ln>
        </p:spPr>
      </p:sp>
      <p:sp>
        <p:nvSpPr>
          <p:cNvPr id="13" name="Manual 5"/>
          <p:cNvSpPr txBox="1"/>
          <p:nvPr/>
        </p:nvSpPr>
        <p:spPr>
          <a:xfrm>
            <a:off x="9631680" y="1889760"/>
            <a:ext cx="1889760" cy="1219200"/>
          </a:xfrm>
          <a:prstGeom prst="roundRect">
            <a:avLst>
              <a:gd name="adj" fmla="val 8000"/>
            </a:avLst>
          </a:prstGeom>
          <a:solidFill>
            <a:schemeClr val="accent5"/>
          </a:solidFill>
          <a:ln/>
        </p:spPr>
        <p:txBody>
          <a:bodyPr wrap="square" lIns="1355" tIns="1355" rIns="1355" bIns="1355" rtlCol="0" anchor="ctr"/>
          <a:lstStyle/>
          <a:p>
            <a:pPr algn="ctr"/>
            <a:r>
              <a:rPr lang="en-US" sz="1600" b="1" dirty="0">
                <a:solidFill>
                  <a:schemeClr val="bg1"/>
                </a:solidFill>
              </a:rPr>
              <a:t>Ketik reminder sendiri</a:t>
            </a:r>
            <a:endParaRPr lang="en-US" sz="1600" dirty="0"/>
          </a:p>
        </p:txBody>
      </p:sp>
      <p:sp>
        <p:nvSpPr>
          <p:cNvPr id="14" name="Skill 1"/>
          <p:cNvSpPr txBox="1"/>
          <p:nvPr/>
        </p:nvSpPr>
        <p:spPr>
          <a:xfrm>
            <a:off x="609600" y="4206240"/>
            <a:ext cx="1889760" cy="1219200"/>
          </a:xfrm>
          <a:prstGeom prst="roundRect">
            <a:avLst>
              <a:gd name="adj" fmla="val 8000"/>
            </a:avLst>
          </a:prstGeom>
          <a:solidFill>
            <a:schemeClr val="accent1"/>
          </a:solidFill>
          <a:ln/>
        </p:spPr>
        <p:txBody>
          <a:bodyPr wrap="square" lIns="1355" tIns="1355" rIns="1355" bIns="1355" rtlCol="0" anchor="ctr"/>
          <a:lstStyle/>
          <a:p>
            <a:pPr algn="ctr"/>
            <a:r>
              <a:rPr lang="en-US" sz="1600" b="1" dirty="0">
                <a:solidFill>
                  <a:schemeClr val="tx2"/>
                </a:solidFill>
              </a:rPr>
              <a:t>Lampirkan daftar booking</a:t>
            </a:r>
            <a:endParaRPr lang="en-US" sz="1600" dirty="0"/>
          </a:p>
        </p:txBody>
      </p:sp>
      <p:sp>
        <p:nvSpPr>
          <p:cNvPr id="15" name="Panah"/>
          <p:cNvSpPr/>
          <p:nvPr/>
        </p:nvSpPr>
        <p:spPr>
          <a:xfrm>
            <a:off x="2499360" y="4815840"/>
            <a:ext cx="365760" cy="0"/>
          </a:xfrm>
          <a:prstGeom prst="line">
            <a:avLst/>
          </a:prstGeom>
          <a:noFill/>
          <a:ln w="25400">
            <a:solidFill>
              <a:schemeClr val="accent6"/>
            </a:solidFill>
            <a:prstDash val="solid"/>
            <a:tailEnd type="triangle"/>
          </a:ln>
        </p:spPr>
      </p:sp>
      <p:sp>
        <p:nvSpPr>
          <p:cNvPr id="16" name="Skill 2"/>
          <p:cNvSpPr txBox="1"/>
          <p:nvPr/>
        </p:nvSpPr>
        <p:spPr>
          <a:xfrm>
            <a:off x="2865120" y="4206240"/>
            <a:ext cx="1889760" cy="1219200"/>
          </a:xfrm>
          <a:prstGeom prst="roundRect">
            <a:avLst>
              <a:gd name="adj" fmla="val 8000"/>
            </a:avLst>
          </a:prstGeom>
          <a:solidFill>
            <a:schemeClr val="accent1"/>
          </a:solidFill>
          <a:ln/>
        </p:spPr>
        <p:txBody>
          <a:bodyPr wrap="square" lIns="1355" tIns="1355" rIns="1355" bIns="1355" rtlCol="0" anchor="ctr"/>
          <a:lstStyle/>
          <a:p>
            <a:pPr algn="ctr"/>
            <a:r>
              <a:rPr lang="en-US" sz="1600" b="1" dirty="0">
                <a:solidFill>
                  <a:schemeClr val="tx2"/>
                </a:solidFill>
              </a:rPr>
              <a:t>Skill cari thread dan buat draft</a:t>
            </a:r>
            <a:endParaRPr lang="en-US" sz="1600" dirty="0"/>
          </a:p>
        </p:txBody>
      </p:sp>
      <p:sp>
        <p:nvSpPr>
          <p:cNvPr id="17" name="Panah"/>
          <p:cNvSpPr/>
          <p:nvPr/>
        </p:nvSpPr>
        <p:spPr>
          <a:xfrm>
            <a:off x="4754880" y="4815840"/>
            <a:ext cx="365760" cy="0"/>
          </a:xfrm>
          <a:prstGeom prst="line">
            <a:avLst/>
          </a:prstGeom>
          <a:noFill/>
          <a:ln w="25400">
            <a:solidFill>
              <a:schemeClr val="accent6"/>
            </a:solidFill>
            <a:prstDash val="solid"/>
            <a:tailEnd type="triangle"/>
          </a:ln>
        </p:spPr>
      </p:sp>
      <p:sp>
        <p:nvSpPr>
          <p:cNvPr id="18" name="Skill 3"/>
          <p:cNvSpPr txBox="1"/>
          <p:nvPr/>
        </p:nvSpPr>
        <p:spPr>
          <a:xfrm>
            <a:off x="5120640" y="4206240"/>
            <a:ext cx="1889760" cy="1219200"/>
          </a:xfrm>
          <a:prstGeom prst="roundRect">
            <a:avLst>
              <a:gd name="adj" fmla="val 8000"/>
            </a:avLst>
          </a:prstGeom>
          <a:solidFill>
            <a:schemeClr val="accent1"/>
          </a:solidFill>
          <a:ln/>
        </p:spPr>
        <p:txBody>
          <a:bodyPr wrap="square" lIns="1355" tIns="1355" rIns="1355" bIns="1355" rtlCol="0" anchor="ctr"/>
          <a:lstStyle/>
          <a:p>
            <a:pPr algn="ctr"/>
            <a:r>
              <a:rPr lang="en-US" sz="1600" b="1" dirty="0">
                <a:solidFill>
                  <a:schemeClr val="tx2"/>
                </a:solidFill>
              </a:rPr>
              <a:t>Skill </a:t>
            </a:r>
            <a:r>
              <a:rPr lang="en-US" sz="1600" b="1" dirty="0" err="1">
                <a:solidFill>
                  <a:schemeClr val="tx2"/>
                </a:solidFill>
              </a:rPr>
              <a:t>membuat</a:t>
            </a:r>
            <a:r>
              <a:rPr lang="en-US" sz="1600" b="1" dirty="0">
                <a:solidFill>
                  <a:schemeClr val="tx2"/>
                </a:solidFill>
              </a:rPr>
              <a:t> draft semua dan kirim</a:t>
            </a:r>
            <a:endParaRPr lang="en-US" sz="1600" dirty="0"/>
          </a:p>
        </p:txBody>
      </p:sp>
      <p:sp>
        <p:nvSpPr>
          <p:cNvPr id="19" name="Panah"/>
          <p:cNvSpPr/>
          <p:nvPr/>
        </p:nvSpPr>
        <p:spPr>
          <a:xfrm>
            <a:off x="7010400" y="4815840"/>
            <a:ext cx="365760" cy="0"/>
          </a:xfrm>
          <a:prstGeom prst="line">
            <a:avLst/>
          </a:prstGeom>
          <a:noFill/>
          <a:ln w="25400">
            <a:solidFill>
              <a:schemeClr val="accent6"/>
            </a:solidFill>
            <a:prstDash val="solid"/>
            <a:tailEnd type="triangle"/>
          </a:ln>
        </p:spPr>
      </p:sp>
      <p:sp>
        <p:nvSpPr>
          <p:cNvPr id="20" name="Skill 4"/>
          <p:cNvSpPr txBox="1"/>
          <p:nvPr/>
        </p:nvSpPr>
        <p:spPr>
          <a:xfrm>
            <a:off x="7376160" y="4206240"/>
            <a:ext cx="1889760" cy="1219200"/>
          </a:xfrm>
          <a:prstGeom prst="roundRect">
            <a:avLst>
              <a:gd name="adj" fmla="val 8000"/>
            </a:avLst>
          </a:prstGeom>
          <a:solidFill>
            <a:schemeClr val="accent1"/>
          </a:solidFill>
          <a:ln/>
        </p:spPr>
        <p:txBody>
          <a:bodyPr wrap="square" lIns="1355" tIns="1355" rIns="1355" bIns="1355" rtlCol="0" anchor="ctr"/>
          <a:lstStyle/>
          <a:p>
            <a:pPr algn="ctr"/>
            <a:r>
              <a:rPr lang="en-US" sz="1600" b="1" dirty="0">
                <a:solidFill>
                  <a:schemeClr val="tx2"/>
                </a:solidFill>
              </a:rPr>
              <a:t>Skill klasifikasi balasan ke Excel</a:t>
            </a:r>
            <a:endParaRPr lang="en-US" sz="1600" dirty="0"/>
          </a:p>
        </p:txBody>
      </p:sp>
      <p:sp>
        <p:nvSpPr>
          <p:cNvPr id="21" name="Panah"/>
          <p:cNvSpPr/>
          <p:nvPr/>
        </p:nvSpPr>
        <p:spPr>
          <a:xfrm>
            <a:off x="9265920" y="4815840"/>
            <a:ext cx="365760" cy="0"/>
          </a:xfrm>
          <a:prstGeom prst="line">
            <a:avLst/>
          </a:prstGeom>
          <a:noFill/>
          <a:ln w="25400">
            <a:solidFill>
              <a:schemeClr val="accent6"/>
            </a:solidFill>
            <a:prstDash val="solid"/>
            <a:tailEnd type="triangle"/>
          </a:ln>
        </p:spPr>
      </p:sp>
      <p:sp>
        <p:nvSpPr>
          <p:cNvPr id="22" name="Skill 5"/>
          <p:cNvSpPr txBox="1"/>
          <p:nvPr/>
        </p:nvSpPr>
        <p:spPr>
          <a:xfrm>
            <a:off x="9631680" y="4206240"/>
            <a:ext cx="1889760" cy="1219200"/>
          </a:xfrm>
          <a:prstGeom prst="roundRect">
            <a:avLst>
              <a:gd name="adj" fmla="val 8000"/>
            </a:avLst>
          </a:prstGeom>
          <a:solidFill>
            <a:schemeClr val="accent1"/>
          </a:solidFill>
          <a:ln/>
        </p:spPr>
        <p:txBody>
          <a:bodyPr wrap="square" lIns="1355" tIns="1355" rIns="1355" bIns="1355" rtlCol="0" anchor="ctr"/>
          <a:lstStyle/>
          <a:p>
            <a:pPr algn="ctr"/>
            <a:r>
              <a:rPr lang="en-US" sz="1600" b="1" dirty="0">
                <a:solidFill>
                  <a:schemeClr val="tx2"/>
                </a:solidFill>
              </a:rPr>
              <a:t>Skill buat draft REMINDER</a:t>
            </a:r>
            <a:endParaRPr lang="en-US" sz="1600" dirty="0"/>
          </a:p>
        </p:txBody>
      </p:sp>
      <p:sp>
        <p:nvSpPr>
          <p:cNvPr id="23" name="Catatan"/>
          <p:cNvSpPr txBox="1"/>
          <p:nvPr/>
        </p:nvSpPr>
        <p:spPr>
          <a:xfrm>
            <a:off x="609600" y="5669280"/>
            <a:ext cx="10972800" cy="365760"/>
          </a:xfrm>
          <a:prstGeom prst="rect">
            <a:avLst/>
          </a:prstGeom>
          <a:noFill/>
          <a:ln/>
        </p:spPr>
        <p:txBody>
          <a:bodyPr wrap="square" lIns="0" tIns="0" rIns="0" bIns="0" rtlCol="0" anchor="t"/>
          <a:lstStyle/>
          <a:p>
            <a:r>
              <a:rPr lang="en-US" sz="1867" dirty="0">
                <a:solidFill>
                  <a:schemeClr val="accent5"/>
                </a:solidFill>
              </a:rPr>
              <a:t>Di kedua cara, email hanya disiapkan sebagai draft dan Anda yang mengirim.</a:t>
            </a:r>
            <a:endParaRPr lang="en-US" sz="1867"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lIns="0" tIns="0" rIns="0" bIns="0" rtlCol="0" anchor="ctr"/>
          <a:lstStyle/>
          <a:p>
            <a:r>
              <a:rPr lang="en-US" dirty="0"/>
              <a:t>Tahap 1: Draft CHECK BOOKING</a:t>
            </a:r>
          </a:p>
        </p:txBody>
      </p:sp>
      <p:sp>
        <p:nvSpPr>
          <p:cNvPr id="3" name="Panel manual"/>
          <p:cNvSpPr/>
          <p:nvPr/>
        </p:nvSpPr>
        <p:spPr>
          <a:xfrm>
            <a:off x="609600" y="1463040"/>
            <a:ext cx="5242560" cy="4328160"/>
          </a:xfrm>
          <a:prstGeom prst="roundRect">
            <a:avLst>
              <a:gd name="adj" fmla="val 2254"/>
            </a:avLst>
          </a:prstGeom>
          <a:solidFill>
            <a:schemeClr val="bg2"/>
          </a:solidFill>
          <a:ln w="6350">
            <a:solidFill>
              <a:schemeClr val="bg2"/>
            </a:solidFill>
            <a:prstDash val="solid"/>
          </a:ln>
        </p:spPr>
      </p:sp>
      <p:sp>
        <p:nvSpPr>
          <p:cNvPr id="4" name="Panel skill"/>
          <p:cNvSpPr/>
          <p:nvPr/>
        </p:nvSpPr>
        <p:spPr>
          <a:xfrm>
            <a:off x="6339840" y="1463040"/>
            <a:ext cx="5242560" cy="4328160"/>
          </a:xfrm>
          <a:prstGeom prst="roundRect">
            <a:avLst>
              <a:gd name="adj" fmla="val 2254"/>
            </a:avLst>
          </a:prstGeom>
          <a:solidFill>
            <a:schemeClr val="bg2"/>
          </a:solidFill>
          <a:ln w="6350">
            <a:solidFill>
              <a:schemeClr val="bg2"/>
            </a:solidFill>
            <a:prstDash val="solid"/>
          </a:ln>
        </p:spPr>
      </p:sp>
      <p:sp>
        <p:nvSpPr>
          <p:cNvPr id="5" name="Label manual"/>
          <p:cNvSpPr txBox="1"/>
          <p:nvPr/>
        </p:nvSpPr>
        <p:spPr>
          <a:xfrm>
            <a:off x="853440" y="1645920"/>
            <a:ext cx="1584960" cy="390144"/>
          </a:xfrm>
          <a:prstGeom prst="roundRect">
            <a:avLst>
              <a:gd name="adj" fmla="val 46875"/>
            </a:avLst>
          </a:prstGeom>
          <a:solidFill>
            <a:schemeClr val="accent5"/>
          </a:solidFill>
          <a:ln/>
        </p:spPr>
        <p:txBody>
          <a:bodyPr wrap="square" lIns="0" tIns="0" rIns="0" bIns="0" rtlCol="0" anchor="ctr"/>
          <a:lstStyle/>
          <a:p>
            <a:pPr algn="ctr"/>
            <a:r>
              <a:rPr lang="en-US" sz="1600" b="1" dirty="0">
                <a:solidFill>
                  <a:schemeClr val="bg1"/>
                </a:solidFill>
              </a:rPr>
              <a:t>MANUAL</a:t>
            </a:r>
            <a:endParaRPr lang="en-US" sz="1600" dirty="0"/>
          </a:p>
        </p:txBody>
      </p:sp>
      <p:sp>
        <p:nvSpPr>
          <p:cNvPr id="6" name="Label skill"/>
          <p:cNvSpPr txBox="1"/>
          <p:nvPr/>
        </p:nvSpPr>
        <p:spPr>
          <a:xfrm>
            <a:off x="6583680" y="1645920"/>
            <a:ext cx="2072640" cy="390144"/>
          </a:xfrm>
          <a:prstGeom prst="roundRect">
            <a:avLst>
              <a:gd name="adj" fmla="val 46875"/>
            </a:avLst>
          </a:prstGeom>
          <a:solidFill>
            <a:schemeClr val="accent1"/>
          </a:solidFill>
          <a:ln/>
        </p:spPr>
        <p:txBody>
          <a:bodyPr wrap="square" lIns="0" tIns="0" rIns="0" bIns="0" rtlCol="0" anchor="ctr"/>
          <a:lstStyle/>
          <a:p>
            <a:pPr algn="ctr"/>
            <a:r>
              <a:rPr lang="en-US" sz="1600" b="1" dirty="0">
                <a:solidFill>
                  <a:schemeClr val="bg1"/>
                </a:solidFill>
              </a:rPr>
              <a:t>DENGAN SKILL</a:t>
            </a:r>
            <a:endParaRPr lang="en-US" sz="1600" dirty="0"/>
          </a:p>
        </p:txBody>
      </p:sp>
      <p:sp>
        <p:nvSpPr>
          <p:cNvPr id="7" name="Langkah 1"/>
          <p:cNvSpPr txBox="1"/>
          <p:nvPr/>
        </p:nvSpPr>
        <p:spPr>
          <a:xfrm>
            <a:off x="853440" y="2255520"/>
            <a:ext cx="4754880" cy="463296"/>
          </a:xfrm>
          <a:prstGeom prst="roundRect">
            <a:avLst>
              <a:gd name="adj" fmla="val 21053"/>
            </a:avLst>
          </a:prstGeom>
          <a:solidFill>
            <a:schemeClr val="accent5"/>
          </a:solidFill>
          <a:ln/>
        </p:spPr>
        <p:txBody>
          <a:bodyPr wrap="square" lIns="677" tIns="677" rIns="677" bIns="677" rtlCol="0" anchor="ctr"/>
          <a:lstStyle/>
          <a:p>
            <a:pPr algn="ctr"/>
            <a:r>
              <a:rPr lang="en-US" sz="1600" dirty="0">
                <a:solidFill>
                  <a:schemeClr val="bg1"/>
                </a:solidFill>
              </a:rPr>
              <a:t>Lihat daftar booking, satu per satu</a:t>
            </a:r>
            <a:endParaRPr lang="en-US" sz="1600" dirty="0"/>
          </a:p>
        </p:txBody>
      </p:sp>
      <p:sp>
        <p:nvSpPr>
          <p:cNvPr id="8" name="Langkah 2"/>
          <p:cNvSpPr txBox="1"/>
          <p:nvPr/>
        </p:nvSpPr>
        <p:spPr>
          <a:xfrm>
            <a:off x="853440" y="2833421"/>
            <a:ext cx="4754880" cy="463296"/>
          </a:xfrm>
          <a:prstGeom prst="roundRect">
            <a:avLst>
              <a:gd name="adj" fmla="val 21053"/>
            </a:avLst>
          </a:prstGeom>
          <a:solidFill>
            <a:schemeClr val="accent5"/>
          </a:solidFill>
          <a:ln/>
        </p:spPr>
        <p:txBody>
          <a:bodyPr wrap="square" lIns="677" tIns="677" rIns="677" bIns="677" rtlCol="0" anchor="ctr"/>
          <a:lstStyle/>
          <a:p>
            <a:pPr algn="ctr"/>
            <a:r>
              <a:rPr lang="en-US" sz="1600" dirty="0">
                <a:solidFill>
                  <a:schemeClr val="bg1"/>
                </a:solidFill>
              </a:rPr>
              <a:t>Cari thread di Inbox\OCT, SEPT, Sent Items</a:t>
            </a:r>
            <a:endParaRPr lang="en-US" sz="1600" dirty="0"/>
          </a:p>
        </p:txBody>
      </p:sp>
      <p:sp>
        <p:nvSpPr>
          <p:cNvPr id="9" name="Langkah 3"/>
          <p:cNvSpPr txBox="1"/>
          <p:nvPr/>
        </p:nvSpPr>
        <p:spPr>
          <a:xfrm>
            <a:off x="853440" y="3411321"/>
            <a:ext cx="4754880" cy="463296"/>
          </a:xfrm>
          <a:prstGeom prst="roundRect">
            <a:avLst>
              <a:gd name="adj" fmla="val 21053"/>
            </a:avLst>
          </a:prstGeom>
          <a:solidFill>
            <a:schemeClr val="accent5"/>
          </a:solidFill>
          <a:ln/>
        </p:spPr>
        <p:txBody>
          <a:bodyPr wrap="square" lIns="677" tIns="677" rIns="677" bIns="677" rtlCol="0" anchor="ctr"/>
          <a:lstStyle/>
          <a:p>
            <a:pPr algn="ctr"/>
            <a:r>
              <a:rPr lang="en-US" sz="1600" dirty="0">
                <a:solidFill>
                  <a:schemeClr val="bg1"/>
                </a:solidFill>
              </a:rPr>
              <a:t>Reply All dan edit subject</a:t>
            </a:r>
            <a:endParaRPr lang="en-US" sz="1600" dirty="0"/>
          </a:p>
        </p:txBody>
      </p:sp>
      <p:sp>
        <p:nvSpPr>
          <p:cNvPr id="10" name="Langkah 4"/>
          <p:cNvSpPr txBox="1"/>
          <p:nvPr/>
        </p:nvSpPr>
        <p:spPr>
          <a:xfrm>
            <a:off x="853440" y="3989223"/>
            <a:ext cx="4754880" cy="463296"/>
          </a:xfrm>
          <a:prstGeom prst="roundRect">
            <a:avLst>
              <a:gd name="adj" fmla="val 21053"/>
            </a:avLst>
          </a:prstGeom>
          <a:solidFill>
            <a:schemeClr val="accent5"/>
          </a:solidFill>
          <a:ln/>
        </p:spPr>
        <p:txBody>
          <a:bodyPr wrap="square" lIns="677" tIns="677" rIns="677" bIns="677" rtlCol="0" anchor="ctr"/>
          <a:lstStyle/>
          <a:p>
            <a:pPr algn="ctr"/>
            <a:r>
              <a:rPr lang="en-US" sz="1600" dirty="0">
                <a:solidFill>
                  <a:schemeClr val="bg1"/>
                </a:solidFill>
              </a:rPr>
              <a:t>Ketik daftar penerima, kecuali alamat sendiri</a:t>
            </a:r>
            <a:endParaRPr lang="en-US" sz="1600" dirty="0"/>
          </a:p>
        </p:txBody>
      </p:sp>
      <p:sp>
        <p:nvSpPr>
          <p:cNvPr id="11" name="Langkah 5"/>
          <p:cNvSpPr txBox="1"/>
          <p:nvPr/>
        </p:nvSpPr>
        <p:spPr>
          <a:xfrm>
            <a:off x="853440" y="4567123"/>
            <a:ext cx="4754880" cy="463296"/>
          </a:xfrm>
          <a:prstGeom prst="roundRect">
            <a:avLst>
              <a:gd name="adj" fmla="val 21053"/>
            </a:avLst>
          </a:prstGeom>
          <a:solidFill>
            <a:schemeClr val="accent5"/>
          </a:solidFill>
          <a:ln/>
        </p:spPr>
        <p:txBody>
          <a:bodyPr wrap="square" lIns="677" tIns="677" rIns="677" bIns="677" rtlCol="0" anchor="ctr"/>
          <a:lstStyle/>
          <a:p>
            <a:pPr algn="ctr"/>
            <a:r>
              <a:rPr lang="en-US" sz="1600" dirty="0">
                <a:solidFill>
                  <a:schemeClr val="bg1"/>
                </a:solidFill>
              </a:rPr>
              <a:t>Ketik isi email dan simpan draft</a:t>
            </a:r>
            <a:endParaRPr lang="en-US" sz="1600" dirty="0"/>
          </a:p>
        </p:txBody>
      </p:sp>
      <p:sp>
        <p:nvSpPr>
          <p:cNvPr id="12" name="Langkah 6"/>
          <p:cNvSpPr txBox="1"/>
          <p:nvPr/>
        </p:nvSpPr>
        <p:spPr>
          <a:xfrm>
            <a:off x="853440" y="5145024"/>
            <a:ext cx="4754880" cy="463296"/>
          </a:xfrm>
          <a:prstGeom prst="roundRect">
            <a:avLst>
              <a:gd name="adj" fmla="val 21053"/>
            </a:avLst>
          </a:prstGeom>
          <a:solidFill>
            <a:schemeClr val="accent5"/>
          </a:solidFill>
          <a:ln/>
        </p:spPr>
        <p:txBody>
          <a:bodyPr wrap="square" lIns="677" tIns="677" rIns="677" bIns="677" rtlCol="0" anchor="ctr"/>
          <a:lstStyle/>
          <a:p>
            <a:pPr algn="ctr"/>
            <a:r>
              <a:rPr lang="en-US" sz="1600" dirty="0">
                <a:solidFill>
                  <a:schemeClr val="bg1"/>
                </a:solidFill>
              </a:rPr>
              <a:t>Catat booking tanpa thread</a:t>
            </a:r>
            <a:endParaRPr lang="en-US" sz="1600" dirty="0"/>
          </a:p>
        </p:txBody>
      </p:sp>
      <p:sp>
        <p:nvSpPr>
          <p:cNvPr id="13" name="Langkah 1"/>
          <p:cNvSpPr txBox="1"/>
          <p:nvPr/>
        </p:nvSpPr>
        <p:spPr>
          <a:xfrm>
            <a:off x="6583680" y="2255520"/>
            <a:ext cx="4754880" cy="463296"/>
          </a:xfrm>
          <a:prstGeom prst="roundRect">
            <a:avLst>
              <a:gd name="adj" fmla="val 21053"/>
            </a:avLst>
          </a:prstGeom>
          <a:solidFill>
            <a:schemeClr val="accent1"/>
          </a:solidFill>
          <a:ln/>
        </p:spPr>
        <p:txBody>
          <a:bodyPr wrap="square" lIns="677" tIns="677" rIns="677" bIns="677" rtlCol="0" anchor="ctr"/>
          <a:lstStyle/>
          <a:p>
            <a:pPr algn="ctr"/>
            <a:r>
              <a:rPr lang="en-US" sz="1600" dirty="0">
                <a:solidFill>
                  <a:schemeClr val="tx2"/>
                </a:solidFill>
              </a:rPr>
              <a:t>Lampirkan daftar booking</a:t>
            </a:r>
            <a:endParaRPr lang="en-US" sz="1600" dirty="0"/>
          </a:p>
        </p:txBody>
      </p:sp>
      <p:sp>
        <p:nvSpPr>
          <p:cNvPr id="14" name="Langkah 2"/>
          <p:cNvSpPr txBox="1"/>
          <p:nvPr/>
        </p:nvSpPr>
        <p:spPr>
          <a:xfrm>
            <a:off x="6583680" y="2833421"/>
            <a:ext cx="4754880" cy="463296"/>
          </a:xfrm>
          <a:prstGeom prst="roundRect">
            <a:avLst>
              <a:gd name="adj" fmla="val 21053"/>
            </a:avLst>
          </a:prstGeom>
          <a:solidFill>
            <a:schemeClr val="accent1"/>
          </a:solidFill>
          <a:ln/>
        </p:spPr>
        <p:txBody>
          <a:bodyPr wrap="square" lIns="677" tIns="677" rIns="677" bIns="677" rtlCol="0" anchor="ctr"/>
          <a:lstStyle/>
          <a:p>
            <a:pPr algn="ctr"/>
            <a:r>
              <a:rPr lang="en-US" sz="1600" dirty="0">
                <a:solidFill>
                  <a:schemeClr val="tx2"/>
                </a:solidFill>
              </a:rPr>
              <a:t>Skill cari thread lewat filter pencarian</a:t>
            </a:r>
            <a:endParaRPr lang="en-US" sz="1600" dirty="0"/>
          </a:p>
        </p:txBody>
      </p:sp>
      <p:sp>
        <p:nvSpPr>
          <p:cNvPr id="15" name="Langkah 3"/>
          <p:cNvSpPr txBox="1"/>
          <p:nvPr/>
        </p:nvSpPr>
        <p:spPr>
          <a:xfrm>
            <a:off x="6583680" y="3411321"/>
            <a:ext cx="4754880" cy="463296"/>
          </a:xfrm>
          <a:prstGeom prst="roundRect">
            <a:avLst>
              <a:gd name="adj" fmla="val 21053"/>
            </a:avLst>
          </a:prstGeom>
          <a:solidFill>
            <a:schemeClr val="accent1"/>
          </a:solidFill>
          <a:ln/>
        </p:spPr>
        <p:txBody>
          <a:bodyPr wrap="square" lIns="677" tIns="677" rIns="677" bIns="677" rtlCol="0" anchor="ctr"/>
          <a:lstStyle/>
          <a:p>
            <a:pPr algn="ctr"/>
            <a:r>
              <a:rPr lang="en-US" sz="1600" dirty="0">
                <a:solidFill>
                  <a:schemeClr val="tx2"/>
                </a:solidFill>
              </a:rPr>
              <a:t>Reply All, subject CHECK BOOKING // lama</a:t>
            </a:r>
            <a:endParaRPr lang="en-US" sz="1600" dirty="0"/>
          </a:p>
        </p:txBody>
      </p:sp>
      <p:sp>
        <p:nvSpPr>
          <p:cNvPr id="16" name="Langkah 4"/>
          <p:cNvSpPr txBox="1"/>
          <p:nvPr/>
        </p:nvSpPr>
        <p:spPr>
          <a:xfrm>
            <a:off x="6583680" y="3989223"/>
            <a:ext cx="4754880" cy="463296"/>
          </a:xfrm>
          <a:prstGeom prst="roundRect">
            <a:avLst>
              <a:gd name="adj" fmla="val 21053"/>
            </a:avLst>
          </a:prstGeom>
          <a:solidFill>
            <a:schemeClr val="accent1"/>
          </a:solidFill>
          <a:ln/>
        </p:spPr>
        <p:txBody>
          <a:bodyPr wrap="square" lIns="677" tIns="677" rIns="677" bIns="677" rtlCol="0" anchor="ctr"/>
          <a:lstStyle/>
          <a:p>
            <a:pPr algn="ctr"/>
            <a:r>
              <a:rPr lang="en-US" sz="1600" dirty="0">
                <a:solidFill>
                  <a:schemeClr val="tx2"/>
                </a:solidFill>
              </a:rPr>
              <a:t>Penerima diisi otomatis dari thread</a:t>
            </a:r>
            <a:endParaRPr lang="en-US" sz="1600" dirty="0"/>
          </a:p>
        </p:txBody>
      </p:sp>
      <p:sp>
        <p:nvSpPr>
          <p:cNvPr id="17" name="Langkah 5"/>
          <p:cNvSpPr txBox="1"/>
          <p:nvPr/>
        </p:nvSpPr>
        <p:spPr>
          <a:xfrm>
            <a:off x="6583680" y="4567123"/>
            <a:ext cx="4754880" cy="463296"/>
          </a:xfrm>
          <a:prstGeom prst="roundRect">
            <a:avLst>
              <a:gd name="adj" fmla="val 21053"/>
            </a:avLst>
          </a:prstGeom>
          <a:solidFill>
            <a:schemeClr val="accent1"/>
          </a:solidFill>
          <a:ln/>
        </p:spPr>
        <p:txBody>
          <a:bodyPr wrap="square" lIns="677" tIns="677" rIns="677" bIns="677" rtlCol="0" anchor="ctr"/>
          <a:lstStyle/>
          <a:p>
            <a:pPr algn="ctr"/>
            <a:r>
              <a:rPr lang="en-US" sz="1600" dirty="0">
                <a:solidFill>
                  <a:schemeClr val="tx2"/>
                </a:solidFill>
              </a:rPr>
              <a:t>Isi email baku dan simpan ke Drafts</a:t>
            </a:r>
            <a:endParaRPr lang="en-US" sz="1600" dirty="0"/>
          </a:p>
        </p:txBody>
      </p:sp>
      <p:sp>
        <p:nvSpPr>
          <p:cNvPr id="18" name="Langkah 6"/>
          <p:cNvSpPr txBox="1"/>
          <p:nvPr/>
        </p:nvSpPr>
        <p:spPr>
          <a:xfrm>
            <a:off x="6583680" y="5145024"/>
            <a:ext cx="4754880" cy="463296"/>
          </a:xfrm>
          <a:prstGeom prst="roundRect">
            <a:avLst>
              <a:gd name="adj" fmla="val 21053"/>
            </a:avLst>
          </a:prstGeom>
          <a:solidFill>
            <a:schemeClr val="accent1"/>
          </a:solidFill>
          <a:ln/>
        </p:spPr>
        <p:txBody>
          <a:bodyPr wrap="square" lIns="677" tIns="677" rIns="677" bIns="677" rtlCol="0" anchor="ctr"/>
          <a:lstStyle/>
          <a:p>
            <a:pPr algn="ctr"/>
            <a:r>
              <a:rPr lang="en-US" sz="1600" dirty="0">
                <a:solidFill>
                  <a:schemeClr val="tx2"/>
                </a:solidFill>
              </a:rPr>
              <a:t>Laporan CSV, booking tanpa thread ditandai</a:t>
            </a:r>
            <a:endParaRPr lang="en-US" sz="1600" dirty="0"/>
          </a:p>
        </p:txBody>
      </p:sp>
      <p:sp>
        <p:nvSpPr>
          <p:cNvPr id="19" name="Catatan"/>
          <p:cNvSpPr txBox="1"/>
          <p:nvPr/>
        </p:nvSpPr>
        <p:spPr>
          <a:xfrm>
            <a:off x="609600" y="5913120"/>
            <a:ext cx="10972800" cy="365760"/>
          </a:xfrm>
          <a:prstGeom prst="rect">
            <a:avLst/>
          </a:prstGeom>
          <a:noFill/>
          <a:ln/>
        </p:spPr>
        <p:txBody>
          <a:bodyPr wrap="square" lIns="0" tIns="0" rIns="0" bIns="0" rtlCol="0" anchor="t"/>
          <a:lstStyle/>
          <a:p>
            <a:r>
              <a:rPr lang="en-US" sz="1600" dirty="0">
                <a:solidFill>
                  <a:schemeClr val="accent5"/>
                </a:solidFill>
              </a:rPr>
              <a:t>Hasil uji KXM 2608N: 30 booking, 19 punya thread (8 draft), 11 tanpa thread.</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lIns="0" tIns="0" rIns="0" bIns="0" rtlCol="0" anchor="ctr"/>
          <a:lstStyle/>
          <a:p>
            <a:r>
              <a:rPr lang="en-US" dirty="0"/>
              <a:t>Tahap 2: Klasifikasi balasan</a:t>
            </a:r>
          </a:p>
        </p:txBody>
      </p:sp>
      <p:sp>
        <p:nvSpPr>
          <p:cNvPr id="3" name="Panel manual"/>
          <p:cNvSpPr/>
          <p:nvPr/>
        </p:nvSpPr>
        <p:spPr>
          <a:xfrm>
            <a:off x="609600" y="1463040"/>
            <a:ext cx="5242560" cy="4328160"/>
          </a:xfrm>
          <a:prstGeom prst="roundRect">
            <a:avLst>
              <a:gd name="adj" fmla="val 2254"/>
            </a:avLst>
          </a:prstGeom>
          <a:solidFill>
            <a:schemeClr val="bg2"/>
          </a:solidFill>
          <a:ln w="6350">
            <a:solidFill>
              <a:schemeClr val="bg2"/>
            </a:solidFill>
            <a:prstDash val="solid"/>
          </a:ln>
        </p:spPr>
      </p:sp>
      <p:sp>
        <p:nvSpPr>
          <p:cNvPr id="4" name="Panel skill"/>
          <p:cNvSpPr/>
          <p:nvPr/>
        </p:nvSpPr>
        <p:spPr>
          <a:xfrm>
            <a:off x="6339840" y="1463040"/>
            <a:ext cx="5242560" cy="4328160"/>
          </a:xfrm>
          <a:prstGeom prst="roundRect">
            <a:avLst>
              <a:gd name="adj" fmla="val 2254"/>
            </a:avLst>
          </a:prstGeom>
          <a:solidFill>
            <a:schemeClr val="bg2"/>
          </a:solidFill>
          <a:ln w="6350">
            <a:solidFill>
              <a:schemeClr val="bg2"/>
            </a:solidFill>
            <a:prstDash val="solid"/>
          </a:ln>
        </p:spPr>
      </p:sp>
      <p:sp>
        <p:nvSpPr>
          <p:cNvPr id="5" name="Label manual"/>
          <p:cNvSpPr txBox="1"/>
          <p:nvPr/>
        </p:nvSpPr>
        <p:spPr>
          <a:xfrm>
            <a:off x="853440" y="1645920"/>
            <a:ext cx="1584960" cy="390144"/>
          </a:xfrm>
          <a:prstGeom prst="roundRect">
            <a:avLst>
              <a:gd name="adj" fmla="val 46875"/>
            </a:avLst>
          </a:prstGeom>
          <a:solidFill>
            <a:schemeClr val="accent5"/>
          </a:solidFill>
          <a:ln/>
        </p:spPr>
        <p:txBody>
          <a:bodyPr wrap="square" lIns="0" tIns="0" rIns="0" bIns="0" rtlCol="0" anchor="ctr"/>
          <a:lstStyle/>
          <a:p>
            <a:pPr algn="ctr"/>
            <a:r>
              <a:rPr lang="en-US" sz="1600" b="1" dirty="0">
                <a:solidFill>
                  <a:schemeClr val="bg1"/>
                </a:solidFill>
              </a:rPr>
              <a:t>MANUAL</a:t>
            </a:r>
            <a:endParaRPr lang="en-US" sz="1600" dirty="0"/>
          </a:p>
        </p:txBody>
      </p:sp>
      <p:sp>
        <p:nvSpPr>
          <p:cNvPr id="6" name="Label skill"/>
          <p:cNvSpPr txBox="1"/>
          <p:nvPr/>
        </p:nvSpPr>
        <p:spPr>
          <a:xfrm>
            <a:off x="6583680" y="1645920"/>
            <a:ext cx="2072640" cy="390144"/>
          </a:xfrm>
          <a:prstGeom prst="roundRect">
            <a:avLst>
              <a:gd name="adj" fmla="val 46875"/>
            </a:avLst>
          </a:prstGeom>
          <a:solidFill>
            <a:schemeClr val="accent1"/>
          </a:solidFill>
          <a:ln/>
        </p:spPr>
        <p:txBody>
          <a:bodyPr wrap="square" lIns="0" tIns="0" rIns="0" bIns="0" rtlCol="0" anchor="ctr"/>
          <a:lstStyle/>
          <a:p>
            <a:pPr algn="ctr"/>
            <a:r>
              <a:rPr lang="en-US" sz="1600" b="1" dirty="0">
                <a:solidFill>
                  <a:schemeClr val="bg1"/>
                </a:solidFill>
              </a:rPr>
              <a:t>DENGAN SKILL</a:t>
            </a:r>
            <a:endParaRPr lang="en-US" sz="1600" dirty="0"/>
          </a:p>
        </p:txBody>
      </p:sp>
      <p:sp>
        <p:nvSpPr>
          <p:cNvPr id="7" name="Langkah 1"/>
          <p:cNvSpPr txBox="1"/>
          <p:nvPr/>
        </p:nvSpPr>
        <p:spPr>
          <a:xfrm>
            <a:off x="853440" y="2255520"/>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Buka balasan satu per satu</a:t>
            </a:r>
            <a:endParaRPr lang="en-US" sz="1600" dirty="0"/>
          </a:p>
        </p:txBody>
      </p:sp>
      <p:sp>
        <p:nvSpPr>
          <p:cNvPr id="8" name="Panah"/>
          <p:cNvSpPr/>
          <p:nvPr/>
        </p:nvSpPr>
        <p:spPr>
          <a:xfrm>
            <a:off x="3230880" y="2889504"/>
            <a:ext cx="0" cy="272288"/>
          </a:xfrm>
          <a:prstGeom prst="line">
            <a:avLst/>
          </a:prstGeom>
          <a:noFill/>
          <a:ln w="25400">
            <a:solidFill>
              <a:schemeClr val="accent5"/>
            </a:solidFill>
            <a:prstDash val="solid"/>
            <a:tailEnd type="triangle"/>
          </a:ln>
        </p:spPr>
      </p:sp>
      <p:sp>
        <p:nvSpPr>
          <p:cNvPr id="9" name="Langkah 2"/>
          <p:cNvSpPr txBox="1"/>
          <p:nvPr/>
        </p:nvSpPr>
        <p:spPr>
          <a:xfrm>
            <a:off x="853440" y="3161792"/>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Baca isi dan abaikan teks kutipan lama</a:t>
            </a:r>
            <a:endParaRPr lang="en-US" sz="1600" dirty="0"/>
          </a:p>
        </p:txBody>
      </p:sp>
      <p:sp>
        <p:nvSpPr>
          <p:cNvPr id="10" name="Panah"/>
          <p:cNvSpPr/>
          <p:nvPr/>
        </p:nvSpPr>
        <p:spPr>
          <a:xfrm>
            <a:off x="3230880" y="3795776"/>
            <a:ext cx="0" cy="272288"/>
          </a:xfrm>
          <a:prstGeom prst="line">
            <a:avLst/>
          </a:prstGeom>
          <a:noFill/>
          <a:ln w="25400">
            <a:solidFill>
              <a:schemeClr val="accent5"/>
            </a:solidFill>
            <a:prstDash val="solid"/>
            <a:tailEnd type="triangle"/>
          </a:ln>
        </p:spPr>
      </p:sp>
      <p:sp>
        <p:nvSpPr>
          <p:cNvPr id="11" name="Langkah 3"/>
          <p:cNvSpPr txBox="1"/>
          <p:nvPr/>
        </p:nvSpPr>
        <p:spPr>
          <a:xfrm>
            <a:off x="853440" y="4068064"/>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Tentukan: qty, pickup, minta ubah, dll</a:t>
            </a:r>
            <a:endParaRPr lang="en-US" sz="1600" dirty="0"/>
          </a:p>
        </p:txBody>
      </p:sp>
      <p:sp>
        <p:nvSpPr>
          <p:cNvPr id="12" name="Panah"/>
          <p:cNvSpPr/>
          <p:nvPr/>
        </p:nvSpPr>
        <p:spPr>
          <a:xfrm>
            <a:off x="3230880" y="4702048"/>
            <a:ext cx="0" cy="272288"/>
          </a:xfrm>
          <a:prstGeom prst="line">
            <a:avLst/>
          </a:prstGeom>
          <a:noFill/>
          <a:ln w="25400">
            <a:solidFill>
              <a:schemeClr val="accent5"/>
            </a:solidFill>
            <a:prstDash val="solid"/>
            <a:tailEnd type="triangle"/>
          </a:ln>
        </p:spPr>
      </p:sp>
      <p:sp>
        <p:nvSpPr>
          <p:cNvPr id="13" name="Langkah 4"/>
          <p:cNvSpPr txBox="1"/>
          <p:nvPr/>
        </p:nvSpPr>
        <p:spPr>
          <a:xfrm>
            <a:off x="853440" y="4974336"/>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Catat ke Excel dan tentukan tindak lanjut</a:t>
            </a:r>
            <a:endParaRPr lang="en-US" sz="1600" dirty="0"/>
          </a:p>
        </p:txBody>
      </p:sp>
      <p:sp>
        <p:nvSpPr>
          <p:cNvPr id="14" name="Langkah 1"/>
          <p:cNvSpPr txBox="1"/>
          <p:nvPr/>
        </p:nvSpPr>
        <p:spPr>
          <a:xfrm>
            <a:off x="6583680" y="2255520"/>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Skill baca balasan terbaru tiap booking</a:t>
            </a:r>
            <a:endParaRPr lang="en-US" sz="1600" dirty="0"/>
          </a:p>
        </p:txBody>
      </p:sp>
      <p:sp>
        <p:nvSpPr>
          <p:cNvPr id="15" name="Panah"/>
          <p:cNvSpPr/>
          <p:nvPr/>
        </p:nvSpPr>
        <p:spPr>
          <a:xfrm>
            <a:off x="8961120" y="2889504"/>
            <a:ext cx="0" cy="272288"/>
          </a:xfrm>
          <a:prstGeom prst="line">
            <a:avLst/>
          </a:prstGeom>
          <a:noFill/>
          <a:ln w="25400">
            <a:solidFill>
              <a:schemeClr val="accent5"/>
            </a:solidFill>
            <a:prstDash val="solid"/>
            <a:tailEnd type="triangle"/>
          </a:ln>
        </p:spPr>
      </p:sp>
      <p:sp>
        <p:nvSpPr>
          <p:cNvPr id="16" name="Langkah 2"/>
          <p:cNvSpPr txBox="1"/>
          <p:nvPr/>
        </p:nvSpPr>
        <p:spPr>
          <a:xfrm>
            <a:off x="6583680" y="3161792"/>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Abaikan kutipan lama dan email internal</a:t>
            </a:r>
            <a:endParaRPr lang="en-US" sz="1600" dirty="0"/>
          </a:p>
        </p:txBody>
      </p:sp>
      <p:sp>
        <p:nvSpPr>
          <p:cNvPr id="17" name="Panah"/>
          <p:cNvSpPr/>
          <p:nvPr/>
        </p:nvSpPr>
        <p:spPr>
          <a:xfrm>
            <a:off x="8961120" y="3795776"/>
            <a:ext cx="0" cy="272288"/>
          </a:xfrm>
          <a:prstGeom prst="line">
            <a:avLst/>
          </a:prstGeom>
          <a:noFill/>
          <a:ln w="25400">
            <a:solidFill>
              <a:schemeClr val="accent5"/>
            </a:solidFill>
            <a:prstDash val="solid"/>
            <a:tailEnd type="triangle"/>
          </a:ln>
        </p:spPr>
      </p:sp>
      <p:sp>
        <p:nvSpPr>
          <p:cNvPr id="18" name="Langkah 3"/>
          <p:cNvSpPr txBox="1"/>
          <p:nvPr/>
        </p:nvSpPr>
        <p:spPr>
          <a:xfrm>
            <a:off x="6583680" y="4068064"/>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Pilih 1 dari 8 kategori, ambil data baru</a:t>
            </a:r>
            <a:endParaRPr lang="en-US" sz="1600" dirty="0"/>
          </a:p>
        </p:txBody>
      </p:sp>
      <p:sp>
        <p:nvSpPr>
          <p:cNvPr id="19" name="Panah"/>
          <p:cNvSpPr/>
          <p:nvPr/>
        </p:nvSpPr>
        <p:spPr>
          <a:xfrm>
            <a:off x="8961120" y="4702048"/>
            <a:ext cx="0" cy="272288"/>
          </a:xfrm>
          <a:prstGeom prst="line">
            <a:avLst/>
          </a:prstGeom>
          <a:noFill/>
          <a:ln w="25400">
            <a:solidFill>
              <a:schemeClr val="accent5"/>
            </a:solidFill>
            <a:prstDash val="solid"/>
            <a:tailEnd type="triangle"/>
          </a:ln>
        </p:spPr>
      </p:sp>
      <p:sp>
        <p:nvSpPr>
          <p:cNvPr id="20" name="Langkah 4"/>
          <p:cNvSpPr txBox="1"/>
          <p:nvPr/>
        </p:nvSpPr>
        <p:spPr>
          <a:xfrm>
            <a:off x="6583680" y="4974336"/>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Excel berisi urgensi dan saran tindakan</a:t>
            </a:r>
            <a:endParaRPr lang="en-US" sz="1600" dirty="0"/>
          </a:p>
        </p:txBody>
      </p:sp>
      <p:sp>
        <p:nvSpPr>
          <p:cNvPr id="21" name="Catatan"/>
          <p:cNvSpPr txBox="1"/>
          <p:nvPr/>
        </p:nvSpPr>
        <p:spPr>
          <a:xfrm>
            <a:off x="609600" y="5913120"/>
            <a:ext cx="10972800" cy="365760"/>
          </a:xfrm>
          <a:prstGeom prst="rect">
            <a:avLst/>
          </a:prstGeom>
          <a:noFill/>
          <a:ln/>
        </p:spPr>
        <p:txBody>
          <a:bodyPr wrap="square" lIns="0" tIns="0" rIns="0" bIns="0" rtlCol="0" anchor="t"/>
          <a:lstStyle/>
          <a:p>
            <a:r>
              <a:rPr lang="en-US" sz="1600" dirty="0">
                <a:solidFill>
                  <a:schemeClr val="accent5"/>
                </a:solidFill>
              </a:rPr>
              <a:t>Keputusan reschedule, extend closing, atau ganti POD tetap di tangan Anda.</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lIns="0" tIns="0" rIns="0" bIns="0" rtlCol="0" anchor="ctr"/>
          <a:lstStyle/>
          <a:p>
            <a:r>
              <a:rPr lang="en-US" dirty="0"/>
              <a:t>Tahap 3: Reminder</a:t>
            </a:r>
          </a:p>
        </p:txBody>
      </p:sp>
      <p:sp>
        <p:nvSpPr>
          <p:cNvPr id="3" name="Panel manual"/>
          <p:cNvSpPr/>
          <p:nvPr/>
        </p:nvSpPr>
        <p:spPr>
          <a:xfrm>
            <a:off x="609600" y="1463040"/>
            <a:ext cx="5242560" cy="4328160"/>
          </a:xfrm>
          <a:prstGeom prst="roundRect">
            <a:avLst>
              <a:gd name="adj" fmla="val 2254"/>
            </a:avLst>
          </a:prstGeom>
          <a:solidFill>
            <a:schemeClr val="bg2"/>
          </a:solidFill>
          <a:ln w="6350">
            <a:solidFill>
              <a:schemeClr val="bg2"/>
            </a:solidFill>
            <a:prstDash val="solid"/>
          </a:ln>
        </p:spPr>
      </p:sp>
      <p:sp>
        <p:nvSpPr>
          <p:cNvPr id="4" name="Panel skill"/>
          <p:cNvSpPr/>
          <p:nvPr/>
        </p:nvSpPr>
        <p:spPr>
          <a:xfrm>
            <a:off x="6339840" y="1463040"/>
            <a:ext cx="5242560" cy="4328160"/>
          </a:xfrm>
          <a:prstGeom prst="roundRect">
            <a:avLst>
              <a:gd name="adj" fmla="val 2254"/>
            </a:avLst>
          </a:prstGeom>
          <a:solidFill>
            <a:schemeClr val="bg2"/>
          </a:solidFill>
          <a:ln w="6350">
            <a:solidFill>
              <a:schemeClr val="bg2"/>
            </a:solidFill>
            <a:prstDash val="solid"/>
          </a:ln>
        </p:spPr>
      </p:sp>
      <p:sp>
        <p:nvSpPr>
          <p:cNvPr id="5" name="Label manual"/>
          <p:cNvSpPr txBox="1"/>
          <p:nvPr/>
        </p:nvSpPr>
        <p:spPr>
          <a:xfrm>
            <a:off x="853440" y="1645920"/>
            <a:ext cx="1584960" cy="390144"/>
          </a:xfrm>
          <a:prstGeom prst="roundRect">
            <a:avLst>
              <a:gd name="adj" fmla="val 46875"/>
            </a:avLst>
          </a:prstGeom>
          <a:solidFill>
            <a:schemeClr val="accent5"/>
          </a:solidFill>
          <a:ln/>
        </p:spPr>
        <p:txBody>
          <a:bodyPr wrap="square" lIns="0" tIns="0" rIns="0" bIns="0" rtlCol="0" anchor="ctr"/>
          <a:lstStyle/>
          <a:p>
            <a:pPr algn="ctr"/>
            <a:r>
              <a:rPr lang="en-US" sz="1600" b="1" dirty="0">
                <a:solidFill>
                  <a:schemeClr val="bg1"/>
                </a:solidFill>
              </a:rPr>
              <a:t>MANUAL</a:t>
            </a:r>
            <a:endParaRPr lang="en-US" sz="1600" dirty="0"/>
          </a:p>
        </p:txBody>
      </p:sp>
      <p:sp>
        <p:nvSpPr>
          <p:cNvPr id="6" name="Label skill"/>
          <p:cNvSpPr txBox="1"/>
          <p:nvPr/>
        </p:nvSpPr>
        <p:spPr>
          <a:xfrm>
            <a:off x="6583680" y="1645920"/>
            <a:ext cx="2072640" cy="390144"/>
          </a:xfrm>
          <a:prstGeom prst="roundRect">
            <a:avLst>
              <a:gd name="adj" fmla="val 46875"/>
            </a:avLst>
          </a:prstGeom>
          <a:solidFill>
            <a:schemeClr val="accent1"/>
          </a:solidFill>
          <a:ln/>
        </p:spPr>
        <p:txBody>
          <a:bodyPr wrap="square" lIns="0" tIns="0" rIns="0" bIns="0" rtlCol="0" anchor="ctr"/>
          <a:lstStyle/>
          <a:p>
            <a:pPr algn="ctr"/>
            <a:r>
              <a:rPr lang="en-US" sz="1600" b="1" dirty="0">
                <a:solidFill>
                  <a:schemeClr val="bg1"/>
                </a:solidFill>
              </a:rPr>
              <a:t>DENGAN SKILL</a:t>
            </a:r>
            <a:endParaRPr lang="en-US" sz="1600" dirty="0"/>
          </a:p>
        </p:txBody>
      </p:sp>
      <p:sp>
        <p:nvSpPr>
          <p:cNvPr id="7" name="Langkah 1"/>
          <p:cNvSpPr txBox="1"/>
          <p:nvPr/>
        </p:nvSpPr>
        <p:spPr>
          <a:xfrm>
            <a:off x="853440" y="2255520"/>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Cari booking yang belum dibalas</a:t>
            </a:r>
            <a:endParaRPr lang="en-US" sz="1600" dirty="0"/>
          </a:p>
        </p:txBody>
      </p:sp>
      <p:sp>
        <p:nvSpPr>
          <p:cNvPr id="8" name="Panah"/>
          <p:cNvSpPr/>
          <p:nvPr/>
        </p:nvSpPr>
        <p:spPr>
          <a:xfrm>
            <a:off x="3230880" y="2889504"/>
            <a:ext cx="0" cy="272288"/>
          </a:xfrm>
          <a:prstGeom prst="line">
            <a:avLst/>
          </a:prstGeom>
          <a:noFill/>
          <a:ln w="25400">
            <a:solidFill>
              <a:schemeClr val="accent5"/>
            </a:solidFill>
            <a:prstDash val="solid"/>
            <a:tailEnd type="triangle"/>
          </a:ln>
        </p:spPr>
      </p:sp>
      <p:sp>
        <p:nvSpPr>
          <p:cNvPr id="9" name="Langkah 2"/>
          <p:cNvSpPr txBox="1"/>
          <p:nvPr/>
        </p:nvSpPr>
        <p:spPr>
          <a:xfrm>
            <a:off x="853440" y="3161792"/>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Hitung sendiri sudah berapa kali diingatkan</a:t>
            </a:r>
            <a:endParaRPr lang="en-US" sz="1600" dirty="0"/>
          </a:p>
        </p:txBody>
      </p:sp>
      <p:sp>
        <p:nvSpPr>
          <p:cNvPr id="10" name="Panah"/>
          <p:cNvSpPr/>
          <p:nvPr/>
        </p:nvSpPr>
        <p:spPr>
          <a:xfrm>
            <a:off x="3230880" y="3795776"/>
            <a:ext cx="0" cy="272288"/>
          </a:xfrm>
          <a:prstGeom prst="line">
            <a:avLst/>
          </a:prstGeom>
          <a:noFill/>
          <a:ln w="25400">
            <a:solidFill>
              <a:schemeClr val="accent5"/>
            </a:solidFill>
            <a:prstDash val="solid"/>
            <a:tailEnd type="triangle"/>
          </a:ln>
        </p:spPr>
      </p:sp>
      <p:sp>
        <p:nvSpPr>
          <p:cNvPr id="11" name="Langkah 3"/>
          <p:cNvSpPr txBox="1"/>
          <p:nvPr/>
        </p:nvSpPr>
        <p:spPr>
          <a:xfrm>
            <a:off x="853440" y="4068064"/>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Reply All di thread dan ketik pengingat</a:t>
            </a:r>
            <a:endParaRPr lang="en-US" sz="1600" dirty="0"/>
          </a:p>
        </p:txBody>
      </p:sp>
      <p:sp>
        <p:nvSpPr>
          <p:cNvPr id="12" name="Panah"/>
          <p:cNvSpPr/>
          <p:nvPr/>
        </p:nvSpPr>
        <p:spPr>
          <a:xfrm>
            <a:off x="3230880" y="4702048"/>
            <a:ext cx="0" cy="272288"/>
          </a:xfrm>
          <a:prstGeom prst="line">
            <a:avLst/>
          </a:prstGeom>
          <a:noFill/>
          <a:ln w="25400">
            <a:solidFill>
              <a:schemeClr val="accent5"/>
            </a:solidFill>
            <a:prstDash val="solid"/>
            <a:tailEnd type="triangle"/>
          </a:ln>
        </p:spPr>
      </p:sp>
      <p:sp>
        <p:nvSpPr>
          <p:cNvPr id="13" name="Langkah 4"/>
          <p:cNvSpPr txBox="1"/>
          <p:nvPr/>
        </p:nvSpPr>
        <p:spPr>
          <a:xfrm>
            <a:off x="853440" y="4974336"/>
            <a:ext cx="4754880" cy="633984"/>
          </a:xfrm>
          <a:prstGeom prst="roundRect">
            <a:avLst>
              <a:gd name="adj" fmla="val 15385"/>
            </a:avLst>
          </a:prstGeom>
          <a:solidFill>
            <a:schemeClr val="accent5"/>
          </a:solidFill>
          <a:ln/>
        </p:spPr>
        <p:txBody>
          <a:bodyPr wrap="square" lIns="677" tIns="677" rIns="677" bIns="677" rtlCol="0" anchor="ctr"/>
          <a:lstStyle/>
          <a:p>
            <a:pPr algn="ctr"/>
            <a:r>
              <a:rPr lang="en-US" sz="1600" dirty="0">
                <a:solidFill>
                  <a:schemeClr val="bg1"/>
                </a:solidFill>
              </a:rPr>
              <a:t>Simpan draft dan catat</a:t>
            </a:r>
            <a:endParaRPr lang="en-US" sz="1600" dirty="0"/>
          </a:p>
        </p:txBody>
      </p:sp>
      <p:sp>
        <p:nvSpPr>
          <p:cNvPr id="14" name="Langkah 1"/>
          <p:cNvSpPr txBox="1"/>
          <p:nvPr/>
        </p:nvSpPr>
        <p:spPr>
          <a:xfrm>
            <a:off x="6583680" y="2255520"/>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Skill temukan BELUM_BALAS</a:t>
            </a:r>
            <a:endParaRPr lang="en-US" sz="1600" dirty="0"/>
          </a:p>
        </p:txBody>
      </p:sp>
      <p:sp>
        <p:nvSpPr>
          <p:cNvPr id="15" name="Panah"/>
          <p:cNvSpPr/>
          <p:nvPr/>
        </p:nvSpPr>
        <p:spPr>
          <a:xfrm>
            <a:off x="8961120" y="2889504"/>
            <a:ext cx="0" cy="272288"/>
          </a:xfrm>
          <a:prstGeom prst="line">
            <a:avLst/>
          </a:prstGeom>
          <a:noFill/>
          <a:ln w="25400">
            <a:solidFill>
              <a:schemeClr val="accent5"/>
            </a:solidFill>
            <a:prstDash val="solid"/>
            <a:tailEnd type="triangle"/>
          </a:ln>
        </p:spPr>
      </p:sp>
      <p:sp>
        <p:nvSpPr>
          <p:cNvPr id="16" name="Langkah 2"/>
          <p:cNvSpPr txBox="1"/>
          <p:nvPr/>
        </p:nvSpPr>
        <p:spPr>
          <a:xfrm>
            <a:off x="6583680" y="3161792"/>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Cek: lewat 1 hari kerja, reminder kurang dari 2</a:t>
            </a:r>
            <a:endParaRPr lang="en-US" sz="1600" dirty="0"/>
          </a:p>
        </p:txBody>
      </p:sp>
      <p:sp>
        <p:nvSpPr>
          <p:cNvPr id="17" name="Panah"/>
          <p:cNvSpPr/>
          <p:nvPr/>
        </p:nvSpPr>
        <p:spPr>
          <a:xfrm>
            <a:off x="8961120" y="3795776"/>
            <a:ext cx="0" cy="272288"/>
          </a:xfrm>
          <a:prstGeom prst="line">
            <a:avLst/>
          </a:prstGeom>
          <a:noFill/>
          <a:ln w="25400">
            <a:solidFill>
              <a:schemeClr val="accent5"/>
            </a:solidFill>
            <a:prstDash val="solid"/>
            <a:tailEnd type="triangle"/>
          </a:ln>
        </p:spPr>
      </p:sp>
      <p:sp>
        <p:nvSpPr>
          <p:cNvPr id="18" name="Langkah 3"/>
          <p:cNvSpPr txBox="1"/>
          <p:nvPr/>
        </p:nvSpPr>
        <p:spPr>
          <a:xfrm>
            <a:off x="6583680" y="4068064"/>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Draft REMINDER // dengan isi baku</a:t>
            </a:r>
            <a:endParaRPr lang="en-US" sz="1600" dirty="0"/>
          </a:p>
        </p:txBody>
      </p:sp>
      <p:sp>
        <p:nvSpPr>
          <p:cNvPr id="19" name="Panah"/>
          <p:cNvSpPr/>
          <p:nvPr/>
        </p:nvSpPr>
        <p:spPr>
          <a:xfrm>
            <a:off x="8961120" y="4702048"/>
            <a:ext cx="0" cy="272288"/>
          </a:xfrm>
          <a:prstGeom prst="line">
            <a:avLst/>
          </a:prstGeom>
          <a:noFill/>
          <a:ln w="25400">
            <a:solidFill>
              <a:schemeClr val="accent5"/>
            </a:solidFill>
            <a:prstDash val="solid"/>
            <a:tailEnd type="triangle"/>
          </a:ln>
        </p:spPr>
      </p:sp>
      <p:sp>
        <p:nvSpPr>
          <p:cNvPr id="20" name="Langkah 4"/>
          <p:cNvSpPr txBox="1"/>
          <p:nvPr/>
        </p:nvSpPr>
        <p:spPr>
          <a:xfrm>
            <a:off x="6583680" y="4974336"/>
            <a:ext cx="4754880" cy="633984"/>
          </a:xfrm>
          <a:prstGeom prst="roundRect">
            <a:avLst>
              <a:gd name="adj" fmla="val 15385"/>
            </a:avLst>
          </a:prstGeom>
          <a:solidFill>
            <a:schemeClr val="accent1"/>
          </a:solidFill>
          <a:ln/>
        </p:spPr>
        <p:txBody>
          <a:bodyPr wrap="square" lIns="677" tIns="677" rIns="677" bIns="677" rtlCol="0" anchor="ctr"/>
          <a:lstStyle/>
          <a:p>
            <a:pPr algn="ctr"/>
            <a:r>
              <a:rPr lang="en-US" sz="1600" dirty="0">
                <a:solidFill>
                  <a:schemeClr val="tx2"/>
                </a:solidFill>
              </a:rPr>
              <a:t>Jumlah reminder tercatat di Excel</a:t>
            </a:r>
            <a:endParaRPr lang="en-US" sz="1600" dirty="0"/>
          </a:p>
        </p:txBody>
      </p:sp>
      <p:sp>
        <p:nvSpPr>
          <p:cNvPr id="21" name="Catatan"/>
          <p:cNvSpPr txBox="1"/>
          <p:nvPr/>
        </p:nvSpPr>
        <p:spPr>
          <a:xfrm>
            <a:off x="609600" y="5913120"/>
            <a:ext cx="10972800" cy="365760"/>
          </a:xfrm>
          <a:prstGeom prst="rect">
            <a:avLst/>
          </a:prstGeom>
          <a:noFill/>
          <a:ln/>
        </p:spPr>
        <p:txBody>
          <a:bodyPr wrap="square" lIns="0" tIns="0" rIns="0" bIns="0" rtlCol="0" anchor="t"/>
          <a:lstStyle/>
          <a:p>
            <a:r>
              <a:rPr lang="en-US" sz="1600" dirty="0">
                <a:solidFill>
                  <a:schemeClr val="accent5"/>
                </a:solidFill>
              </a:rPr>
              <a:t>Maksimal 2 kali reminder per booking; tidak ada reminder ke-3.</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lIns="0" tIns="0" rIns="0" bIns="0" rtlCol="0" anchor="ctr"/>
          <a:lstStyle/>
          <a:p>
            <a:r>
              <a:rPr lang="en-US" dirty="0"/>
              <a:t>Ringkasan perbedaan</a:t>
            </a:r>
          </a:p>
        </p:txBody>
      </p:sp>
      <p:sp>
        <p:nvSpPr>
          <p:cNvPr id="3" name="Header aspek"/>
          <p:cNvSpPr/>
          <p:nvPr/>
        </p:nvSpPr>
        <p:spPr>
          <a:xfrm>
            <a:off x="609600" y="1463040"/>
            <a:ext cx="2682240" cy="609600"/>
          </a:xfrm>
          <a:prstGeom prst="roundRect">
            <a:avLst>
              <a:gd name="adj" fmla="val 12000"/>
            </a:avLst>
          </a:prstGeom>
          <a:solidFill>
            <a:schemeClr val="bg1"/>
          </a:solidFill>
          <a:ln w="6350">
            <a:solidFill>
              <a:schemeClr val="bg1"/>
            </a:solidFill>
            <a:prstDash val="solid"/>
          </a:ln>
        </p:spPr>
      </p:sp>
      <p:sp>
        <p:nvSpPr>
          <p:cNvPr id="4" name="Judul aspek"/>
          <p:cNvSpPr txBox="1"/>
          <p:nvPr/>
        </p:nvSpPr>
        <p:spPr>
          <a:xfrm>
            <a:off x="731520" y="1463040"/>
            <a:ext cx="2438400" cy="609600"/>
          </a:xfrm>
          <a:prstGeom prst="rect">
            <a:avLst/>
          </a:prstGeom>
          <a:noFill/>
          <a:ln/>
        </p:spPr>
        <p:txBody>
          <a:bodyPr wrap="square" lIns="0" tIns="0" rIns="0" bIns="0" rtlCol="0" anchor="ctr"/>
          <a:lstStyle/>
          <a:p>
            <a:r>
              <a:rPr lang="en-US" sz="1867" b="1" dirty="0">
                <a:solidFill>
                  <a:schemeClr val="tx2"/>
                </a:solidFill>
              </a:rPr>
              <a:t>Aspek</a:t>
            </a:r>
            <a:endParaRPr lang="en-US" sz="1867" dirty="0"/>
          </a:p>
        </p:txBody>
      </p:sp>
      <p:sp>
        <p:nvSpPr>
          <p:cNvPr id="5" name="Header manual"/>
          <p:cNvSpPr txBox="1"/>
          <p:nvPr/>
        </p:nvSpPr>
        <p:spPr>
          <a:xfrm>
            <a:off x="3413760" y="1463040"/>
            <a:ext cx="4084320" cy="609600"/>
          </a:xfrm>
          <a:prstGeom prst="roundRect">
            <a:avLst>
              <a:gd name="adj" fmla="val 16000"/>
            </a:avLst>
          </a:prstGeom>
          <a:solidFill>
            <a:schemeClr val="accent5"/>
          </a:solidFill>
          <a:ln/>
        </p:spPr>
        <p:txBody>
          <a:bodyPr wrap="square" lIns="1355" tIns="1355" rIns="1355" bIns="1355" rtlCol="0" anchor="ctr"/>
          <a:lstStyle/>
          <a:p>
            <a:pPr algn="ctr"/>
            <a:r>
              <a:rPr lang="en-US" sz="1867" b="1" dirty="0">
                <a:solidFill>
                  <a:schemeClr val="bg1"/>
                </a:solidFill>
              </a:rPr>
              <a:t>Manual</a:t>
            </a:r>
            <a:endParaRPr lang="en-US" sz="1867" dirty="0"/>
          </a:p>
        </p:txBody>
      </p:sp>
      <p:sp>
        <p:nvSpPr>
          <p:cNvPr id="6" name="Header skill"/>
          <p:cNvSpPr txBox="1"/>
          <p:nvPr/>
        </p:nvSpPr>
        <p:spPr>
          <a:xfrm>
            <a:off x="7620000" y="1463040"/>
            <a:ext cx="3962400" cy="609600"/>
          </a:xfrm>
          <a:prstGeom prst="roundRect">
            <a:avLst>
              <a:gd name="adj" fmla="val 16000"/>
            </a:avLst>
          </a:prstGeom>
          <a:solidFill>
            <a:schemeClr val="accent1"/>
          </a:solidFill>
          <a:ln/>
        </p:spPr>
        <p:txBody>
          <a:bodyPr wrap="square" lIns="1355" tIns="1355" rIns="1355" bIns="1355" rtlCol="0" anchor="ctr"/>
          <a:lstStyle/>
          <a:p>
            <a:pPr algn="ctr"/>
            <a:r>
              <a:rPr lang="en-US" sz="1867" b="1" dirty="0">
                <a:solidFill>
                  <a:schemeClr val="tx2"/>
                </a:solidFill>
              </a:rPr>
              <a:t>Dengan skill</a:t>
            </a:r>
            <a:endParaRPr lang="en-US" sz="1867" dirty="0"/>
          </a:p>
        </p:txBody>
      </p:sp>
      <p:sp>
        <p:nvSpPr>
          <p:cNvPr id="7" name="Baris 1"/>
          <p:cNvSpPr/>
          <p:nvPr/>
        </p:nvSpPr>
        <p:spPr>
          <a:xfrm>
            <a:off x="609600" y="2194560"/>
            <a:ext cx="10972800" cy="658368"/>
          </a:xfrm>
          <a:prstGeom prst="roundRect">
            <a:avLst>
              <a:gd name="adj" fmla="val 11111"/>
            </a:avLst>
          </a:prstGeom>
          <a:solidFill>
            <a:schemeClr val="bg2"/>
          </a:solidFill>
          <a:ln w="6350">
            <a:solidFill>
              <a:schemeClr val="bg2"/>
            </a:solidFill>
            <a:prstDash val="solid"/>
          </a:ln>
        </p:spPr>
      </p:sp>
      <p:sp>
        <p:nvSpPr>
          <p:cNvPr id="8" name="Aspek 1"/>
          <p:cNvSpPr txBox="1"/>
          <p:nvPr/>
        </p:nvSpPr>
        <p:spPr>
          <a:xfrm>
            <a:off x="731520" y="2194560"/>
            <a:ext cx="2560320" cy="658368"/>
          </a:xfrm>
          <a:prstGeom prst="rect">
            <a:avLst/>
          </a:prstGeom>
          <a:noFill/>
          <a:ln/>
        </p:spPr>
        <p:txBody>
          <a:bodyPr wrap="square" lIns="0" tIns="0" rIns="0" bIns="0" rtlCol="0" anchor="ctr"/>
          <a:lstStyle/>
          <a:p>
            <a:r>
              <a:rPr lang="en-US" sz="1867" b="1" dirty="0">
                <a:solidFill>
                  <a:schemeClr val="tx2"/>
                </a:solidFill>
              </a:rPr>
              <a:t>Cari thread</a:t>
            </a:r>
            <a:endParaRPr lang="en-US" sz="1867" dirty="0"/>
          </a:p>
        </p:txBody>
      </p:sp>
      <p:sp>
        <p:nvSpPr>
          <p:cNvPr id="9" name="Manual 1"/>
          <p:cNvSpPr txBox="1"/>
          <p:nvPr/>
        </p:nvSpPr>
        <p:spPr>
          <a:xfrm>
            <a:off x="3413760" y="2194560"/>
            <a:ext cx="3962400" cy="658368"/>
          </a:xfrm>
          <a:prstGeom prst="rect">
            <a:avLst/>
          </a:prstGeom>
          <a:noFill/>
          <a:ln/>
        </p:spPr>
        <p:txBody>
          <a:bodyPr wrap="square" lIns="0" tIns="0" rIns="0" bIns="0" rtlCol="0" anchor="ctr"/>
          <a:lstStyle/>
          <a:p>
            <a:r>
              <a:rPr lang="en-US" sz="1600" dirty="0"/>
              <a:t>Cari satu per satu di folder besar</a:t>
            </a:r>
          </a:p>
        </p:txBody>
      </p:sp>
      <p:sp>
        <p:nvSpPr>
          <p:cNvPr id="10" name="Skill 1"/>
          <p:cNvSpPr txBox="1"/>
          <p:nvPr/>
        </p:nvSpPr>
        <p:spPr>
          <a:xfrm>
            <a:off x="7620000" y="2194560"/>
            <a:ext cx="3840480" cy="658368"/>
          </a:xfrm>
          <a:prstGeom prst="rect">
            <a:avLst/>
          </a:prstGeom>
          <a:noFill/>
          <a:ln/>
        </p:spPr>
        <p:txBody>
          <a:bodyPr wrap="square" lIns="0" tIns="0" rIns="0" bIns="0" rtlCol="0" anchor="ctr"/>
          <a:lstStyle/>
          <a:p>
            <a:r>
              <a:rPr lang="en-US" sz="1600" dirty="0"/>
              <a:t>Pencarian berfilter, thread tidak ketemu ditandai</a:t>
            </a:r>
          </a:p>
        </p:txBody>
      </p:sp>
      <p:sp>
        <p:nvSpPr>
          <p:cNvPr id="11" name="Baris 2"/>
          <p:cNvSpPr/>
          <p:nvPr/>
        </p:nvSpPr>
        <p:spPr>
          <a:xfrm>
            <a:off x="609600" y="2950464"/>
            <a:ext cx="10972800" cy="658368"/>
          </a:xfrm>
          <a:prstGeom prst="roundRect">
            <a:avLst>
              <a:gd name="adj" fmla="val 11111"/>
            </a:avLst>
          </a:prstGeom>
          <a:solidFill>
            <a:schemeClr val="bg2"/>
          </a:solidFill>
          <a:ln w="6350">
            <a:solidFill>
              <a:schemeClr val="bg2"/>
            </a:solidFill>
            <a:prstDash val="solid"/>
          </a:ln>
        </p:spPr>
      </p:sp>
      <p:sp>
        <p:nvSpPr>
          <p:cNvPr id="12" name="Aspek 2"/>
          <p:cNvSpPr txBox="1"/>
          <p:nvPr/>
        </p:nvSpPr>
        <p:spPr>
          <a:xfrm>
            <a:off x="731520" y="2950464"/>
            <a:ext cx="2560320" cy="658368"/>
          </a:xfrm>
          <a:prstGeom prst="rect">
            <a:avLst/>
          </a:prstGeom>
          <a:noFill/>
          <a:ln/>
        </p:spPr>
        <p:txBody>
          <a:bodyPr wrap="square" lIns="0" tIns="0" rIns="0" bIns="0" rtlCol="0" anchor="ctr"/>
          <a:lstStyle/>
          <a:p>
            <a:r>
              <a:rPr lang="en-US" sz="1867" b="1" dirty="0">
                <a:solidFill>
                  <a:schemeClr val="tx2"/>
                </a:solidFill>
              </a:rPr>
              <a:t>Penulisan email</a:t>
            </a:r>
            <a:endParaRPr lang="en-US" sz="1867" dirty="0"/>
          </a:p>
        </p:txBody>
      </p:sp>
      <p:sp>
        <p:nvSpPr>
          <p:cNvPr id="13" name="Manual 2"/>
          <p:cNvSpPr txBox="1"/>
          <p:nvPr/>
        </p:nvSpPr>
        <p:spPr>
          <a:xfrm>
            <a:off x="3413760" y="2950464"/>
            <a:ext cx="3962400" cy="658368"/>
          </a:xfrm>
          <a:prstGeom prst="rect">
            <a:avLst/>
          </a:prstGeom>
          <a:noFill/>
          <a:ln/>
        </p:spPr>
        <p:txBody>
          <a:bodyPr wrap="square" lIns="0" tIns="0" rIns="0" bIns="0" rtlCol="0" anchor="ctr"/>
          <a:lstStyle/>
          <a:p>
            <a:r>
              <a:rPr lang="en-US" sz="1600" dirty="0"/>
              <a:t>Ketik ulang tiap booking</a:t>
            </a:r>
          </a:p>
        </p:txBody>
      </p:sp>
      <p:sp>
        <p:nvSpPr>
          <p:cNvPr id="14" name="Skill 2"/>
          <p:cNvSpPr txBox="1"/>
          <p:nvPr/>
        </p:nvSpPr>
        <p:spPr>
          <a:xfrm>
            <a:off x="7620000" y="2950464"/>
            <a:ext cx="3840480" cy="658368"/>
          </a:xfrm>
          <a:prstGeom prst="rect">
            <a:avLst/>
          </a:prstGeom>
          <a:noFill/>
          <a:ln/>
        </p:spPr>
        <p:txBody>
          <a:bodyPr wrap="square" lIns="0" tIns="0" rIns="0" bIns="0" rtlCol="0" anchor="ctr"/>
          <a:lstStyle/>
          <a:p>
            <a:r>
              <a:rPr lang="en-US" sz="1600" dirty="0"/>
              <a:t>Isi baku, penerima dan subject otomatis</a:t>
            </a:r>
          </a:p>
        </p:txBody>
      </p:sp>
      <p:sp>
        <p:nvSpPr>
          <p:cNvPr id="15" name="Baris 3"/>
          <p:cNvSpPr/>
          <p:nvPr/>
        </p:nvSpPr>
        <p:spPr>
          <a:xfrm>
            <a:off x="609600" y="3706368"/>
            <a:ext cx="10972800" cy="658368"/>
          </a:xfrm>
          <a:prstGeom prst="roundRect">
            <a:avLst>
              <a:gd name="adj" fmla="val 11111"/>
            </a:avLst>
          </a:prstGeom>
          <a:solidFill>
            <a:schemeClr val="bg2"/>
          </a:solidFill>
          <a:ln w="6350">
            <a:solidFill>
              <a:schemeClr val="bg2"/>
            </a:solidFill>
            <a:prstDash val="solid"/>
          </a:ln>
        </p:spPr>
      </p:sp>
      <p:sp>
        <p:nvSpPr>
          <p:cNvPr id="16" name="Aspek 3"/>
          <p:cNvSpPr txBox="1"/>
          <p:nvPr/>
        </p:nvSpPr>
        <p:spPr>
          <a:xfrm>
            <a:off x="731520" y="3706368"/>
            <a:ext cx="2560320" cy="658368"/>
          </a:xfrm>
          <a:prstGeom prst="rect">
            <a:avLst/>
          </a:prstGeom>
          <a:noFill/>
          <a:ln/>
        </p:spPr>
        <p:txBody>
          <a:bodyPr wrap="square" lIns="0" tIns="0" rIns="0" bIns="0" rtlCol="0" anchor="ctr"/>
          <a:lstStyle/>
          <a:p>
            <a:r>
              <a:rPr lang="en-US" sz="1867" b="1" dirty="0">
                <a:solidFill>
                  <a:schemeClr val="tx2"/>
                </a:solidFill>
              </a:rPr>
              <a:t>Pencatatan</a:t>
            </a:r>
            <a:endParaRPr lang="en-US" sz="1867" dirty="0"/>
          </a:p>
        </p:txBody>
      </p:sp>
      <p:sp>
        <p:nvSpPr>
          <p:cNvPr id="17" name="Manual 3"/>
          <p:cNvSpPr txBox="1"/>
          <p:nvPr/>
        </p:nvSpPr>
        <p:spPr>
          <a:xfrm>
            <a:off x="3413760" y="3706368"/>
            <a:ext cx="3962400" cy="658368"/>
          </a:xfrm>
          <a:prstGeom prst="rect">
            <a:avLst/>
          </a:prstGeom>
          <a:noFill/>
          <a:ln/>
        </p:spPr>
        <p:txBody>
          <a:bodyPr wrap="square" lIns="0" tIns="0" rIns="0" bIns="0" rtlCol="0" anchor="ctr"/>
          <a:lstStyle/>
          <a:p>
            <a:r>
              <a:rPr lang="en-US" sz="1600" dirty="0"/>
              <a:t>Catat sendiri di Excel</a:t>
            </a:r>
          </a:p>
        </p:txBody>
      </p:sp>
      <p:sp>
        <p:nvSpPr>
          <p:cNvPr id="18" name="Skill 3"/>
          <p:cNvSpPr txBox="1"/>
          <p:nvPr/>
        </p:nvSpPr>
        <p:spPr>
          <a:xfrm>
            <a:off x="7620000" y="3706368"/>
            <a:ext cx="3840480" cy="658368"/>
          </a:xfrm>
          <a:prstGeom prst="rect">
            <a:avLst/>
          </a:prstGeom>
          <a:noFill/>
          <a:ln/>
        </p:spPr>
        <p:txBody>
          <a:bodyPr wrap="square" lIns="0" tIns="0" rIns="0" bIns="0" rtlCol="0" anchor="ctr"/>
          <a:lstStyle/>
          <a:p>
            <a:r>
              <a:rPr lang="en-US" sz="1600" dirty="0"/>
              <a:t>Laporan CSV dan Excel klasifikasi</a:t>
            </a:r>
          </a:p>
        </p:txBody>
      </p:sp>
      <p:sp>
        <p:nvSpPr>
          <p:cNvPr id="19" name="Baris 4"/>
          <p:cNvSpPr/>
          <p:nvPr/>
        </p:nvSpPr>
        <p:spPr>
          <a:xfrm>
            <a:off x="609600" y="4462272"/>
            <a:ext cx="10972800" cy="658368"/>
          </a:xfrm>
          <a:prstGeom prst="roundRect">
            <a:avLst>
              <a:gd name="adj" fmla="val 11111"/>
            </a:avLst>
          </a:prstGeom>
          <a:solidFill>
            <a:schemeClr val="bg2"/>
          </a:solidFill>
          <a:ln w="6350">
            <a:solidFill>
              <a:schemeClr val="bg2"/>
            </a:solidFill>
            <a:prstDash val="solid"/>
          </a:ln>
        </p:spPr>
      </p:sp>
      <p:sp>
        <p:nvSpPr>
          <p:cNvPr id="20" name="Aspek 4"/>
          <p:cNvSpPr txBox="1"/>
          <p:nvPr/>
        </p:nvSpPr>
        <p:spPr>
          <a:xfrm>
            <a:off x="731520" y="4462272"/>
            <a:ext cx="2560320" cy="658368"/>
          </a:xfrm>
          <a:prstGeom prst="rect">
            <a:avLst/>
          </a:prstGeom>
          <a:noFill/>
          <a:ln/>
        </p:spPr>
        <p:txBody>
          <a:bodyPr wrap="square" lIns="0" tIns="0" rIns="0" bIns="0" rtlCol="0" anchor="ctr"/>
          <a:lstStyle/>
          <a:p>
            <a:r>
              <a:rPr lang="en-US" sz="1867" b="1" dirty="0">
                <a:solidFill>
                  <a:schemeClr val="tx2"/>
                </a:solidFill>
              </a:rPr>
              <a:t>Reminder</a:t>
            </a:r>
            <a:endParaRPr lang="en-US" sz="1867" dirty="0"/>
          </a:p>
        </p:txBody>
      </p:sp>
      <p:sp>
        <p:nvSpPr>
          <p:cNvPr id="21" name="Manual 4"/>
          <p:cNvSpPr txBox="1"/>
          <p:nvPr/>
        </p:nvSpPr>
        <p:spPr>
          <a:xfrm>
            <a:off x="3413760" y="4462272"/>
            <a:ext cx="3962400" cy="658368"/>
          </a:xfrm>
          <a:prstGeom prst="rect">
            <a:avLst/>
          </a:prstGeom>
          <a:noFill/>
          <a:ln/>
        </p:spPr>
        <p:txBody>
          <a:bodyPr wrap="square" lIns="0" tIns="0" rIns="0" bIns="0" rtlCol="0" anchor="ctr"/>
          <a:lstStyle/>
          <a:p>
            <a:r>
              <a:rPr lang="en-US" sz="1600" dirty="0"/>
              <a:t>Hitung manual</a:t>
            </a:r>
          </a:p>
        </p:txBody>
      </p:sp>
      <p:sp>
        <p:nvSpPr>
          <p:cNvPr id="22" name="Skill 4"/>
          <p:cNvSpPr txBox="1"/>
          <p:nvPr/>
        </p:nvSpPr>
        <p:spPr>
          <a:xfrm>
            <a:off x="7620000" y="4462272"/>
            <a:ext cx="3840480" cy="658368"/>
          </a:xfrm>
          <a:prstGeom prst="rect">
            <a:avLst/>
          </a:prstGeom>
          <a:noFill/>
          <a:ln/>
        </p:spPr>
        <p:txBody>
          <a:bodyPr wrap="square" lIns="0" tIns="0" rIns="0" bIns="0" rtlCol="0" anchor="ctr"/>
          <a:lstStyle/>
          <a:p>
            <a:r>
              <a:rPr lang="en-US" sz="1600" dirty="0"/>
              <a:t>Batas 2 kali dijaga skill</a:t>
            </a:r>
          </a:p>
        </p:txBody>
      </p:sp>
      <p:sp>
        <p:nvSpPr>
          <p:cNvPr id="23" name="Baris 5"/>
          <p:cNvSpPr/>
          <p:nvPr/>
        </p:nvSpPr>
        <p:spPr>
          <a:xfrm>
            <a:off x="609600" y="5218176"/>
            <a:ext cx="10972800" cy="658368"/>
          </a:xfrm>
          <a:prstGeom prst="roundRect">
            <a:avLst>
              <a:gd name="adj" fmla="val 11111"/>
            </a:avLst>
          </a:prstGeom>
          <a:solidFill>
            <a:schemeClr val="bg2"/>
          </a:solidFill>
          <a:ln w="6350">
            <a:solidFill>
              <a:schemeClr val="bg2"/>
            </a:solidFill>
            <a:prstDash val="solid"/>
          </a:ln>
        </p:spPr>
      </p:sp>
      <p:sp>
        <p:nvSpPr>
          <p:cNvPr id="24" name="Aspek 5"/>
          <p:cNvSpPr txBox="1"/>
          <p:nvPr/>
        </p:nvSpPr>
        <p:spPr>
          <a:xfrm>
            <a:off x="731520" y="5218176"/>
            <a:ext cx="2560320" cy="658368"/>
          </a:xfrm>
          <a:prstGeom prst="rect">
            <a:avLst/>
          </a:prstGeom>
          <a:noFill/>
          <a:ln/>
        </p:spPr>
        <p:txBody>
          <a:bodyPr wrap="square" lIns="0" tIns="0" rIns="0" bIns="0" rtlCol="0" anchor="ctr"/>
          <a:lstStyle/>
          <a:p>
            <a:r>
              <a:rPr lang="en-US" sz="1867" b="1" dirty="0">
                <a:solidFill>
                  <a:schemeClr val="tx2"/>
                </a:solidFill>
              </a:rPr>
              <a:t>Kontrol</a:t>
            </a:r>
            <a:endParaRPr lang="en-US" sz="1867" dirty="0"/>
          </a:p>
        </p:txBody>
      </p:sp>
      <p:sp>
        <p:nvSpPr>
          <p:cNvPr id="25" name="Manual 5"/>
          <p:cNvSpPr txBox="1"/>
          <p:nvPr/>
        </p:nvSpPr>
        <p:spPr>
          <a:xfrm>
            <a:off x="3413760" y="5218176"/>
            <a:ext cx="3962400" cy="658368"/>
          </a:xfrm>
          <a:prstGeom prst="rect">
            <a:avLst/>
          </a:prstGeom>
          <a:noFill/>
          <a:ln/>
        </p:spPr>
        <p:txBody>
          <a:bodyPr wrap="square" lIns="0" tIns="0" rIns="0" bIns="0" rtlCol="0" anchor="ctr"/>
          <a:lstStyle/>
          <a:p>
            <a:r>
              <a:rPr lang="en-US" sz="1600" dirty="0"/>
              <a:t>Anda kirim email</a:t>
            </a:r>
          </a:p>
        </p:txBody>
      </p:sp>
      <p:sp>
        <p:nvSpPr>
          <p:cNvPr id="26" name="Skill 5"/>
          <p:cNvSpPr txBox="1"/>
          <p:nvPr/>
        </p:nvSpPr>
        <p:spPr>
          <a:xfrm>
            <a:off x="7620000" y="5218176"/>
            <a:ext cx="3840480" cy="658368"/>
          </a:xfrm>
          <a:prstGeom prst="rect">
            <a:avLst/>
          </a:prstGeom>
          <a:noFill/>
          <a:ln/>
        </p:spPr>
        <p:txBody>
          <a:bodyPr wrap="square" lIns="0" tIns="0" rIns="0" bIns="0" rtlCol="0" anchor="ctr"/>
          <a:lstStyle/>
          <a:p>
            <a:r>
              <a:rPr lang="en-US" sz="1600" dirty="0"/>
              <a:t>Tetap draft saja, Anda yang kirim</a:t>
            </a:r>
          </a:p>
        </p:txBody>
      </p:sp>
      <p:sp>
        <p:nvSpPr>
          <p:cNvPr id="27"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3 · PROFORMA LOADING</a:t>
            </a:r>
            <a:endParaRPr lang="en-US" sz="1400" dirty="0"/>
          </a:p>
        </p:txBody>
      </p:sp>
      <p:sp>
        <p:nvSpPr>
          <p:cNvPr id="3" name="Text 1"/>
          <p:cNvSpPr>
            <a:spLocks noGrp="1"/>
          </p:cNvSpPr>
          <p:nvPr>
            <p:ph type="title"/>
          </p:nvPr>
        </p:nvSpPr>
        <p:spPr>
          <a:xfrm>
            <a:off x="812800" y="11379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Proforma loading: dari ±4 jam jadi ±51 menit</a:t>
            </a:r>
            <a:endParaRPr lang="en-US" sz="3200" dirty="0"/>
          </a:p>
        </p:txBody>
      </p:sp>
      <p:sp>
        <p:nvSpPr>
          <p:cNvPr id="4" name="Shape 2"/>
          <p:cNvSpPr/>
          <p:nvPr/>
        </p:nvSpPr>
        <p:spPr>
          <a:xfrm>
            <a:off x="812800" y="1838964"/>
            <a:ext cx="3556000" cy="3703320"/>
          </a:xfrm>
          <a:prstGeom prst="roundRect">
            <a:avLst>
              <a:gd name="adj" fmla="val 3571"/>
            </a:avLst>
          </a:prstGeom>
          <a:solidFill>
            <a:srgbClr val="12263F"/>
          </a:solidFill>
          <a:ln/>
        </p:spPr>
      </p:sp>
      <p:sp>
        <p:nvSpPr>
          <p:cNvPr id="5" name="Text 3"/>
          <p:cNvSpPr/>
          <p:nvPr/>
        </p:nvSpPr>
        <p:spPr>
          <a:xfrm>
            <a:off x="1066800" y="2092964"/>
            <a:ext cx="3139440" cy="635000"/>
          </a:xfrm>
          <a:prstGeom prst="rect">
            <a:avLst/>
          </a:prstGeom>
          <a:noFill/>
          <a:ln/>
        </p:spPr>
        <p:txBody>
          <a:bodyPr wrap="square" lIns="0" tIns="0" rIns="0" bIns="0" rtlCol="0" anchor="t">
            <a:normAutofit lnSpcReduction="10000"/>
          </a:bodyPr>
          <a:lstStyle/>
          <a:p>
            <a:pPr marL="0" indent="0" algn="l">
              <a:lnSpc>
                <a:spcPts val="4800"/>
              </a:lnSpc>
              <a:buNone/>
            </a:pPr>
            <a:r>
              <a:rPr lang="en-US" sz="4800" b="1" dirty="0">
                <a:solidFill>
                  <a:srgbClr val="F6F4EE"/>
                </a:solidFill>
                <a:latin typeface="Rubik" pitchFamily="34" charset="0"/>
                <a:ea typeface="Rubik" pitchFamily="34" charset="-122"/>
                <a:cs typeface="Rubik" pitchFamily="34" charset="-120"/>
              </a:rPr>
              <a:t>255 → 51</a:t>
            </a:r>
            <a:endParaRPr lang="en-US" sz="4800" dirty="0"/>
          </a:p>
        </p:txBody>
      </p:sp>
      <p:sp>
        <p:nvSpPr>
          <p:cNvPr id="6" name="Text 4"/>
          <p:cNvSpPr/>
          <p:nvPr/>
        </p:nvSpPr>
        <p:spPr>
          <a:xfrm>
            <a:off x="1066800" y="2791464"/>
            <a:ext cx="313944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E"/>
                </a:solidFill>
                <a:latin typeface="Nunito Sans" pitchFamily="34" charset="0"/>
                <a:ea typeface="Nunito Sans" pitchFamily="34" charset="-122"/>
                <a:cs typeface="Nunito Sans" pitchFamily="34" charset="-120"/>
              </a:rPr>
              <a:t>menit per proses</a:t>
            </a:r>
            <a:endParaRPr lang="en-US" sz="1600" dirty="0"/>
          </a:p>
        </p:txBody>
      </p:sp>
      <p:sp>
        <p:nvSpPr>
          <p:cNvPr id="7" name="Text 5"/>
          <p:cNvSpPr/>
          <p:nvPr/>
        </p:nvSpPr>
        <p:spPr>
          <a:xfrm>
            <a:off x="1066800" y="3164842"/>
            <a:ext cx="3139440" cy="584200"/>
          </a:xfrm>
          <a:prstGeom prst="rect">
            <a:avLst/>
          </a:prstGeom>
          <a:noFill/>
          <a:ln/>
        </p:spPr>
        <p:txBody>
          <a:bodyPr wrap="square" lIns="0" tIns="0" rIns="0" bIns="0" rtlCol="0" anchor="t">
            <a:normAutofit fontScale="92500"/>
          </a:bodyPr>
          <a:lstStyle/>
          <a:p>
            <a:pPr marL="0" indent="0" algn="l">
              <a:lnSpc>
                <a:spcPts val="4400"/>
              </a:lnSpc>
              <a:buNone/>
            </a:pPr>
            <a:r>
              <a:rPr lang="en-US" sz="4400" b="1" dirty="0">
                <a:solidFill>
                  <a:srgbClr val="F2A05E"/>
                </a:solidFill>
                <a:latin typeface="Rubik" pitchFamily="34" charset="0"/>
                <a:ea typeface="Rubik" pitchFamily="34" charset="-122"/>
                <a:cs typeface="Rubik" pitchFamily="34" charset="-120"/>
              </a:rPr>
              <a:t>−80%</a:t>
            </a:r>
            <a:endParaRPr lang="en-US" sz="4400" dirty="0"/>
          </a:p>
        </p:txBody>
      </p:sp>
      <p:sp>
        <p:nvSpPr>
          <p:cNvPr id="8" name="Text 6"/>
          <p:cNvSpPr/>
          <p:nvPr/>
        </p:nvSpPr>
        <p:spPr>
          <a:xfrm>
            <a:off x="1066800" y="3812542"/>
            <a:ext cx="3139440"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Nunito Sans" pitchFamily="34" charset="0"/>
                <a:ea typeface="Nunito Sans" pitchFamily="34" charset="-122"/>
                <a:cs typeface="Nunito Sans" pitchFamily="34" charset="-120"/>
              </a:rPr>
              <a:t>AI mengerjakan yang berulang. Manusia mengambil data, memutuskan, dan mengirim.</a:t>
            </a:r>
            <a:endParaRPr lang="en-US" sz="1400" dirty="0"/>
          </a:p>
        </p:txBody>
      </p:sp>
      <p:sp>
        <p:nvSpPr>
          <p:cNvPr id="9" name="Text 7"/>
          <p:cNvSpPr/>
          <p:nvPr/>
        </p:nvSpPr>
        <p:spPr>
          <a:xfrm>
            <a:off x="1066800" y="4648200"/>
            <a:ext cx="313944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Nunito Sans" pitchFamily="34" charset="0"/>
                <a:ea typeface="Nunito Sans" pitchFamily="34" charset="-122"/>
                <a:cs typeface="Nunito Sans" pitchFamily="34" charset="-120"/>
              </a:rPr>
              <a:t>Estimasi satu kali proses (±6 voyage, ±300 booking), data diperbarui jam 11.00 dan 16.00.</a:t>
            </a:r>
            <a:endParaRPr lang="en-US" sz="1200" dirty="0"/>
          </a:p>
        </p:txBody>
      </p:sp>
      <p:sp>
        <p:nvSpPr>
          <p:cNvPr id="10" name="Shape 8"/>
          <p:cNvSpPr/>
          <p:nvPr/>
        </p:nvSpPr>
        <p:spPr>
          <a:xfrm>
            <a:off x="4575175" y="1842139"/>
            <a:ext cx="6800850" cy="471170"/>
          </a:xfrm>
          <a:prstGeom prst="roundRect">
            <a:avLst>
              <a:gd name="adj" fmla="val 20889"/>
            </a:avLst>
          </a:prstGeom>
          <a:solidFill>
            <a:srgbClr val="FFFDF8"/>
          </a:solidFill>
          <a:ln w="6350">
            <a:solidFill>
              <a:srgbClr val="E2DDD0"/>
            </a:solidFill>
            <a:prstDash val="solid"/>
          </a:ln>
        </p:spPr>
      </p:sp>
      <p:sp>
        <p:nvSpPr>
          <p:cNvPr id="11" name="Text 9"/>
          <p:cNvSpPr/>
          <p:nvPr/>
        </p:nvSpPr>
        <p:spPr>
          <a:xfrm>
            <a:off x="4729480" y="1932942"/>
            <a:ext cx="1460500" cy="289560"/>
          </a:xfrm>
          <a:custGeom>
            <a:avLst/>
            <a:gdLst/>
            <a:ahLst/>
            <a:cxnLst/>
            <a:rect l="l" t="t" r="r" b="b"/>
            <a:pathLst>
              <a:path w="1460500" h="289560">
                <a:moveTo>
                  <a:pt x="144780" y="0"/>
                </a:moveTo>
                <a:lnTo>
                  <a:pt x="1315720" y="0"/>
                </a:lnTo>
                <a:arcTo wR="144780" hR="144780" stAng="16200000" swAng="5400000"/>
                <a:lnTo>
                  <a:pt x="1460500" y="144780"/>
                </a:lnTo>
                <a:arcTo wR="144780" hR="144780" stAng="0" swAng="5400000"/>
                <a:lnTo>
                  <a:pt x="144780" y="289560"/>
                </a:lnTo>
                <a:arcTo wR="144780" hR="144780" stAng="5400000" swAng="5400000"/>
                <a:lnTo>
                  <a:pt x="0" y="144780"/>
                </a:lnTo>
                <a:arcTo wR="144780" hR="144780" stAng="10800000" swAng="5400000"/>
                <a:close/>
              </a:path>
            </a:pathLst>
          </a:custGeom>
          <a:solidFill>
            <a:srgbClr val="12263F"/>
          </a:solidFill>
          <a:ln/>
        </p:spPr>
        <p:txBody>
          <a:bodyPr wrap="square" lIns="0" tIns="38100" rIns="0" bIns="12700" rtlCol="0" anchor="t">
            <a:normAutofit/>
          </a:bodyPr>
          <a:lstStyle/>
          <a:p>
            <a:pPr marL="0" indent="0" algn="ctr">
              <a:lnSpc>
                <a:spcPts val="1680"/>
              </a:lnSpc>
              <a:buNone/>
            </a:pPr>
            <a:r>
              <a:rPr lang="en-US" sz="1200" b="1" dirty="0">
                <a:solidFill>
                  <a:srgbClr val="F6F4EE"/>
                </a:solidFill>
                <a:latin typeface="Nunito Sans" pitchFamily="34" charset="0"/>
                <a:ea typeface="Nunito Sans" pitchFamily="34" charset="-122"/>
                <a:cs typeface="Nunito Sans" pitchFamily="34" charset="-120"/>
              </a:rPr>
              <a:t>MANUSIA</a:t>
            </a:r>
            <a:endParaRPr lang="en-US" sz="1200" dirty="0"/>
          </a:p>
        </p:txBody>
      </p:sp>
      <p:sp>
        <p:nvSpPr>
          <p:cNvPr id="12" name="Text 10"/>
          <p:cNvSpPr/>
          <p:nvPr/>
        </p:nvSpPr>
        <p:spPr>
          <a:xfrm>
            <a:off x="6316980" y="1944371"/>
            <a:ext cx="415264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263F"/>
                </a:solidFill>
                <a:latin typeface="Nunito Sans" pitchFamily="34" charset="0"/>
                <a:ea typeface="Nunito Sans" pitchFamily="34" charset="-122"/>
                <a:cs typeface="Nunito Sans" pitchFamily="34" charset="-120"/>
              </a:rPr>
              <a:t>Unduh data dari portal</a:t>
            </a:r>
            <a:endParaRPr lang="en-US" sz="1500" dirty="0"/>
          </a:p>
        </p:txBody>
      </p:sp>
      <p:sp>
        <p:nvSpPr>
          <p:cNvPr id="13" name="Text 11"/>
          <p:cNvSpPr/>
          <p:nvPr/>
        </p:nvSpPr>
        <p:spPr>
          <a:xfrm>
            <a:off x="10475675" y="1944371"/>
            <a:ext cx="8952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Nunito Sans" pitchFamily="34" charset="0"/>
                <a:ea typeface="Nunito Sans" pitchFamily="34" charset="-122"/>
                <a:cs typeface="Nunito Sans" pitchFamily="34" charset="-120"/>
              </a:rPr>
              <a:t>±10 mnt</a:t>
            </a:r>
            <a:endParaRPr lang="en-US" sz="1500" dirty="0"/>
          </a:p>
        </p:txBody>
      </p:sp>
      <p:sp>
        <p:nvSpPr>
          <p:cNvPr id="14" name="Shape 12"/>
          <p:cNvSpPr/>
          <p:nvPr/>
        </p:nvSpPr>
        <p:spPr>
          <a:xfrm>
            <a:off x="4575175" y="2408554"/>
            <a:ext cx="6800850" cy="471170"/>
          </a:xfrm>
          <a:prstGeom prst="roundRect">
            <a:avLst>
              <a:gd name="adj" fmla="val 20889"/>
            </a:avLst>
          </a:prstGeom>
          <a:solidFill>
            <a:srgbClr val="FFFDF8"/>
          </a:solidFill>
          <a:ln w="6350">
            <a:solidFill>
              <a:srgbClr val="E2DDD0"/>
            </a:solidFill>
            <a:prstDash val="solid"/>
          </a:ln>
        </p:spPr>
      </p:sp>
      <p:sp>
        <p:nvSpPr>
          <p:cNvPr id="15" name="Text 13"/>
          <p:cNvSpPr/>
          <p:nvPr/>
        </p:nvSpPr>
        <p:spPr>
          <a:xfrm>
            <a:off x="4729480" y="2499364"/>
            <a:ext cx="1460500" cy="289560"/>
          </a:xfrm>
          <a:custGeom>
            <a:avLst/>
            <a:gdLst/>
            <a:ahLst/>
            <a:cxnLst/>
            <a:rect l="l" t="t" r="r" b="b"/>
            <a:pathLst>
              <a:path w="1460500" h="289560">
                <a:moveTo>
                  <a:pt x="144780" y="0"/>
                </a:moveTo>
                <a:lnTo>
                  <a:pt x="1315720" y="0"/>
                </a:lnTo>
                <a:arcTo wR="144780" hR="144780" stAng="16200000" swAng="5400000"/>
                <a:lnTo>
                  <a:pt x="1460500" y="144780"/>
                </a:lnTo>
                <a:arcTo wR="144780" hR="144780" stAng="0" swAng="5400000"/>
                <a:lnTo>
                  <a:pt x="144780" y="289560"/>
                </a:lnTo>
                <a:arcTo wR="144780" hR="144780" stAng="5400000" swAng="5400000"/>
                <a:lnTo>
                  <a:pt x="0" y="144780"/>
                </a:lnTo>
                <a:arcTo wR="144780" hR="144780" stAng="10800000" swAng="5400000"/>
                <a:close/>
              </a:path>
            </a:pathLst>
          </a:custGeom>
          <a:solidFill>
            <a:srgbClr val="EE8446"/>
          </a:solidFill>
          <a:ln/>
        </p:spPr>
        <p:txBody>
          <a:bodyPr wrap="square" lIns="0" tIns="38100" rIns="0" bIns="12700" rtlCol="0" anchor="t">
            <a:normAutofit/>
          </a:bodyPr>
          <a:lstStyle/>
          <a:p>
            <a:pPr marL="0" indent="0" algn="ctr">
              <a:lnSpc>
                <a:spcPts val="1680"/>
              </a:lnSpc>
              <a:buNone/>
            </a:pPr>
            <a:r>
              <a:rPr lang="en-US" sz="1200" b="1" dirty="0">
                <a:solidFill>
                  <a:srgbClr val="12263F"/>
                </a:solidFill>
                <a:latin typeface="Nunito Sans" pitchFamily="34" charset="0"/>
                <a:ea typeface="Nunito Sans" pitchFamily="34" charset="-122"/>
                <a:cs typeface="Nunito Sans" pitchFamily="34" charset="-120"/>
              </a:rPr>
              <a:t>AI</a:t>
            </a:r>
            <a:endParaRPr lang="en-US" sz="1200" dirty="0"/>
          </a:p>
        </p:txBody>
      </p:sp>
      <p:sp>
        <p:nvSpPr>
          <p:cNvPr id="16" name="Text 14"/>
          <p:cNvSpPr/>
          <p:nvPr/>
        </p:nvSpPr>
        <p:spPr>
          <a:xfrm>
            <a:off x="6316980" y="2510792"/>
            <a:ext cx="42703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263F"/>
                </a:solidFill>
                <a:latin typeface="Nunito Sans" pitchFamily="34" charset="0"/>
                <a:ea typeface="Nunito Sans" pitchFamily="34" charset="-122"/>
                <a:cs typeface="Nunito Sans" pitchFamily="34" charset="-120"/>
              </a:rPr>
              <a:t>Baca data dan isi blok tujuan</a:t>
            </a:r>
            <a:endParaRPr lang="en-US" sz="1500" dirty="0"/>
          </a:p>
        </p:txBody>
      </p:sp>
      <p:sp>
        <p:nvSpPr>
          <p:cNvPr id="17" name="Text 15"/>
          <p:cNvSpPr/>
          <p:nvPr/>
        </p:nvSpPr>
        <p:spPr>
          <a:xfrm>
            <a:off x="10589975" y="2510792"/>
            <a:ext cx="75809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Nunito Sans" pitchFamily="34" charset="0"/>
                <a:ea typeface="Nunito Sans" pitchFamily="34" charset="-122"/>
                <a:cs typeface="Nunito Sans" pitchFamily="34" charset="-120"/>
              </a:rPr>
              <a:t>±3 mnt</a:t>
            </a:r>
            <a:endParaRPr lang="en-US" sz="1500" dirty="0"/>
          </a:p>
        </p:txBody>
      </p:sp>
      <p:sp>
        <p:nvSpPr>
          <p:cNvPr id="18" name="Shape 16"/>
          <p:cNvSpPr/>
          <p:nvPr/>
        </p:nvSpPr>
        <p:spPr>
          <a:xfrm>
            <a:off x="4575175" y="2974975"/>
            <a:ext cx="6800850" cy="471170"/>
          </a:xfrm>
          <a:prstGeom prst="roundRect">
            <a:avLst>
              <a:gd name="adj" fmla="val 20889"/>
            </a:avLst>
          </a:prstGeom>
          <a:solidFill>
            <a:srgbClr val="FFFDF8"/>
          </a:solidFill>
          <a:ln w="6350">
            <a:solidFill>
              <a:srgbClr val="E2DDD0"/>
            </a:solidFill>
            <a:prstDash val="solid"/>
          </a:ln>
        </p:spPr>
      </p:sp>
      <p:sp>
        <p:nvSpPr>
          <p:cNvPr id="19" name="Text 17"/>
          <p:cNvSpPr/>
          <p:nvPr/>
        </p:nvSpPr>
        <p:spPr>
          <a:xfrm>
            <a:off x="4729480" y="3065779"/>
            <a:ext cx="1460500" cy="289560"/>
          </a:xfrm>
          <a:custGeom>
            <a:avLst/>
            <a:gdLst/>
            <a:ahLst/>
            <a:cxnLst/>
            <a:rect l="l" t="t" r="r" b="b"/>
            <a:pathLst>
              <a:path w="1460500" h="289560">
                <a:moveTo>
                  <a:pt x="144780" y="0"/>
                </a:moveTo>
                <a:lnTo>
                  <a:pt x="1315720" y="0"/>
                </a:lnTo>
                <a:arcTo wR="144780" hR="144780" stAng="16200000" swAng="5400000"/>
                <a:lnTo>
                  <a:pt x="1460500" y="144780"/>
                </a:lnTo>
                <a:arcTo wR="144780" hR="144780" stAng="0" swAng="5400000"/>
                <a:lnTo>
                  <a:pt x="144780" y="289560"/>
                </a:lnTo>
                <a:arcTo wR="144780" hR="144780" stAng="5400000" swAng="5400000"/>
                <a:lnTo>
                  <a:pt x="0" y="144780"/>
                </a:lnTo>
                <a:arcTo wR="144780" hR="144780" stAng="10800000" swAng="5400000"/>
                <a:close/>
              </a:path>
            </a:pathLst>
          </a:custGeom>
          <a:solidFill>
            <a:srgbClr val="EE8446"/>
          </a:solidFill>
          <a:ln/>
        </p:spPr>
        <p:txBody>
          <a:bodyPr wrap="square" lIns="0" tIns="38100" rIns="0" bIns="12700" rtlCol="0" anchor="t">
            <a:normAutofit/>
          </a:bodyPr>
          <a:lstStyle/>
          <a:p>
            <a:pPr marL="0" indent="0" algn="ctr">
              <a:lnSpc>
                <a:spcPts val="1680"/>
              </a:lnSpc>
              <a:buNone/>
            </a:pPr>
            <a:r>
              <a:rPr lang="en-US" sz="1200" b="1" dirty="0">
                <a:solidFill>
                  <a:srgbClr val="12263F"/>
                </a:solidFill>
                <a:latin typeface="Nunito Sans" pitchFamily="34" charset="0"/>
                <a:ea typeface="Nunito Sans" pitchFamily="34" charset="-122"/>
                <a:cs typeface="Nunito Sans" pitchFamily="34" charset="-120"/>
              </a:rPr>
              <a:t>AI</a:t>
            </a:r>
            <a:endParaRPr lang="en-US" sz="1200" dirty="0"/>
          </a:p>
        </p:txBody>
      </p:sp>
      <p:sp>
        <p:nvSpPr>
          <p:cNvPr id="20" name="Text 18"/>
          <p:cNvSpPr/>
          <p:nvPr/>
        </p:nvSpPr>
        <p:spPr>
          <a:xfrm>
            <a:off x="6316980" y="3077214"/>
            <a:ext cx="42703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263F"/>
                </a:solidFill>
                <a:latin typeface="Nunito Sans" pitchFamily="34" charset="0"/>
                <a:ea typeface="Nunito Sans" pitchFamily="34" charset="-122"/>
                <a:cs typeface="Nunito Sans" pitchFamily="34" charset="-120"/>
              </a:rPr>
              <a:t>Tarik container dan seal</a:t>
            </a:r>
            <a:endParaRPr lang="en-US" sz="1500" dirty="0"/>
          </a:p>
        </p:txBody>
      </p:sp>
      <p:sp>
        <p:nvSpPr>
          <p:cNvPr id="21" name="Text 19"/>
          <p:cNvSpPr/>
          <p:nvPr/>
        </p:nvSpPr>
        <p:spPr>
          <a:xfrm>
            <a:off x="10589975" y="3077214"/>
            <a:ext cx="75809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Nunito Sans" pitchFamily="34" charset="0"/>
                <a:ea typeface="Nunito Sans" pitchFamily="34" charset="-122"/>
                <a:cs typeface="Nunito Sans" pitchFamily="34" charset="-120"/>
              </a:rPr>
              <a:t>±2 mnt</a:t>
            </a:r>
            <a:endParaRPr lang="en-US" sz="1500" dirty="0"/>
          </a:p>
        </p:txBody>
      </p:sp>
      <p:sp>
        <p:nvSpPr>
          <p:cNvPr id="22" name="Shape 20"/>
          <p:cNvSpPr/>
          <p:nvPr/>
        </p:nvSpPr>
        <p:spPr>
          <a:xfrm>
            <a:off x="4575175" y="3541396"/>
            <a:ext cx="6800850" cy="471170"/>
          </a:xfrm>
          <a:prstGeom prst="roundRect">
            <a:avLst>
              <a:gd name="adj" fmla="val 20889"/>
            </a:avLst>
          </a:prstGeom>
          <a:solidFill>
            <a:srgbClr val="FFFDF8"/>
          </a:solidFill>
          <a:ln w="6350">
            <a:solidFill>
              <a:srgbClr val="E2DDD0"/>
            </a:solidFill>
            <a:prstDash val="solid"/>
          </a:ln>
        </p:spPr>
      </p:sp>
      <p:sp>
        <p:nvSpPr>
          <p:cNvPr id="23" name="Text 21"/>
          <p:cNvSpPr/>
          <p:nvPr/>
        </p:nvSpPr>
        <p:spPr>
          <a:xfrm>
            <a:off x="4729480" y="3632200"/>
            <a:ext cx="1460500" cy="289560"/>
          </a:xfrm>
          <a:custGeom>
            <a:avLst/>
            <a:gdLst/>
            <a:ahLst/>
            <a:cxnLst/>
            <a:rect l="l" t="t" r="r" b="b"/>
            <a:pathLst>
              <a:path w="1460500" h="289560">
                <a:moveTo>
                  <a:pt x="144780" y="0"/>
                </a:moveTo>
                <a:lnTo>
                  <a:pt x="1315720" y="0"/>
                </a:lnTo>
                <a:arcTo wR="144780" hR="144780" stAng="16200000" swAng="5400000"/>
                <a:lnTo>
                  <a:pt x="1460500" y="144780"/>
                </a:lnTo>
                <a:arcTo wR="144780" hR="144780" stAng="0" swAng="5400000"/>
                <a:lnTo>
                  <a:pt x="144780" y="289560"/>
                </a:lnTo>
                <a:arcTo wR="144780" hR="144780" stAng="5400000" swAng="5400000"/>
                <a:lnTo>
                  <a:pt x="0" y="144780"/>
                </a:lnTo>
                <a:arcTo wR="144780" hR="144780" stAng="10800000" swAng="5400000"/>
                <a:close/>
              </a:path>
            </a:pathLst>
          </a:custGeom>
          <a:solidFill>
            <a:srgbClr val="EE8446"/>
          </a:solidFill>
          <a:ln/>
        </p:spPr>
        <p:txBody>
          <a:bodyPr wrap="square" lIns="0" tIns="38100" rIns="0" bIns="12700" rtlCol="0" anchor="t">
            <a:normAutofit/>
          </a:bodyPr>
          <a:lstStyle/>
          <a:p>
            <a:pPr marL="0" indent="0" algn="ctr">
              <a:lnSpc>
                <a:spcPts val="1680"/>
              </a:lnSpc>
              <a:buNone/>
            </a:pPr>
            <a:r>
              <a:rPr lang="en-US" sz="1200" b="1" dirty="0">
                <a:solidFill>
                  <a:srgbClr val="12263F"/>
                </a:solidFill>
                <a:latin typeface="Nunito Sans" pitchFamily="34" charset="0"/>
                <a:ea typeface="Nunito Sans" pitchFamily="34" charset="-122"/>
                <a:cs typeface="Nunito Sans" pitchFamily="34" charset="-120"/>
              </a:rPr>
              <a:t>AI</a:t>
            </a:r>
            <a:endParaRPr lang="en-US" sz="1200" dirty="0"/>
          </a:p>
        </p:txBody>
      </p:sp>
      <p:sp>
        <p:nvSpPr>
          <p:cNvPr id="24" name="Text 22"/>
          <p:cNvSpPr/>
          <p:nvPr/>
        </p:nvSpPr>
        <p:spPr>
          <a:xfrm>
            <a:off x="6316980" y="3643629"/>
            <a:ext cx="42703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263F"/>
                </a:solidFill>
                <a:latin typeface="Nunito Sans" pitchFamily="34" charset="0"/>
                <a:ea typeface="Nunito Sans" pitchFamily="34" charset="-122"/>
                <a:cs typeface="Nunito Sans" pitchFamily="34" charset="-120"/>
              </a:rPr>
              <a:t>Penanda dan cek total</a:t>
            </a:r>
            <a:endParaRPr lang="en-US" sz="1500" dirty="0"/>
          </a:p>
        </p:txBody>
      </p:sp>
      <p:sp>
        <p:nvSpPr>
          <p:cNvPr id="25" name="Text 23"/>
          <p:cNvSpPr/>
          <p:nvPr/>
        </p:nvSpPr>
        <p:spPr>
          <a:xfrm>
            <a:off x="10589975" y="3643629"/>
            <a:ext cx="75809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Nunito Sans" pitchFamily="34" charset="0"/>
                <a:ea typeface="Nunito Sans" pitchFamily="34" charset="-122"/>
                <a:cs typeface="Nunito Sans" pitchFamily="34" charset="-120"/>
              </a:rPr>
              <a:t>±1 mnt</a:t>
            </a:r>
            <a:endParaRPr lang="en-US" sz="1500" dirty="0"/>
          </a:p>
        </p:txBody>
      </p:sp>
      <p:sp>
        <p:nvSpPr>
          <p:cNvPr id="26" name="Shape 24"/>
          <p:cNvSpPr/>
          <p:nvPr/>
        </p:nvSpPr>
        <p:spPr>
          <a:xfrm>
            <a:off x="4575175" y="4107817"/>
            <a:ext cx="6800850" cy="471170"/>
          </a:xfrm>
          <a:prstGeom prst="roundRect">
            <a:avLst>
              <a:gd name="adj" fmla="val 20889"/>
            </a:avLst>
          </a:prstGeom>
          <a:solidFill>
            <a:srgbClr val="FFFDF8"/>
          </a:solidFill>
          <a:ln w="6350">
            <a:solidFill>
              <a:srgbClr val="E2DDD0"/>
            </a:solidFill>
            <a:prstDash val="solid"/>
          </a:ln>
        </p:spPr>
      </p:sp>
      <p:sp>
        <p:nvSpPr>
          <p:cNvPr id="27" name="Text 25"/>
          <p:cNvSpPr/>
          <p:nvPr/>
        </p:nvSpPr>
        <p:spPr>
          <a:xfrm>
            <a:off x="4729480" y="4198621"/>
            <a:ext cx="1460500" cy="289560"/>
          </a:xfrm>
          <a:custGeom>
            <a:avLst/>
            <a:gdLst/>
            <a:ahLst/>
            <a:cxnLst/>
            <a:rect l="l" t="t" r="r" b="b"/>
            <a:pathLst>
              <a:path w="1460500" h="289560">
                <a:moveTo>
                  <a:pt x="144780" y="0"/>
                </a:moveTo>
                <a:lnTo>
                  <a:pt x="1315720" y="0"/>
                </a:lnTo>
                <a:arcTo wR="144780" hR="144780" stAng="16200000" swAng="5400000"/>
                <a:lnTo>
                  <a:pt x="1460500" y="144780"/>
                </a:lnTo>
                <a:arcTo wR="144780" hR="144780" stAng="0" swAng="5400000"/>
                <a:lnTo>
                  <a:pt x="144780" y="289560"/>
                </a:lnTo>
                <a:arcTo wR="144780" hR="144780" stAng="5400000" swAng="5400000"/>
                <a:lnTo>
                  <a:pt x="0" y="144780"/>
                </a:lnTo>
                <a:arcTo wR="144780" hR="144780" stAng="10800000" swAng="5400000"/>
                <a:close/>
              </a:path>
            </a:pathLst>
          </a:custGeom>
          <a:solidFill>
            <a:srgbClr val="17787D"/>
          </a:solidFill>
          <a:ln/>
        </p:spPr>
        <p:txBody>
          <a:bodyPr wrap="square" lIns="0" tIns="38100" rIns="0" bIns="12700" rtlCol="0" anchor="t">
            <a:normAutofit/>
          </a:bodyPr>
          <a:lstStyle/>
          <a:p>
            <a:pPr marL="0" indent="0" algn="ctr">
              <a:lnSpc>
                <a:spcPts val="1680"/>
              </a:lnSpc>
              <a:buNone/>
            </a:pPr>
            <a:r>
              <a:rPr lang="en-US" sz="1200" b="1" dirty="0">
                <a:solidFill>
                  <a:srgbClr val="FFFDF8"/>
                </a:solidFill>
                <a:latin typeface="Nunito Sans" pitchFamily="34" charset="0"/>
                <a:ea typeface="Nunito Sans" pitchFamily="34" charset="-122"/>
                <a:cs typeface="Nunito Sans" pitchFamily="34" charset="-120"/>
              </a:rPr>
              <a:t>MANUSIA + AI</a:t>
            </a:r>
            <a:endParaRPr lang="en-US" sz="1200" dirty="0"/>
          </a:p>
        </p:txBody>
      </p:sp>
      <p:sp>
        <p:nvSpPr>
          <p:cNvPr id="28" name="Text 26"/>
          <p:cNvSpPr/>
          <p:nvPr/>
        </p:nvSpPr>
        <p:spPr>
          <a:xfrm>
            <a:off x="6316980" y="4210050"/>
            <a:ext cx="415264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263F"/>
                </a:solidFill>
                <a:latin typeface="Nunito Sans" pitchFamily="34" charset="0"/>
                <a:ea typeface="Nunito Sans" pitchFamily="34" charset="-122"/>
                <a:cs typeface="Nunito Sans" pitchFamily="34" charset="-120"/>
              </a:rPr>
              <a:t>Review dan revisi</a:t>
            </a:r>
            <a:endParaRPr lang="en-US" sz="1500" dirty="0"/>
          </a:p>
        </p:txBody>
      </p:sp>
      <p:sp>
        <p:nvSpPr>
          <p:cNvPr id="29" name="Text 27"/>
          <p:cNvSpPr/>
          <p:nvPr/>
        </p:nvSpPr>
        <p:spPr>
          <a:xfrm>
            <a:off x="10475675" y="4210050"/>
            <a:ext cx="8952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Nunito Sans" pitchFamily="34" charset="0"/>
                <a:ea typeface="Nunito Sans" pitchFamily="34" charset="-122"/>
                <a:cs typeface="Nunito Sans" pitchFamily="34" charset="-120"/>
              </a:rPr>
              <a:t>±30 mnt</a:t>
            </a:r>
            <a:endParaRPr lang="en-US" sz="1500" dirty="0"/>
          </a:p>
        </p:txBody>
      </p:sp>
      <p:sp>
        <p:nvSpPr>
          <p:cNvPr id="30" name="Shape 28"/>
          <p:cNvSpPr/>
          <p:nvPr/>
        </p:nvSpPr>
        <p:spPr>
          <a:xfrm>
            <a:off x="4575175" y="4674239"/>
            <a:ext cx="6800850" cy="471170"/>
          </a:xfrm>
          <a:prstGeom prst="roundRect">
            <a:avLst>
              <a:gd name="adj" fmla="val 20889"/>
            </a:avLst>
          </a:prstGeom>
          <a:solidFill>
            <a:srgbClr val="FFFDF8"/>
          </a:solidFill>
          <a:ln w="6350">
            <a:solidFill>
              <a:srgbClr val="E2DDD0"/>
            </a:solidFill>
            <a:prstDash val="solid"/>
          </a:ln>
        </p:spPr>
      </p:sp>
      <p:sp>
        <p:nvSpPr>
          <p:cNvPr id="31" name="Text 29"/>
          <p:cNvSpPr/>
          <p:nvPr/>
        </p:nvSpPr>
        <p:spPr>
          <a:xfrm>
            <a:off x="4729480" y="4765042"/>
            <a:ext cx="1460500" cy="289560"/>
          </a:xfrm>
          <a:custGeom>
            <a:avLst/>
            <a:gdLst/>
            <a:ahLst/>
            <a:cxnLst/>
            <a:rect l="l" t="t" r="r" b="b"/>
            <a:pathLst>
              <a:path w="1460500" h="289560">
                <a:moveTo>
                  <a:pt x="144780" y="0"/>
                </a:moveTo>
                <a:lnTo>
                  <a:pt x="1315720" y="0"/>
                </a:lnTo>
                <a:arcTo wR="144780" hR="144780" stAng="16200000" swAng="5400000"/>
                <a:lnTo>
                  <a:pt x="1460500" y="144780"/>
                </a:lnTo>
                <a:arcTo wR="144780" hR="144780" stAng="0" swAng="5400000"/>
                <a:lnTo>
                  <a:pt x="144780" y="289560"/>
                </a:lnTo>
                <a:arcTo wR="144780" hR="144780" stAng="5400000" swAng="5400000"/>
                <a:lnTo>
                  <a:pt x="0" y="144780"/>
                </a:lnTo>
                <a:arcTo wR="144780" hR="144780" stAng="10800000" swAng="5400000"/>
                <a:close/>
              </a:path>
            </a:pathLst>
          </a:custGeom>
          <a:solidFill>
            <a:srgbClr val="12263F"/>
          </a:solidFill>
          <a:ln/>
        </p:spPr>
        <p:txBody>
          <a:bodyPr wrap="square" lIns="0" tIns="38100" rIns="0" bIns="12700" rtlCol="0" anchor="t">
            <a:normAutofit/>
          </a:bodyPr>
          <a:lstStyle/>
          <a:p>
            <a:pPr marL="0" indent="0" algn="ctr">
              <a:lnSpc>
                <a:spcPts val="1680"/>
              </a:lnSpc>
              <a:buNone/>
            </a:pPr>
            <a:r>
              <a:rPr lang="en-US" sz="1200" b="1" dirty="0">
                <a:solidFill>
                  <a:srgbClr val="F6F4EE"/>
                </a:solidFill>
                <a:latin typeface="Nunito Sans" pitchFamily="34" charset="0"/>
                <a:ea typeface="Nunito Sans" pitchFamily="34" charset="-122"/>
                <a:cs typeface="Nunito Sans" pitchFamily="34" charset="-120"/>
              </a:rPr>
              <a:t>MANUSIA</a:t>
            </a:r>
            <a:endParaRPr lang="en-US" sz="1200" dirty="0"/>
          </a:p>
        </p:txBody>
      </p:sp>
      <p:sp>
        <p:nvSpPr>
          <p:cNvPr id="32" name="Text 30"/>
          <p:cNvSpPr/>
          <p:nvPr/>
        </p:nvSpPr>
        <p:spPr>
          <a:xfrm>
            <a:off x="6316980" y="4776471"/>
            <a:ext cx="42703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263F"/>
                </a:solidFill>
                <a:latin typeface="Nunito Sans" pitchFamily="34" charset="0"/>
                <a:ea typeface="Nunito Sans" pitchFamily="34" charset="-122"/>
                <a:cs typeface="Nunito Sans" pitchFamily="34" charset="-120"/>
              </a:rPr>
              <a:t>Kirim proforma yang sudah disetujui</a:t>
            </a:r>
            <a:endParaRPr lang="en-US" sz="1500" dirty="0"/>
          </a:p>
        </p:txBody>
      </p:sp>
      <p:sp>
        <p:nvSpPr>
          <p:cNvPr id="33" name="Text 31"/>
          <p:cNvSpPr/>
          <p:nvPr/>
        </p:nvSpPr>
        <p:spPr>
          <a:xfrm>
            <a:off x="10589975" y="4776471"/>
            <a:ext cx="75809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Nunito Sans" pitchFamily="34" charset="0"/>
                <a:ea typeface="Nunito Sans" pitchFamily="34" charset="-122"/>
                <a:cs typeface="Nunito Sans" pitchFamily="34" charset="-120"/>
              </a:rPr>
              <a:t>±5 mnt</a:t>
            </a:r>
            <a:endParaRPr lang="en-US" sz="1500" dirty="0"/>
          </a:p>
        </p:txBody>
      </p:sp>
      <p:sp>
        <p:nvSpPr>
          <p:cNvPr id="34" name="Text 3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35" name="Text 3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10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EDF1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3 · PROFORMA LOADING · CONTAINER &amp; SEAL</a:t>
            </a:r>
            <a:endParaRPr lang="en-US" sz="1400" dirty="0"/>
          </a:p>
        </p:txBody>
      </p:sp>
      <p:sp>
        <p:nvSpPr>
          <p:cNvPr id="3" name="Text 1"/>
          <p:cNvSpPr>
            <a:spLocks noGrp="1"/>
          </p:cNvSpPr>
          <p:nvPr>
            <p:ph type="title"/>
          </p:nvPr>
        </p:nvSpPr>
        <p:spPr>
          <a:xfrm>
            <a:off x="812800" y="11379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Container &amp; seal: tinggal satu perintah</a:t>
            </a:r>
            <a:endParaRPr lang="en-US" sz="3200" dirty="0"/>
          </a:p>
        </p:txBody>
      </p:sp>
      <p:sp>
        <p:nvSpPr>
          <p:cNvPr id="4" name="Shape 2"/>
          <p:cNvSpPr/>
          <p:nvPr/>
        </p:nvSpPr>
        <p:spPr>
          <a:xfrm>
            <a:off x="815975" y="1842139"/>
            <a:ext cx="4057650" cy="3252470"/>
          </a:xfrm>
          <a:prstGeom prst="roundRect">
            <a:avLst>
              <a:gd name="adj" fmla="val 3807"/>
            </a:avLst>
          </a:prstGeom>
          <a:solidFill>
            <a:srgbClr val="FFFDF8"/>
          </a:solidFill>
          <a:ln w="6350">
            <a:solidFill>
              <a:srgbClr val="D5DCDA"/>
            </a:solidFill>
            <a:prstDash val="solid"/>
          </a:ln>
        </p:spPr>
      </p:sp>
      <p:sp>
        <p:nvSpPr>
          <p:cNvPr id="5" name="Text 3"/>
          <p:cNvSpPr/>
          <p:nvPr/>
        </p:nvSpPr>
        <p:spPr>
          <a:xfrm>
            <a:off x="1046480" y="2072642"/>
            <a:ext cx="370453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63F"/>
                </a:solidFill>
                <a:latin typeface="Rubik" pitchFamily="34" charset="0"/>
                <a:ea typeface="Rubik" pitchFamily="34" charset="-122"/>
                <a:cs typeface="Rubik" pitchFamily="34" charset="-120"/>
              </a:rPr>
              <a:t>Dulu: cari satu per satu</a:t>
            </a:r>
            <a:endParaRPr lang="en-US" sz="1800" dirty="0"/>
          </a:p>
        </p:txBody>
      </p:sp>
      <p:sp>
        <p:nvSpPr>
          <p:cNvPr id="6" name="Text 4"/>
          <p:cNvSpPr/>
          <p:nvPr/>
        </p:nvSpPr>
        <p:spPr>
          <a:xfrm>
            <a:off x="1046480" y="2448564"/>
            <a:ext cx="370453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Data gate-out tersebar di email depot dan beberapa website depot.</a:t>
            </a:r>
            <a:endParaRPr lang="en-US" sz="1400" dirty="0"/>
          </a:p>
        </p:txBody>
      </p:sp>
      <p:sp>
        <p:nvSpPr>
          <p:cNvPr id="7" name="Text 5"/>
          <p:cNvSpPr/>
          <p:nvPr/>
        </p:nvSpPr>
        <p:spPr>
          <a:xfrm>
            <a:off x="1046480" y="3048000"/>
            <a:ext cx="370453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Tiap nomor booking dicari, dicocokkan, dan diketik manual. Rawan typo.</a:t>
            </a:r>
            <a:endParaRPr lang="en-US" sz="1400" dirty="0"/>
          </a:p>
        </p:txBody>
      </p:sp>
      <p:sp>
        <p:nvSpPr>
          <p:cNvPr id="8" name="Text 6"/>
          <p:cNvSpPr/>
          <p:nvPr/>
        </p:nvSpPr>
        <p:spPr>
          <a:xfrm>
            <a:off x="1046480" y="4010664"/>
            <a:ext cx="3704539"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84A18"/>
                </a:solidFill>
                <a:latin typeface="Rubik" pitchFamily="34" charset="0"/>
                <a:ea typeface="Rubik" pitchFamily="34" charset="-122"/>
                <a:cs typeface="Rubik" pitchFamily="34" charset="-120"/>
              </a:rPr>
              <a:t>30–60 mnt</a:t>
            </a:r>
            <a:endParaRPr lang="en-US" sz="3600" dirty="0"/>
          </a:p>
        </p:txBody>
      </p:sp>
      <p:sp>
        <p:nvSpPr>
          <p:cNvPr id="9" name="Text 7"/>
          <p:cNvSpPr/>
          <p:nvPr/>
        </p:nvSpPr>
        <p:spPr>
          <a:xfrm>
            <a:off x="1046480" y="4615179"/>
            <a:ext cx="37045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per kapal</a:t>
            </a:r>
            <a:endParaRPr lang="en-US" sz="1400" dirty="0"/>
          </a:p>
        </p:txBody>
      </p:sp>
      <p:sp>
        <p:nvSpPr>
          <p:cNvPr id="10" name="Shape 8"/>
          <p:cNvSpPr/>
          <p:nvPr/>
        </p:nvSpPr>
        <p:spPr>
          <a:xfrm>
            <a:off x="5080000" y="1838964"/>
            <a:ext cx="6299200" cy="3258820"/>
          </a:xfrm>
          <a:prstGeom prst="roundRect">
            <a:avLst>
              <a:gd name="adj" fmla="val 3897"/>
            </a:avLst>
          </a:prstGeom>
          <a:solidFill>
            <a:srgbClr val="12263F"/>
          </a:solidFill>
          <a:ln/>
        </p:spPr>
      </p:sp>
      <p:sp>
        <p:nvSpPr>
          <p:cNvPr id="11" name="Text 9"/>
          <p:cNvSpPr/>
          <p:nvPr/>
        </p:nvSpPr>
        <p:spPr>
          <a:xfrm>
            <a:off x="5308600" y="2067564"/>
            <a:ext cx="601726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05E"/>
                </a:solidFill>
                <a:latin typeface="Rubik" pitchFamily="34" charset="0"/>
                <a:ea typeface="Rubik" pitchFamily="34" charset="-122"/>
                <a:cs typeface="Rubik" pitchFamily="34" charset="-120"/>
              </a:rPr>
              <a:t>Sekarang: 3–5 menit per kapal</a:t>
            </a:r>
            <a:endParaRPr lang="en-US" sz="1800" dirty="0"/>
          </a:p>
        </p:txBody>
      </p:sp>
      <p:sp>
        <p:nvSpPr>
          <p:cNvPr id="12" name="Text 10"/>
          <p:cNvSpPr/>
          <p:nvPr/>
        </p:nvSpPr>
        <p:spPr>
          <a:xfrm>
            <a:off x="5308600" y="2468879"/>
            <a:ext cx="60172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Nunito Sans" pitchFamily="34" charset="0"/>
                <a:ea typeface="Nunito Sans" pitchFamily="34" charset="-122"/>
                <a:cs typeface="Nunito Sans" pitchFamily="34" charset="-120"/>
              </a:rPr>
              <a:t>1.</a:t>
            </a:r>
            <a:r>
              <a:rPr lang="en-US" sz="1400" dirty="0">
                <a:solidFill>
                  <a:srgbClr val="F6F4EE"/>
                </a:solidFill>
                <a:latin typeface="Nunito Sans" pitchFamily="34" charset="0"/>
                <a:ea typeface="Nunito Sans" pitchFamily="34" charset="-122"/>
                <a:cs typeface="Nunito Sans" pitchFamily="34" charset="-120"/>
              </a:rPr>
              <a:t> Siapkan report dan database email depot</a:t>
            </a:r>
            <a:endParaRPr lang="en-US" sz="1400" dirty="0"/>
          </a:p>
        </p:txBody>
      </p:sp>
      <p:sp>
        <p:nvSpPr>
          <p:cNvPr id="13" name="Text 11"/>
          <p:cNvSpPr/>
          <p:nvPr/>
        </p:nvSpPr>
        <p:spPr>
          <a:xfrm>
            <a:off x="5308600" y="2844800"/>
            <a:ext cx="60172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Nunito Sans" pitchFamily="34" charset="0"/>
                <a:ea typeface="Nunito Sans" pitchFamily="34" charset="-122"/>
                <a:cs typeface="Nunito Sans" pitchFamily="34" charset="-120"/>
              </a:rPr>
              <a:t>2.</a:t>
            </a:r>
            <a:r>
              <a:rPr lang="en-US" sz="1400" dirty="0">
                <a:solidFill>
                  <a:srgbClr val="F6F4EE"/>
                </a:solidFill>
                <a:latin typeface="Nunito Sans" pitchFamily="34" charset="0"/>
                <a:ea typeface="Nunito Sans" pitchFamily="34" charset="-122"/>
                <a:cs typeface="Nunito Sans" pitchFamily="34" charset="-120"/>
              </a:rPr>
              <a:t> Jalankan skill /cntrseal, lampirkan file</a:t>
            </a:r>
            <a:endParaRPr lang="en-US" sz="1400" dirty="0"/>
          </a:p>
        </p:txBody>
      </p:sp>
      <p:sp>
        <p:nvSpPr>
          <p:cNvPr id="14" name="Text 12"/>
          <p:cNvSpPr/>
          <p:nvPr/>
        </p:nvSpPr>
        <p:spPr>
          <a:xfrm>
            <a:off x="5308600" y="3220721"/>
            <a:ext cx="60172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Nunito Sans" pitchFamily="34" charset="0"/>
                <a:ea typeface="Nunito Sans" pitchFamily="34" charset="-122"/>
                <a:cs typeface="Nunito Sans" pitchFamily="34" charset="-120"/>
              </a:rPr>
              <a:t>3.</a:t>
            </a:r>
            <a:r>
              <a:rPr lang="en-US" sz="1400" dirty="0">
                <a:solidFill>
                  <a:srgbClr val="F6F4EE"/>
                </a:solidFill>
                <a:latin typeface="Nunito Sans" pitchFamily="34" charset="0"/>
                <a:ea typeface="Nunito Sans" pitchFamily="34" charset="-122"/>
                <a:cs typeface="Nunito Sans" pitchFamily="34" charset="-120"/>
              </a:rPr>
              <a:t> Biarkan Claude bekerja, jangan edit report atau tutup halaman web</a:t>
            </a:r>
            <a:endParaRPr lang="en-US" sz="1400" dirty="0"/>
          </a:p>
        </p:txBody>
      </p:sp>
      <p:sp>
        <p:nvSpPr>
          <p:cNvPr id="15" name="Text 13"/>
          <p:cNvSpPr/>
          <p:nvPr/>
        </p:nvSpPr>
        <p:spPr>
          <a:xfrm>
            <a:off x="5308600" y="3596642"/>
            <a:ext cx="2984500" cy="332740"/>
          </a:xfrm>
          <a:prstGeom prst="roundRect">
            <a:avLst>
              <a:gd name="adj" fmla="val 19084"/>
            </a:avLst>
          </a:prstGeom>
          <a:solidFill>
            <a:srgbClr val="1B3A5F"/>
          </a:solidFill>
          <a:ln/>
        </p:spPr>
        <p:txBody>
          <a:bodyPr wrap="square" lIns="83001" tIns="32201" rIns="0" bIns="6801" rtlCol="0" anchor="t">
            <a:normAutofit/>
          </a:bodyPr>
          <a:lstStyle/>
          <a:p>
            <a:pPr marL="0" indent="0" algn="l">
              <a:lnSpc>
                <a:spcPts val="1820"/>
              </a:lnSpc>
              <a:buNone/>
            </a:pPr>
            <a:r>
              <a:rPr lang="en-US" sz="1300" b="1" dirty="0">
                <a:solidFill>
                  <a:srgbClr val="F2A05E"/>
                </a:solidFill>
                <a:latin typeface="Courier New" pitchFamily="49" charset="0"/>
                <a:ea typeface="Courier New" pitchFamily="49" charset="-122"/>
                <a:cs typeface="Courier New" pitchFamily="49" charset="-120"/>
              </a:rPr>
              <a:t>/cntrseal</a:t>
            </a:r>
            <a:endParaRPr lang="en-US" sz="1300" dirty="0"/>
          </a:p>
        </p:txBody>
      </p:sp>
      <p:sp>
        <p:nvSpPr>
          <p:cNvPr id="16" name="Text 14"/>
          <p:cNvSpPr/>
          <p:nvPr/>
        </p:nvSpPr>
        <p:spPr>
          <a:xfrm>
            <a:off x="8420100" y="3655696"/>
            <a:ext cx="2223770"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9C6D6"/>
                </a:solidFill>
                <a:latin typeface="Nunito Sans" pitchFamily="34" charset="0"/>
                <a:ea typeface="Nunito Sans" pitchFamily="34" charset="-122"/>
                <a:cs typeface="Nunito Sans" pitchFamily="34" charset="-120"/>
              </a:rPr>
              <a:t>kapal default di prompt</a:t>
            </a:r>
            <a:endParaRPr lang="en-US" sz="1300" dirty="0"/>
          </a:p>
        </p:txBody>
      </p:sp>
      <p:sp>
        <p:nvSpPr>
          <p:cNvPr id="17" name="Text 15"/>
          <p:cNvSpPr/>
          <p:nvPr/>
        </p:nvSpPr>
        <p:spPr>
          <a:xfrm>
            <a:off x="5308600" y="4018279"/>
            <a:ext cx="2984500" cy="332740"/>
          </a:xfrm>
          <a:prstGeom prst="roundRect">
            <a:avLst>
              <a:gd name="adj" fmla="val 19084"/>
            </a:avLst>
          </a:prstGeom>
          <a:solidFill>
            <a:srgbClr val="1B3A5F"/>
          </a:solidFill>
          <a:ln/>
        </p:spPr>
        <p:txBody>
          <a:bodyPr wrap="square" lIns="83001" tIns="32201" rIns="0" bIns="6801" rtlCol="0" anchor="t">
            <a:normAutofit/>
          </a:bodyPr>
          <a:lstStyle/>
          <a:p>
            <a:pPr marL="0" indent="0" algn="l">
              <a:lnSpc>
                <a:spcPts val="1820"/>
              </a:lnSpc>
              <a:buNone/>
            </a:pPr>
            <a:r>
              <a:rPr lang="en-US" sz="1300" b="1" dirty="0">
                <a:solidFill>
                  <a:srgbClr val="F2A05E"/>
                </a:solidFill>
                <a:latin typeface="Courier New" pitchFamily="49" charset="0"/>
                <a:ea typeface="Courier New" pitchFamily="49" charset="-122"/>
                <a:cs typeface="Courier New" pitchFamily="49" charset="-120"/>
              </a:rPr>
              <a:t>/cntrseal TJVY 2609N</a:t>
            </a:r>
            <a:endParaRPr lang="en-US" sz="1300" dirty="0"/>
          </a:p>
        </p:txBody>
      </p:sp>
      <p:sp>
        <p:nvSpPr>
          <p:cNvPr id="18" name="Text 16"/>
          <p:cNvSpPr/>
          <p:nvPr/>
        </p:nvSpPr>
        <p:spPr>
          <a:xfrm>
            <a:off x="8420100" y="4077339"/>
            <a:ext cx="2223770"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9C6D6"/>
                </a:solidFill>
                <a:latin typeface="Nunito Sans" pitchFamily="34" charset="0"/>
                <a:ea typeface="Nunito Sans" pitchFamily="34" charset="-122"/>
                <a:cs typeface="Nunito Sans" pitchFamily="34" charset="-120"/>
              </a:rPr>
              <a:t>update kapal lain</a:t>
            </a:r>
            <a:endParaRPr lang="en-US" sz="1300" dirty="0"/>
          </a:p>
        </p:txBody>
      </p:sp>
      <p:sp>
        <p:nvSpPr>
          <p:cNvPr id="19" name="Text 17"/>
          <p:cNvSpPr/>
          <p:nvPr/>
        </p:nvSpPr>
        <p:spPr>
          <a:xfrm>
            <a:off x="5308600" y="4488179"/>
            <a:ext cx="2984500" cy="332740"/>
          </a:xfrm>
          <a:prstGeom prst="roundRect">
            <a:avLst>
              <a:gd name="adj" fmla="val 19084"/>
            </a:avLst>
          </a:prstGeom>
          <a:solidFill>
            <a:srgbClr val="1B3A5F"/>
          </a:solidFill>
          <a:ln/>
        </p:spPr>
        <p:txBody>
          <a:bodyPr wrap="none" lIns="0" tIns="0" rIns="0" bIns="0" rtlCol="0" anchor="ctr">
            <a:normAutofit/>
          </a:bodyPr>
          <a:lstStyle/>
          <a:p>
            <a:pPr marL="0" indent="0" algn="ctr">
              <a:lnSpc>
                <a:spcPts val="1820"/>
              </a:lnSpc>
              <a:buNone/>
            </a:pPr>
            <a:r>
              <a:rPr lang="en-US" sz="1300" b="1" dirty="0">
                <a:solidFill>
                  <a:srgbClr val="F2A05E"/>
                </a:solidFill>
                <a:latin typeface="Courier New" pitchFamily="49" charset="0"/>
                <a:ea typeface="Courier New" pitchFamily="49" charset="-122"/>
                <a:cs typeface="Courier New" pitchFamily="49" charset="-120"/>
              </a:rPr>
              <a:t>/cntrseal KMSH 2609N | today</a:t>
            </a:r>
            <a:endParaRPr lang="en-US" sz="1300" dirty="0"/>
          </a:p>
        </p:txBody>
      </p:sp>
      <p:sp>
        <p:nvSpPr>
          <p:cNvPr id="20" name="Text 18"/>
          <p:cNvSpPr/>
          <p:nvPr/>
        </p:nvSpPr>
        <p:spPr>
          <a:xfrm>
            <a:off x="8420100" y="4439921"/>
            <a:ext cx="222377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9C6D6"/>
                </a:solidFill>
                <a:latin typeface="Nunito Sans" pitchFamily="34" charset="0"/>
                <a:ea typeface="Nunito Sans" pitchFamily="34" charset="-122"/>
                <a:cs typeface="Nunito Sans" pitchFamily="34" charset="-120"/>
              </a:rPr>
              <a:t>update hari berikutnya, hanya data gate-out baru</a:t>
            </a:r>
            <a:endParaRPr lang="en-US" sz="13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11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3 · PROFORMA LOADING · KONTROL</a:t>
            </a:r>
            <a:endParaRPr lang="en-US" sz="1400" dirty="0"/>
          </a:p>
        </p:txBody>
      </p:sp>
      <p:sp>
        <p:nvSpPr>
          <p:cNvPr id="3" name="Text 1"/>
          <p:cNvSpPr>
            <a:spLocks noGrp="1"/>
          </p:cNvSpPr>
          <p:nvPr>
            <p:ph type="title"/>
          </p:nvPr>
        </p:nvSpPr>
        <p:spPr>
          <a:xfrm>
            <a:off x="812800" y="11379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AI boleh cepat, tapi tetap dicek</a:t>
            </a:r>
            <a:endParaRPr lang="en-US" sz="3200" dirty="0"/>
          </a:p>
        </p:txBody>
      </p:sp>
      <p:sp>
        <p:nvSpPr>
          <p:cNvPr id="4" name="Shape 2"/>
          <p:cNvSpPr/>
          <p:nvPr/>
        </p:nvSpPr>
        <p:spPr>
          <a:xfrm>
            <a:off x="815975" y="1842139"/>
            <a:ext cx="3092450" cy="1385570"/>
          </a:xfrm>
          <a:prstGeom prst="roundRect">
            <a:avLst>
              <a:gd name="adj" fmla="val 8937"/>
            </a:avLst>
          </a:prstGeom>
          <a:solidFill>
            <a:srgbClr val="FFFDF8"/>
          </a:solidFill>
          <a:ln w="6350">
            <a:solidFill>
              <a:srgbClr val="E2DDD0"/>
            </a:solidFill>
            <a:prstDash val="solid"/>
          </a:ln>
        </p:spPr>
      </p:sp>
      <p:sp>
        <p:nvSpPr>
          <p:cNvPr id="5" name="Text 3"/>
          <p:cNvSpPr/>
          <p:nvPr/>
        </p:nvSpPr>
        <p:spPr>
          <a:xfrm>
            <a:off x="1008380" y="2034542"/>
            <a:ext cx="278886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Template tidak diubah</a:t>
            </a:r>
            <a:endParaRPr lang="en-US" sz="1600" dirty="0"/>
          </a:p>
        </p:txBody>
      </p:sp>
      <p:sp>
        <p:nvSpPr>
          <p:cNvPr id="6" name="Text 4"/>
          <p:cNvSpPr/>
          <p:nvPr/>
        </p:nvSpPr>
        <p:spPr>
          <a:xfrm>
            <a:off x="1008380" y="2341879"/>
            <a:ext cx="278886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Selalu bekerja pada salinan, format dan pengaturan cetak tetap.</a:t>
            </a:r>
            <a:endParaRPr lang="en-US" sz="1300" dirty="0"/>
          </a:p>
        </p:txBody>
      </p:sp>
      <p:sp>
        <p:nvSpPr>
          <p:cNvPr id="7" name="Shape 5"/>
          <p:cNvSpPr/>
          <p:nvPr/>
        </p:nvSpPr>
        <p:spPr>
          <a:xfrm>
            <a:off x="4067175" y="1842139"/>
            <a:ext cx="3092450" cy="1385570"/>
          </a:xfrm>
          <a:prstGeom prst="roundRect">
            <a:avLst>
              <a:gd name="adj" fmla="val 8937"/>
            </a:avLst>
          </a:prstGeom>
          <a:solidFill>
            <a:srgbClr val="FFFDF8"/>
          </a:solidFill>
          <a:ln w="6350">
            <a:solidFill>
              <a:srgbClr val="E2DDD0"/>
            </a:solidFill>
            <a:prstDash val="solid"/>
          </a:ln>
        </p:spPr>
      </p:sp>
      <p:sp>
        <p:nvSpPr>
          <p:cNvPr id="8" name="Text 6"/>
          <p:cNvSpPr/>
          <p:nvPr/>
        </p:nvSpPr>
        <p:spPr>
          <a:xfrm>
            <a:off x="4259580" y="2034542"/>
            <a:ext cx="278886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Total dicocokkan</a:t>
            </a:r>
            <a:endParaRPr lang="en-US" sz="1600" dirty="0"/>
          </a:p>
        </p:txBody>
      </p:sp>
      <p:sp>
        <p:nvSpPr>
          <p:cNvPr id="9" name="Text 7"/>
          <p:cNvSpPr/>
          <p:nvPr/>
        </p:nvSpPr>
        <p:spPr>
          <a:xfrm>
            <a:off x="4259580" y="2341879"/>
            <a:ext cx="278886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Booking, TEU, dan berat dicocokkan dengan data sumber. Week 40: 970 dari 970 cocok.</a:t>
            </a:r>
            <a:endParaRPr lang="en-US" sz="1300" dirty="0"/>
          </a:p>
        </p:txBody>
      </p:sp>
      <p:sp>
        <p:nvSpPr>
          <p:cNvPr id="10" name="Shape 8"/>
          <p:cNvSpPr/>
          <p:nvPr/>
        </p:nvSpPr>
        <p:spPr>
          <a:xfrm>
            <a:off x="815975" y="3386454"/>
            <a:ext cx="3092450" cy="1385570"/>
          </a:xfrm>
          <a:prstGeom prst="roundRect">
            <a:avLst>
              <a:gd name="adj" fmla="val 8937"/>
            </a:avLst>
          </a:prstGeom>
          <a:solidFill>
            <a:srgbClr val="FFFDF8"/>
          </a:solidFill>
          <a:ln w="6350">
            <a:solidFill>
              <a:srgbClr val="E2DDD0"/>
            </a:solidFill>
            <a:prstDash val="solid"/>
          </a:ln>
        </p:spPr>
      </p:sp>
      <p:sp>
        <p:nvSpPr>
          <p:cNvPr id="11" name="Text 9"/>
          <p:cNvSpPr/>
          <p:nvPr/>
        </p:nvSpPr>
        <p:spPr>
          <a:xfrm>
            <a:off x="1008380" y="3578864"/>
            <a:ext cx="278886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Penanda otomatis</a:t>
            </a:r>
            <a:endParaRPr lang="en-US" sz="1600" dirty="0"/>
          </a:p>
        </p:txBody>
      </p:sp>
      <p:sp>
        <p:nvSpPr>
          <p:cNvPr id="12" name="Text 10"/>
          <p:cNvSpPr/>
          <p:nvPr/>
        </p:nvSpPr>
        <p:spPr>
          <a:xfrm>
            <a:off x="1008380" y="3886200"/>
            <a:ext cx="278886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Angka merah bila container belum lengkap. Remark 1 untuk DG, reefer, dan flexibag.</a:t>
            </a:r>
            <a:endParaRPr lang="en-US" sz="1300" dirty="0"/>
          </a:p>
        </p:txBody>
      </p:sp>
      <p:sp>
        <p:nvSpPr>
          <p:cNvPr id="13" name="Shape 11"/>
          <p:cNvSpPr/>
          <p:nvPr/>
        </p:nvSpPr>
        <p:spPr>
          <a:xfrm>
            <a:off x="4067175" y="3386454"/>
            <a:ext cx="3092450" cy="1385570"/>
          </a:xfrm>
          <a:prstGeom prst="roundRect">
            <a:avLst>
              <a:gd name="adj" fmla="val 8937"/>
            </a:avLst>
          </a:prstGeom>
          <a:solidFill>
            <a:srgbClr val="FFFDF8"/>
          </a:solidFill>
          <a:ln w="6350">
            <a:solidFill>
              <a:srgbClr val="E2DDD0"/>
            </a:solidFill>
            <a:prstDash val="solid"/>
          </a:ln>
        </p:spPr>
      </p:sp>
      <p:sp>
        <p:nvSpPr>
          <p:cNvPr id="14" name="Text 12"/>
          <p:cNvSpPr/>
          <p:nvPr/>
        </p:nvSpPr>
        <p:spPr>
          <a:xfrm>
            <a:off x="4259580" y="3578864"/>
            <a:ext cx="278886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3F"/>
                </a:solidFill>
                <a:latin typeface="Rubik" pitchFamily="34" charset="0"/>
                <a:ea typeface="Rubik" pitchFamily="34" charset="-122"/>
                <a:cs typeface="Rubik" pitchFamily="34" charset="-120"/>
              </a:rPr>
              <a:t>Pengecualian dilaporkan</a:t>
            </a:r>
            <a:endParaRPr lang="en-US" sz="1600" dirty="0"/>
          </a:p>
        </p:txBody>
      </p:sp>
      <p:sp>
        <p:nvSpPr>
          <p:cNvPr id="15" name="Text 13"/>
          <p:cNvSpPr/>
          <p:nvPr/>
        </p:nvSpPr>
        <p:spPr>
          <a:xfrm>
            <a:off x="4259580" y="3886200"/>
            <a:ext cx="278886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Container kurang atau lebih, nomor tidak valid atau dobel: dilaporkan, tidak diisi diam-diam.</a:t>
            </a:r>
            <a:endParaRPr lang="en-US" sz="1300" dirty="0"/>
          </a:p>
        </p:txBody>
      </p:sp>
      <p:sp>
        <p:nvSpPr>
          <p:cNvPr id="16" name="Shape 14"/>
          <p:cNvSpPr/>
          <p:nvPr/>
        </p:nvSpPr>
        <p:spPr>
          <a:xfrm>
            <a:off x="7366000" y="1838964"/>
            <a:ext cx="4013200" cy="2936240"/>
          </a:xfrm>
          <a:prstGeom prst="roundRect">
            <a:avLst>
              <a:gd name="adj" fmla="val 4325"/>
            </a:avLst>
          </a:prstGeom>
          <a:solidFill>
            <a:srgbClr val="DDEDEC"/>
          </a:solidFill>
          <a:ln/>
        </p:spPr>
      </p:sp>
      <p:sp>
        <p:nvSpPr>
          <p:cNvPr id="17" name="Text 15"/>
          <p:cNvSpPr/>
          <p:nvPr/>
        </p:nvSpPr>
        <p:spPr>
          <a:xfrm>
            <a:off x="7569200" y="2042164"/>
            <a:ext cx="371500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Rubik" pitchFamily="34" charset="0"/>
                <a:ea typeface="Rubik" pitchFamily="34" charset="-122"/>
                <a:cs typeface="Rubik" pitchFamily="34" charset="-120"/>
              </a:rPr>
              <a:t>Batasan saat ini</a:t>
            </a:r>
            <a:endParaRPr lang="en-US" sz="1700" dirty="0"/>
          </a:p>
        </p:txBody>
      </p:sp>
      <p:sp>
        <p:nvSpPr>
          <p:cNvPr id="18" name="Text 16"/>
          <p:cNvSpPr/>
          <p:nvPr/>
        </p:nvSpPr>
        <p:spPr>
          <a:xfrm>
            <a:off x="7569200" y="2402842"/>
            <a:ext cx="371500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Nunito Sans" pitchFamily="34" charset="0"/>
                <a:ea typeface="Nunito Sans" pitchFamily="34" charset="-122"/>
                <a:cs typeface="Nunito Sans" pitchFamily="34" charset="-120"/>
              </a:rPr>
              <a:t>Depot HUB:</a:t>
            </a:r>
            <a:r>
              <a:rPr lang="en-US" sz="1300" dirty="0">
                <a:solidFill>
                  <a:srgbClr val="12263F"/>
                </a:solidFill>
                <a:latin typeface="Nunito Sans" pitchFamily="34" charset="0"/>
                <a:ea typeface="Nunito Sans" pitchFamily="34" charset="-122"/>
                <a:cs typeface="Nunito Sans" pitchFamily="34" charset="-120"/>
              </a:rPr>
              <a:t> web bisa dibaca otomatis.</a:t>
            </a:r>
            <a:endParaRPr lang="en-US" sz="1300" dirty="0"/>
          </a:p>
        </p:txBody>
      </p:sp>
      <p:sp>
        <p:nvSpPr>
          <p:cNvPr id="19" name="Text 17"/>
          <p:cNvSpPr/>
          <p:nvPr/>
        </p:nvSpPr>
        <p:spPr>
          <a:xfrm>
            <a:off x="7569200" y="2735579"/>
            <a:ext cx="3715004"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Nunito Sans" pitchFamily="34" charset="0"/>
                <a:ea typeface="Nunito Sans" pitchFamily="34" charset="-122"/>
                <a:cs typeface="Nunito Sans" pitchFamily="34" charset="-120"/>
              </a:rPr>
              <a:t>Glorius dan DKD:</a:t>
            </a:r>
            <a:r>
              <a:rPr lang="en-US" sz="1300" dirty="0">
                <a:solidFill>
                  <a:srgbClr val="12263F"/>
                </a:solidFill>
                <a:latin typeface="Nunito Sans" pitchFamily="34" charset="0"/>
                <a:ea typeface="Nunito Sans" pitchFamily="34" charset="-122"/>
                <a:cs typeface="Nunito Sans" pitchFamily="34" charset="-120"/>
              </a:rPr>
              <a:t> butuh login atau captcha, datanya diambil dari email depot.</a:t>
            </a:r>
            <a:endParaRPr lang="en-US" sz="1300" dirty="0"/>
          </a:p>
        </p:txBody>
      </p:sp>
      <p:sp>
        <p:nvSpPr>
          <p:cNvPr id="20" name="Text 18"/>
          <p:cNvSpPr/>
          <p:nvPr/>
        </p:nvSpPr>
        <p:spPr>
          <a:xfrm>
            <a:off x="7569200" y="3299464"/>
            <a:ext cx="371500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Nunito Sans" pitchFamily="34" charset="0"/>
                <a:ea typeface="Nunito Sans" pitchFamily="34" charset="-122"/>
                <a:cs typeface="Nunito Sans" pitchFamily="34" charset="-120"/>
              </a:rPr>
              <a:t>VGM, cancel, hold:</a:t>
            </a:r>
            <a:r>
              <a:rPr lang="en-US" sz="1300" dirty="0">
                <a:solidFill>
                  <a:srgbClr val="12263F"/>
                </a:solidFill>
                <a:latin typeface="Nunito Sans" pitchFamily="34" charset="0"/>
                <a:ea typeface="Nunito Sans" pitchFamily="34" charset="-122"/>
                <a:cs typeface="Nunito Sans" pitchFamily="34" charset="-120"/>
              </a:rPr>
              <a:t> masih diisi manual.</a:t>
            </a:r>
            <a:endParaRPr lang="en-US" sz="1300" dirty="0"/>
          </a:p>
        </p:txBody>
      </p:sp>
      <p:sp>
        <p:nvSpPr>
          <p:cNvPr id="21" name="Text 19"/>
          <p:cNvSpPr/>
          <p:nvPr/>
        </p:nvSpPr>
        <p:spPr>
          <a:xfrm>
            <a:off x="7569200" y="3632200"/>
            <a:ext cx="371500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Nunito Sans" pitchFamily="34" charset="0"/>
                <a:ea typeface="Nunito Sans" pitchFamily="34" charset="-122"/>
                <a:cs typeface="Nunito Sans" pitchFamily="34" charset="-120"/>
              </a:rPr>
              <a:t>Angka waktu:</a:t>
            </a:r>
            <a:r>
              <a:rPr lang="en-US" sz="1300" dirty="0">
                <a:solidFill>
                  <a:srgbClr val="12263F"/>
                </a:solidFill>
                <a:latin typeface="Nunito Sans" pitchFamily="34" charset="0"/>
                <a:ea typeface="Nunito Sans" pitchFamily="34" charset="-122"/>
                <a:cs typeface="Nunito Sans" pitchFamily="34" charset="-120"/>
              </a:rPr>
              <a:t> masih estimasi.</a:t>
            </a:r>
            <a:endParaRPr lang="en-US" sz="13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12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EDF1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17787D"/>
                </a:solidFill>
                <a:latin typeface="Nunito Sans" pitchFamily="34" charset="0"/>
                <a:ea typeface="Nunito Sans" pitchFamily="34" charset="-122"/>
                <a:cs typeface="Nunito Sans" pitchFamily="34" charset="-120"/>
              </a:rPr>
              <a:t>REKAP MANFAAT</a:t>
            </a:r>
            <a:endParaRPr lang="en-US" sz="1400" dirty="0"/>
          </a:p>
        </p:txBody>
      </p:sp>
      <p:sp>
        <p:nvSpPr>
          <p:cNvPr id="3" name="Text 1"/>
          <p:cNvSpPr>
            <a:spLocks noGrp="1"/>
          </p:cNvSpPr>
          <p:nvPr>
            <p:ph type="title"/>
          </p:nvPr>
        </p:nvSpPr>
        <p:spPr>
          <a:xfrm>
            <a:off x="812800" y="11379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3F"/>
                </a:solidFill>
                <a:latin typeface="Rubik" pitchFamily="34" charset="0"/>
                <a:ea typeface="Rubik" pitchFamily="34" charset="-122"/>
                <a:cs typeface="Rubik" pitchFamily="34" charset="-120"/>
              </a:rPr>
              <a:t>Apa untungnya buat tim?</a:t>
            </a:r>
            <a:endParaRPr lang="en-US" sz="3200" dirty="0"/>
          </a:p>
        </p:txBody>
      </p:sp>
      <p:sp>
        <p:nvSpPr>
          <p:cNvPr id="4" name="Shape 2"/>
          <p:cNvSpPr/>
          <p:nvPr/>
        </p:nvSpPr>
        <p:spPr>
          <a:xfrm>
            <a:off x="815975" y="1842139"/>
            <a:ext cx="2501900" cy="2193290"/>
          </a:xfrm>
          <a:prstGeom prst="roundRect">
            <a:avLst>
              <a:gd name="adj" fmla="val 5646"/>
            </a:avLst>
          </a:prstGeom>
          <a:solidFill>
            <a:srgbClr val="FFFDF8"/>
          </a:solidFill>
          <a:ln w="6350">
            <a:solidFill>
              <a:srgbClr val="D5DCDA"/>
            </a:solidFill>
            <a:prstDash val="solid"/>
          </a:ln>
        </p:spPr>
      </p:sp>
      <p:sp>
        <p:nvSpPr>
          <p:cNvPr id="5" name="Text 3"/>
          <p:cNvSpPr/>
          <p:nvPr/>
        </p:nvSpPr>
        <p:spPr>
          <a:xfrm>
            <a:off x="1021080" y="2047242"/>
            <a:ext cx="215444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7787D"/>
                </a:solidFill>
                <a:latin typeface="Nunito Sans" pitchFamily="34" charset="0"/>
                <a:ea typeface="Nunito Sans" pitchFamily="34" charset="-122"/>
                <a:cs typeface="Nunito Sans" pitchFamily="34" charset="-120"/>
              </a:rPr>
              <a:t>SHARE DO</a:t>
            </a:r>
            <a:endParaRPr lang="en-US" sz="1200" dirty="0"/>
          </a:p>
        </p:txBody>
      </p:sp>
      <p:sp>
        <p:nvSpPr>
          <p:cNvPr id="6" name="Text 4"/>
          <p:cNvSpPr/>
          <p:nvPr/>
        </p:nvSpPr>
        <p:spPr>
          <a:xfrm>
            <a:off x="1021080" y="2336800"/>
            <a:ext cx="2154441"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2263F"/>
                </a:solidFill>
                <a:latin typeface="Rubik" pitchFamily="34" charset="0"/>
                <a:ea typeface="Rubik" pitchFamily="34" charset="-122"/>
                <a:cs typeface="Rubik" pitchFamily="34" charset="-120"/>
              </a:rPr>
              <a:t>−60%</a:t>
            </a:r>
            <a:endParaRPr lang="en-US" sz="4800" dirty="0"/>
          </a:p>
        </p:txBody>
      </p:sp>
      <p:sp>
        <p:nvSpPr>
          <p:cNvPr id="7" name="Text 5"/>
          <p:cNvSpPr/>
          <p:nvPr/>
        </p:nvSpPr>
        <p:spPr>
          <a:xfrm>
            <a:off x="1021080" y="3083564"/>
            <a:ext cx="215444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waktu per kapal, ±4 jam terhemat.</a:t>
            </a:r>
            <a:endParaRPr lang="en-US" sz="1400" dirty="0"/>
          </a:p>
        </p:txBody>
      </p:sp>
      <p:sp>
        <p:nvSpPr>
          <p:cNvPr id="8" name="Shape 6"/>
          <p:cNvSpPr/>
          <p:nvPr/>
        </p:nvSpPr>
        <p:spPr>
          <a:xfrm>
            <a:off x="3502025" y="1842139"/>
            <a:ext cx="2501900" cy="2193290"/>
          </a:xfrm>
          <a:prstGeom prst="roundRect">
            <a:avLst>
              <a:gd name="adj" fmla="val 5646"/>
            </a:avLst>
          </a:prstGeom>
          <a:solidFill>
            <a:srgbClr val="FFFDF8"/>
          </a:solidFill>
          <a:ln w="6350">
            <a:solidFill>
              <a:srgbClr val="D5DCDA"/>
            </a:solidFill>
            <a:prstDash val="solid"/>
          </a:ln>
        </p:spPr>
      </p:sp>
      <p:sp>
        <p:nvSpPr>
          <p:cNvPr id="9" name="Text 7"/>
          <p:cNvSpPr/>
          <p:nvPr/>
        </p:nvSpPr>
        <p:spPr>
          <a:xfrm>
            <a:off x="3707130" y="2047242"/>
            <a:ext cx="215444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7787D"/>
                </a:solidFill>
                <a:latin typeface="Nunito Sans" pitchFamily="34" charset="0"/>
                <a:ea typeface="Nunito Sans" pitchFamily="34" charset="-122"/>
                <a:cs typeface="Nunito Sans" pitchFamily="34" charset="-120"/>
              </a:rPr>
              <a:t>CHECK BOOKING</a:t>
            </a:r>
            <a:endParaRPr lang="en-US" sz="1200" dirty="0"/>
          </a:p>
        </p:txBody>
      </p:sp>
      <p:sp>
        <p:nvSpPr>
          <p:cNvPr id="10" name="Text 8"/>
          <p:cNvSpPr/>
          <p:nvPr/>
        </p:nvSpPr>
        <p:spPr>
          <a:xfrm>
            <a:off x="3707130" y="2336800"/>
            <a:ext cx="2154441"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2263F"/>
                </a:solidFill>
                <a:latin typeface="Rubik" pitchFamily="34" charset="0"/>
                <a:ea typeface="Rubik" pitchFamily="34" charset="-122"/>
                <a:cs typeface="Rubik" pitchFamily="34" charset="-120"/>
              </a:rPr>
              <a:t>2×</a:t>
            </a:r>
            <a:endParaRPr lang="en-US" sz="4800" dirty="0"/>
          </a:p>
        </p:txBody>
      </p:sp>
      <p:sp>
        <p:nvSpPr>
          <p:cNvPr id="11" name="Text 9"/>
          <p:cNvSpPr/>
          <p:nvPr/>
        </p:nvSpPr>
        <p:spPr>
          <a:xfrm>
            <a:off x="3707130" y="3083564"/>
            <a:ext cx="215444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batas reminder dijaga skill, tak ada booking diingatkan berlebihan.</a:t>
            </a:r>
            <a:endParaRPr lang="en-US" sz="1400" dirty="0"/>
          </a:p>
        </p:txBody>
      </p:sp>
      <p:sp>
        <p:nvSpPr>
          <p:cNvPr id="12" name="Shape 10"/>
          <p:cNvSpPr/>
          <p:nvPr/>
        </p:nvSpPr>
        <p:spPr>
          <a:xfrm>
            <a:off x="6188075" y="1842139"/>
            <a:ext cx="2501900" cy="2193290"/>
          </a:xfrm>
          <a:prstGeom prst="roundRect">
            <a:avLst>
              <a:gd name="adj" fmla="val 5646"/>
            </a:avLst>
          </a:prstGeom>
          <a:solidFill>
            <a:srgbClr val="FFFDF8"/>
          </a:solidFill>
          <a:ln w="6350">
            <a:solidFill>
              <a:srgbClr val="D5DCDA"/>
            </a:solidFill>
            <a:prstDash val="solid"/>
          </a:ln>
        </p:spPr>
      </p:sp>
      <p:sp>
        <p:nvSpPr>
          <p:cNvPr id="13" name="Text 11"/>
          <p:cNvSpPr/>
          <p:nvPr/>
        </p:nvSpPr>
        <p:spPr>
          <a:xfrm>
            <a:off x="6393180" y="2047242"/>
            <a:ext cx="215444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7787D"/>
                </a:solidFill>
                <a:latin typeface="Nunito Sans" pitchFamily="34" charset="0"/>
                <a:ea typeface="Nunito Sans" pitchFamily="34" charset="-122"/>
                <a:cs typeface="Nunito Sans" pitchFamily="34" charset="-120"/>
              </a:rPr>
              <a:t>PROFORMA LOADING</a:t>
            </a:r>
            <a:endParaRPr lang="en-US" sz="1200" dirty="0"/>
          </a:p>
        </p:txBody>
      </p:sp>
      <p:sp>
        <p:nvSpPr>
          <p:cNvPr id="14" name="Text 12"/>
          <p:cNvSpPr/>
          <p:nvPr/>
        </p:nvSpPr>
        <p:spPr>
          <a:xfrm>
            <a:off x="6393180" y="2336800"/>
            <a:ext cx="2154441"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2263F"/>
                </a:solidFill>
                <a:latin typeface="Rubik" pitchFamily="34" charset="0"/>
                <a:ea typeface="Rubik" pitchFamily="34" charset="-122"/>
                <a:cs typeface="Rubik" pitchFamily="34" charset="-120"/>
              </a:rPr>
              <a:t>−80%</a:t>
            </a:r>
            <a:endParaRPr lang="en-US" sz="4800" dirty="0"/>
          </a:p>
        </p:txBody>
      </p:sp>
      <p:sp>
        <p:nvSpPr>
          <p:cNvPr id="15" name="Text 13"/>
          <p:cNvSpPr/>
          <p:nvPr/>
        </p:nvSpPr>
        <p:spPr>
          <a:xfrm>
            <a:off x="6393180" y="3083564"/>
            <a:ext cx="215444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waktu per proses, 255 jadi 51 menit.</a:t>
            </a:r>
            <a:endParaRPr lang="en-US" sz="1400" dirty="0"/>
          </a:p>
        </p:txBody>
      </p:sp>
      <p:sp>
        <p:nvSpPr>
          <p:cNvPr id="16" name="Shape 14"/>
          <p:cNvSpPr/>
          <p:nvPr/>
        </p:nvSpPr>
        <p:spPr>
          <a:xfrm>
            <a:off x="8874125" y="1842139"/>
            <a:ext cx="2501900" cy="2193290"/>
          </a:xfrm>
          <a:prstGeom prst="roundRect">
            <a:avLst>
              <a:gd name="adj" fmla="val 5646"/>
            </a:avLst>
          </a:prstGeom>
          <a:solidFill>
            <a:srgbClr val="FFFDF8"/>
          </a:solidFill>
          <a:ln w="6350">
            <a:solidFill>
              <a:srgbClr val="D5DCDA"/>
            </a:solidFill>
            <a:prstDash val="solid"/>
          </a:ln>
        </p:spPr>
      </p:sp>
      <p:sp>
        <p:nvSpPr>
          <p:cNvPr id="17" name="Text 15"/>
          <p:cNvSpPr/>
          <p:nvPr/>
        </p:nvSpPr>
        <p:spPr>
          <a:xfrm>
            <a:off x="9079230" y="2047242"/>
            <a:ext cx="215444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7787D"/>
                </a:solidFill>
                <a:latin typeface="Nunito Sans" pitchFamily="34" charset="0"/>
                <a:ea typeface="Nunito Sans" pitchFamily="34" charset="-122"/>
                <a:cs typeface="Nunito Sans" pitchFamily="34" charset="-120"/>
              </a:rPr>
              <a:t>CONTAINER &amp; SEAL</a:t>
            </a:r>
            <a:endParaRPr lang="en-US" sz="1200" dirty="0"/>
          </a:p>
        </p:txBody>
      </p:sp>
      <p:sp>
        <p:nvSpPr>
          <p:cNvPr id="18" name="Text 16"/>
          <p:cNvSpPr/>
          <p:nvPr/>
        </p:nvSpPr>
        <p:spPr>
          <a:xfrm>
            <a:off x="9079230" y="2336800"/>
            <a:ext cx="2154441"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2263F"/>
                </a:solidFill>
                <a:latin typeface="Rubik" pitchFamily="34" charset="0"/>
                <a:ea typeface="Rubik" pitchFamily="34" charset="-122"/>
                <a:cs typeface="Rubik" pitchFamily="34" charset="-120"/>
              </a:rPr>
              <a:t>~10×</a:t>
            </a:r>
            <a:endParaRPr lang="en-US" sz="4800" dirty="0"/>
          </a:p>
        </p:txBody>
      </p:sp>
      <p:sp>
        <p:nvSpPr>
          <p:cNvPr id="19" name="Text 17"/>
          <p:cNvSpPr/>
          <p:nvPr/>
        </p:nvSpPr>
        <p:spPr>
          <a:xfrm>
            <a:off x="9079230" y="3083564"/>
            <a:ext cx="215444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lebih cepat per kapal, 30–60 jadi 3–5 menit.</a:t>
            </a:r>
            <a:endParaRPr lang="en-US" sz="1400" dirty="0"/>
          </a:p>
        </p:txBody>
      </p:sp>
      <p:sp>
        <p:nvSpPr>
          <p:cNvPr id="20" name="Shape 18"/>
          <p:cNvSpPr/>
          <p:nvPr/>
        </p:nvSpPr>
        <p:spPr>
          <a:xfrm>
            <a:off x="812800" y="4292600"/>
            <a:ext cx="10566400" cy="929640"/>
          </a:xfrm>
          <a:prstGeom prst="roundRect">
            <a:avLst>
              <a:gd name="adj" fmla="val 13661"/>
            </a:avLst>
          </a:prstGeom>
          <a:solidFill>
            <a:srgbClr val="12263F"/>
          </a:solidFill>
          <a:ln/>
        </p:spPr>
      </p:sp>
      <p:sp>
        <p:nvSpPr>
          <p:cNvPr id="21" name="Text 19"/>
          <p:cNvSpPr/>
          <p:nvPr/>
        </p:nvSpPr>
        <p:spPr>
          <a:xfrm>
            <a:off x="1066800" y="4483100"/>
            <a:ext cx="1036015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Nunito Sans" pitchFamily="34" charset="0"/>
                <a:ea typeface="Nunito Sans" pitchFamily="34" charset="-122"/>
                <a:cs typeface="Nunito Sans" pitchFamily="34" charset="-120"/>
              </a:rPr>
              <a:t>Waktu yang kembali bisa dipakai untuk </a:t>
            </a:r>
            <a:r>
              <a:rPr lang="en-US" sz="1600" b="1" dirty="0">
                <a:solidFill>
                  <a:srgbClr val="F2A05E"/>
                </a:solidFill>
                <a:latin typeface="Nunito Sans" pitchFamily="34" charset="0"/>
                <a:ea typeface="Nunito Sans" pitchFamily="34" charset="-122"/>
                <a:cs typeface="Nunito Sans" pitchFamily="34" charset="-120"/>
              </a:rPr>
              <a:t>melayani customer, kargo khusus, dan tindak lanjut</a:t>
            </a:r>
            <a:r>
              <a:rPr lang="en-US" sz="1600" dirty="0">
                <a:solidFill>
                  <a:srgbClr val="F6F4EE"/>
                </a:solidFill>
                <a:latin typeface="Nunito Sans" pitchFamily="34" charset="0"/>
                <a:ea typeface="Nunito Sans" pitchFamily="34" charset="-122"/>
                <a:cs typeface="Nunito Sans" pitchFamily="34" charset="-120"/>
              </a:rPr>
              <a:t>.</a:t>
            </a:r>
            <a:endParaRPr lang="en-US" sz="1600" dirty="0"/>
          </a:p>
        </p:txBody>
      </p:sp>
      <p:sp>
        <p:nvSpPr>
          <p:cNvPr id="22" name="Text 20"/>
          <p:cNvSpPr/>
          <p:nvPr/>
        </p:nvSpPr>
        <p:spPr>
          <a:xfrm>
            <a:off x="1066800" y="4818379"/>
            <a:ext cx="103601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Nunito Sans" pitchFamily="34" charset="0"/>
                <a:ea typeface="Nunito Sans" pitchFamily="34" charset="-122"/>
                <a:cs typeface="Nunito Sans" pitchFamily="34" charset="-120"/>
              </a:rPr>
              <a:t>Semua angka waktu adalah estimasi dan akan divalidasi dengan data aktual.</a:t>
            </a:r>
            <a:endParaRPr lang="en-US" sz="1200" dirty="0"/>
          </a:p>
        </p:txBody>
      </p:sp>
      <p:sp>
        <p:nvSpPr>
          <p:cNvPr id="23" name="Text 2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8"/>
                </a:solidFill>
                <a:latin typeface="Nunito Sans" pitchFamily="34" charset="0"/>
                <a:ea typeface="Nunito Sans" pitchFamily="34" charset="-122"/>
                <a:cs typeface="Nunito Sans" pitchFamily="34" charset="-120"/>
              </a:rPr>
              <a:t>Penggunaan &amp; Manfaat AI untuk Divisi CS</a:t>
            </a:r>
            <a:endParaRPr lang="en-US" sz="1200" dirty="0"/>
          </a:p>
        </p:txBody>
      </p:sp>
      <p:sp>
        <p:nvSpPr>
          <p:cNvPr id="24" name="Text 2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8"/>
                </a:solidFill>
                <a:latin typeface="Nunito Sans" pitchFamily="34" charset="0"/>
                <a:ea typeface="Nunito Sans" pitchFamily="34" charset="-122"/>
                <a:cs typeface="Nunito Sans" pitchFamily="34" charset="-120"/>
              </a:rPr>
              <a:t>13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583680" cy="1554480"/>
          </a:xfrm>
          <a:prstGeom prst="rect">
            <a:avLst/>
          </a:prstGeom>
          <a:noFill/>
          <a:ln/>
        </p:spPr>
        <p:txBody>
          <a:bodyPr wrap="square" lIns="0" tIns="0" rIns="0" bIns="0" rtlCol="0" anchor="t"/>
          <a:lstStyle/>
          <a:p>
            <a:pPr marL="0" indent="0" algn="l">
              <a:buNone/>
            </a:pPr>
            <a:r>
              <a:rPr lang="en-US" sz="5200" b="1" dirty="0">
                <a:solidFill>
                  <a:schemeClr val="bg1"/>
                </a:solidFill>
              </a:rPr>
              <a:t>Proforma Loading</a:t>
            </a:r>
            <a:endParaRPr lang="en-US" sz="5200" dirty="0"/>
          </a:p>
        </p:txBody>
      </p:sp>
      <p:sp>
        <p:nvSpPr>
          <p:cNvPr id="3" name="Text 0"/>
          <p:cNvSpPr>
            <a:spLocks noGrp="1"/>
          </p:cNvSpPr>
          <p:nvPr>
            <p:ph type="body" idx="101" hasCustomPrompt="1"/>
          </p:nvPr>
        </p:nvSpPr>
        <p:spPr>
          <a:xfrm>
            <a:off x="731520" y="3703320"/>
            <a:ext cx="6400800" cy="914400"/>
          </a:xfrm>
          <a:prstGeom prst="rect">
            <a:avLst/>
          </a:prstGeom>
          <a:noFill/>
          <a:ln/>
        </p:spPr>
        <p:txBody>
          <a:bodyPr wrap="square" lIns="0" tIns="0" rIns="0" bIns="0" rtlCol="0" anchor="t"/>
          <a:lstStyle/>
          <a:p>
            <a:pPr marL="0" indent="0" algn="l">
              <a:buNone/>
            </a:pPr>
            <a:r>
              <a:rPr lang="en-US" sz="2200" dirty="0">
                <a:solidFill>
                  <a:schemeClr val="accent6"/>
                </a:solidFill>
              </a:rPr>
              <a:t>Dari kerja manual ke bantuan AI: alur, peran, dan hasilnya</a:t>
            </a:r>
            <a:endParaRPr lang="en-US" sz="2200" dirty="0"/>
          </a:p>
        </p:txBody>
      </p:sp>
      <p:sp>
        <p:nvSpPr>
          <p:cNvPr id="4" name="Text 2"/>
          <p:cNvSpPr txBox="1"/>
          <p:nvPr/>
        </p:nvSpPr>
        <p:spPr>
          <a:xfrm>
            <a:off x="731520" y="5943600"/>
            <a:ext cx="7315200" cy="320040"/>
          </a:xfrm>
          <a:prstGeom prst="rect">
            <a:avLst/>
          </a:prstGeom>
          <a:noFill/>
          <a:ln/>
        </p:spPr>
        <p:txBody>
          <a:bodyPr wrap="square" lIns="0" tIns="0" rIns="0" bIns="0" rtlCol="0" anchor="t"/>
          <a:lstStyle/>
          <a:p>
            <a:pPr marL="0" indent="0">
              <a:buNone/>
            </a:pPr>
            <a:r>
              <a:rPr lang="en-US" sz="1400" dirty="0">
                <a:solidFill>
                  <a:schemeClr val="accent6"/>
                </a:solidFill>
              </a:rPr>
              <a:t>Customer Service  ·  Sinokor &amp; Heung-A  ·  Oktober 2026</a:t>
            </a:r>
            <a:endParaRPr lang="en-US" sz="1400" dirty="0"/>
          </a:p>
        </p:txBody>
      </p:sp>
      <p:sp>
        <p:nvSpPr>
          <p:cNvPr id="5" name="Data booking dari portal lingkaran"/>
          <p:cNvSpPr/>
          <p:nvPr/>
        </p:nvSpPr>
        <p:spPr>
          <a:xfrm>
            <a:off x="8229600" y="1554480"/>
            <a:ext cx="1005840" cy="1005840"/>
          </a:xfrm>
          <a:prstGeom prst="ellipse">
            <a:avLst/>
          </a:prstGeom>
          <a:solidFill>
            <a:schemeClr val="accent2"/>
          </a:solidFill>
          <a:ln w="12700">
            <a:solidFill>
              <a:schemeClr val="accent2"/>
            </a:solidFill>
            <a:prstDash val="solid"/>
          </a:ln>
        </p:spPr>
      </p:sp>
      <p:pic>
        <p:nvPicPr>
          <p:cNvPr id="6" name="Data booking dari portal ikon" descr="Data booking dari portal"/>
          <p:cNvPicPr>
            <a:picLocks noChangeAspect="1"/>
          </p:cNvPicPr>
          <p:nvPr/>
        </p:nvPicPr>
        <p:blipFill>
          <a:blip r:embed="rId3"/>
          <a:stretch>
            <a:fillRect/>
          </a:stretch>
        </p:blipFill>
        <p:spPr>
          <a:xfrm>
            <a:off x="8501177" y="1826057"/>
            <a:ext cx="462686" cy="462686"/>
          </a:xfrm>
          <a:prstGeom prst="rect">
            <a:avLst/>
          </a:prstGeom>
        </p:spPr>
      </p:pic>
      <p:sp>
        <p:nvSpPr>
          <p:cNvPr id="7" name="Text 4"/>
          <p:cNvSpPr txBox="1"/>
          <p:nvPr/>
        </p:nvSpPr>
        <p:spPr>
          <a:xfrm>
            <a:off x="9418320" y="1664208"/>
            <a:ext cx="2468880" cy="365760"/>
          </a:xfrm>
          <a:prstGeom prst="rect">
            <a:avLst/>
          </a:prstGeom>
          <a:noFill/>
          <a:ln/>
        </p:spPr>
        <p:txBody>
          <a:bodyPr wrap="square" lIns="0" tIns="0" rIns="0" bIns="0" rtlCol="0" anchor="t"/>
          <a:lstStyle/>
          <a:p>
            <a:pPr marL="0" indent="0">
              <a:buNone/>
            </a:pPr>
            <a:r>
              <a:rPr lang="en-US" sz="1800" b="1" dirty="0">
                <a:solidFill>
                  <a:schemeClr val="bg1"/>
                </a:solidFill>
              </a:rPr>
              <a:t>Data booking dari portal</a:t>
            </a:r>
            <a:endParaRPr lang="en-US" sz="1800" dirty="0"/>
          </a:p>
        </p:txBody>
      </p:sp>
      <p:sp>
        <p:nvSpPr>
          <p:cNvPr id="8" name="Text 5"/>
          <p:cNvSpPr txBox="1"/>
          <p:nvPr/>
        </p:nvSpPr>
        <p:spPr>
          <a:xfrm>
            <a:off x="9418320" y="2057400"/>
            <a:ext cx="2468880" cy="457200"/>
          </a:xfrm>
          <a:prstGeom prst="rect">
            <a:avLst/>
          </a:prstGeom>
          <a:noFill/>
          <a:ln/>
        </p:spPr>
        <p:txBody>
          <a:bodyPr wrap="square" lIns="0" tIns="0" rIns="0" bIns="0" rtlCol="0" anchor="t"/>
          <a:lstStyle/>
          <a:p>
            <a:pPr marL="0" indent="0">
              <a:buNone/>
            </a:pPr>
            <a:r>
              <a:rPr lang="en-US" sz="1400" dirty="0">
                <a:solidFill>
                  <a:schemeClr val="accent6"/>
                </a:solidFill>
              </a:rPr>
              <a:t>Diunduh manusia</a:t>
            </a:r>
            <a:endParaRPr lang="en-US" sz="1400" dirty="0"/>
          </a:p>
        </p:txBody>
      </p:sp>
      <p:sp>
        <p:nvSpPr>
          <p:cNvPr id="9" name="Panah 1"/>
          <p:cNvSpPr/>
          <p:nvPr/>
        </p:nvSpPr>
        <p:spPr>
          <a:xfrm rot="5400000">
            <a:off x="8503920" y="2624328"/>
            <a:ext cx="457200" cy="329184"/>
          </a:xfrm>
          <a:prstGeom prst="rightArrow">
            <a:avLst/>
          </a:prstGeom>
          <a:solidFill>
            <a:schemeClr val="accent6"/>
          </a:solidFill>
          <a:ln w="12700">
            <a:solidFill>
              <a:schemeClr val="accent6"/>
            </a:solidFill>
            <a:prstDash val="solid"/>
          </a:ln>
        </p:spPr>
      </p:sp>
      <p:sp>
        <p:nvSpPr>
          <p:cNvPr id="10" name="Diproses AI lingkaran"/>
          <p:cNvSpPr/>
          <p:nvPr/>
        </p:nvSpPr>
        <p:spPr>
          <a:xfrm>
            <a:off x="8229600" y="3154680"/>
            <a:ext cx="1005840" cy="1005840"/>
          </a:xfrm>
          <a:prstGeom prst="ellipse">
            <a:avLst/>
          </a:prstGeom>
          <a:solidFill>
            <a:schemeClr val="accent3"/>
          </a:solidFill>
          <a:ln w="12700">
            <a:solidFill>
              <a:schemeClr val="accent3"/>
            </a:solidFill>
            <a:prstDash val="solid"/>
          </a:ln>
        </p:spPr>
      </p:sp>
      <p:pic>
        <p:nvPicPr>
          <p:cNvPr id="11" name="Diproses AI ikon" descr="Diproses AI"/>
          <p:cNvPicPr>
            <a:picLocks noChangeAspect="1"/>
          </p:cNvPicPr>
          <p:nvPr/>
        </p:nvPicPr>
        <p:blipFill>
          <a:blip r:embed="rId4"/>
          <a:stretch>
            <a:fillRect/>
          </a:stretch>
        </p:blipFill>
        <p:spPr>
          <a:xfrm>
            <a:off x="8501177" y="3426257"/>
            <a:ext cx="462686" cy="462686"/>
          </a:xfrm>
          <a:prstGeom prst="rect">
            <a:avLst/>
          </a:prstGeom>
        </p:spPr>
      </p:pic>
      <p:sp>
        <p:nvSpPr>
          <p:cNvPr id="12" name="Text 8"/>
          <p:cNvSpPr txBox="1"/>
          <p:nvPr/>
        </p:nvSpPr>
        <p:spPr>
          <a:xfrm>
            <a:off x="9418320" y="3264408"/>
            <a:ext cx="2468880" cy="365760"/>
          </a:xfrm>
          <a:prstGeom prst="rect">
            <a:avLst/>
          </a:prstGeom>
          <a:noFill/>
          <a:ln/>
        </p:spPr>
        <p:txBody>
          <a:bodyPr wrap="square" lIns="0" tIns="0" rIns="0" bIns="0" rtlCol="0" anchor="t"/>
          <a:lstStyle/>
          <a:p>
            <a:pPr marL="0" indent="0">
              <a:buNone/>
            </a:pPr>
            <a:r>
              <a:rPr lang="en-US" sz="1800" b="1" dirty="0">
                <a:solidFill>
                  <a:schemeClr val="bg1"/>
                </a:solidFill>
              </a:rPr>
              <a:t>Diproses AI</a:t>
            </a:r>
            <a:endParaRPr lang="en-US" sz="1800" dirty="0"/>
          </a:p>
        </p:txBody>
      </p:sp>
      <p:sp>
        <p:nvSpPr>
          <p:cNvPr id="13" name="Text 9"/>
          <p:cNvSpPr txBox="1"/>
          <p:nvPr/>
        </p:nvSpPr>
        <p:spPr>
          <a:xfrm>
            <a:off x="9418320" y="3657600"/>
            <a:ext cx="2468880" cy="457200"/>
          </a:xfrm>
          <a:prstGeom prst="rect">
            <a:avLst/>
          </a:prstGeom>
          <a:noFill/>
          <a:ln/>
        </p:spPr>
        <p:txBody>
          <a:bodyPr wrap="square" lIns="0" tIns="0" rIns="0" bIns="0" rtlCol="0" anchor="t"/>
          <a:lstStyle/>
          <a:p>
            <a:pPr marL="0" indent="0">
              <a:buNone/>
            </a:pPr>
            <a:r>
              <a:rPr lang="en-US" sz="1400" dirty="0">
                <a:solidFill>
                  <a:schemeClr val="accent6"/>
                </a:solidFill>
              </a:rPr>
              <a:t>Isi, kelompok, container &amp; seal</a:t>
            </a:r>
            <a:endParaRPr lang="en-US" sz="1400" dirty="0"/>
          </a:p>
        </p:txBody>
      </p:sp>
      <p:sp>
        <p:nvSpPr>
          <p:cNvPr id="14" name="Panah 2"/>
          <p:cNvSpPr/>
          <p:nvPr/>
        </p:nvSpPr>
        <p:spPr>
          <a:xfrm rot="5400000">
            <a:off x="8503920" y="4224528"/>
            <a:ext cx="457200" cy="329184"/>
          </a:xfrm>
          <a:prstGeom prst="rightArrow">
            <a:avLst/>
          </a:prstGeom>
          <a:solidFill>
            <a:schemeClr val="accent6"/>
          </a:solidFill>
          <a:ln w="12700">
            <a:solidFill>
              <a:schemeClr val="accent6"/>
            </a:solidFill>
            <a:prstDash val="solid"/>
          </a:ln>
        </p:spPr>
      </p:sp>
      <p:sp>
        <p:nvSpPr>
          <p:cNvPr id="15" name="Proforma siap review lingkaran"/>
          <p:cNvSpPr/>
          <p:nvPr/>
        </p:nvSpPr>
        <p:spPr>
          <a:xfrm>
            <a:off x="8229600" y="4754880"/>
            <a:ext cx="1005840" cy="1005840"/>
          </a:xfrm>
          <a:prstGeom prst="ellipse">
            <a:avLst/>
          </a:prstGeom>
          <a:solidFill>
            <a:schemeClr val="accent1"/>
          </a:solidFill>
          <a:ln w="12700">
            <a:solidFill>
              <a:schemeClr val="accent1"/>
            </a:solidFill>
            <a:prstDash val="solid"/>
          </a:ln>
        </p:spPr>
      </p:sp>
      <p:pic>
        <p:nvPicPr>
          <p:cNvPr id="16" name="Proforma siap review ikon" descr="Proforma siap review"/>
          <p:cNvPicPr>
            <a:picLocks noChangeAspect="1"/>
          </p:cNvPicPr>
          <p:nvPr/>
        </p:nvPicPr>
        <p:blipFill>
          <a:blip r:embed="rId5"/>
          <a:stretch>
            <a:fillRect/>
          </a:stretch>
        </p:blipFill>
        <p:spPr>
          <a:xfrm>
            <a:off x="8501177" y="5026457"/>
            <a:ext cx="462686" cy="462686"/>
          </a:xfrm>
          <a:prstGeom prst="rect">
            <a:avLst/>
          </a:prstGeom>
        </p:spPr>
      </p:pic>
      <p:sp>
        <p:nvSpPr>
          <p:cNvPr id="17" name="Text 12"/>
          <p:cNvSpPr txBox="1"/>
          <p:nvPr/>
        </p:nvSpPr>
        <p:spPr>
          <a:xfrm>
            <a:off x="9418320" y="4864608"/>
            <a:ext cx="2468880" cy="365760"/>
          </a:xfrm>
          <a:prstGeom prst="rect">
            <a:avLst/>
          </a:prstGeom>
          <a:noFill/>
          <a:ln/>
        </p:spPr>
        <p:txBody>
          <a:bodyPr wrap="square" lIns="0" tIns="0" rIns="0" bIns="0" rtlCol="0" anchor="t"/>
          <a:lstStyle/>
          <a:p>
            <a:pPr marL="0" indent="0">
              <a:buNone/>
            </a:pPr>
            <a:r>
              <a:rPr lang="en-US" sz="1800" b="1" dirty="0">
                <a:solidFill>
                  <a:schemeClr val="bg1"/>
                </a:solidFill>
              </a:rPr>
              <a:t>Proforma siap review</a:t>
            </a:r>
            <a:endParaRPr lang="en-US" sz="1800" dirty="0"/>
          </a:p>
        </p:txBody>
      </p:sp>
      <p:sp>
        <p:nvSpPr>
          <p:cNvPr id="18" name="Text 13"/>
          <p:cNvSpPr txBox="1"/>
          <p:nvPr/>
        </p:nvSpPr>
        <p:spPr>
          <a:xfrm>
            <a:off x="9418320" y="5257800"/>
            <a:ext cx="2468880" cy="457200"/>
          </a:xfrm>
          <a:prstGeom prst="rect">
            <a:avLst/>
          </a:prstGeom>
          <a:noFill/>
          <a:ln/>
        </p:spPr>
        <p:txBody>
          <a:bodyPr wrap="square" lIns="0" tIns="0" rIns="0" bIns="0" rtlCol="0" anchor="t"/>
          <a:lstStyle/>
          <a:p>
            <a:pPr marL="0" indent="0">
              <a:buNone/>
            </a:pPr>
            <a:r>
              <a:rPr lang="en-US" sz="1400" dirty="0">
                <a:solidFill>
                  <a:schemeClr val="accent6"/>
                </a:solidFill>
              </a:rPr>
              <a:t>Diputuskan manusia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The Process at a Glance: Three Stages</a:t>
            </a:r>
            <a:endParaRPr lang="en-US" sz="3200" dirty="0"/>
          </a:p>
        </p:txBody>
      </p:sp>
      <p:sp>
        <p:nvSpPr>
          <p:cNvPr id="3" name="card"/>
          <p:cNvSpPr/>
          <p:nvPr/>
        </p:nvSpPr>
        <p:spPr>
          <a:xfrm>
            <a:off x="548640" y="1417320"/>
            <a:ext cx="3383280" cy="4206240"/>
          </a:xfrm>
          <a:prstGeom prst="roundRect">
            <a:avLst>
              <a:gd name="adj" fmla="val 3243"/>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4" name="stage header"/>
          <p:cNvSpPr/>
          <p:nvPr/>
        </p:nvSpPr>
        <p:spPr>
          <a:xfrm>
            <a:off x="548640" y="1417320"/>
            <a:ext cx="3383280" cy="1143000"/>
          </a:xfrm>
          <a:prstGeom prst="roundRect">
            <a:avLst>
              <a:gd name="adj" fmla="val 9600"/>
            </a:avLst>
          </a:prstGeom>
          <a:solidFill>
            <a:schemeClr val="tx2"/>
          </a:solidFill>
          <a:ln/>
        </p:spPr>
      </p:sp>
      <p:sp>
        <p:nvSpPr>
          <p:cNvPr id="5" name="stage header base"/>
          <p:cNvSpPr/>
          <p:nvPr/>
        </p:nvSpPr>
        <p:spPr>
          <a:xfrm>
            <a:off x="548640" y="2331720"/>
            <a:ext cx="3383280" cy="228600"/>
          </a:xfrm>
          <a:prstGeom prst="rect">
            <a:avLst/>
          </a:prstGeom>
          <a:solidFill>
            <a:schemeClr val="tx2"/>
          </a:solidFill>
          <a:ln/>
        </p:spPr>
      </p:sp>
      <p:sp>
        <p:nvSpPr>
          <p:cNvPr id="6" name="Text 4"/>
          <p:cNvSpPr txBox="1"/>
          <p:nvPr/>
        </p:nvSpPr>
        <p:spPr>
          <a:xfrm>
            <a:off x="822960" y="1600200"/>
            <a:ext cx="914400" cy="365760"/>
          </a:xfrm>
          <a:prstGeom prst="rect">
            <a:avLst/>
          </a:prstGeom>
          <a:noFill/>
          <a:ln/>
        </p:spPr>
        <p:txBody>
          <a:bodyPr wrap="square" lIns="0" tIns="0" rIns="0" bIns="0" rtlCol="0" anchor="t"/>
          <a:lstStyle/>
          <a:p>
            <a:pPr marL="0" indent="0">
              <a:buNone/>
            </a:pPr>
            <a:r>
              <a:rPr lang="en-US" sz="1400" b="1" dirty="0">
                <a:solidFill>
                  <a:schemeClr val="accent1"/>
                </a:solidFill>
              </a:rPr>
              <a:t>01</a:t>
            </a:r>
            <a:endParaRPr lang="en-US" sz="1400" dirty="0"/>
          </a:p>
        </p:txBody>
      </p:sp>
      <p:sp>
        <p:nvSpPr>
          <p:cNvPr id="7" name="Text 5"/>
          <p:cNvSpPr txBox="1"/>
          <p:nvPr/>
        </p:nvSpPr>
        <p:spPr>
          <a:xfrm>
            <a:off x="822960" y="1920240"/>
            <a:ext cx="2834640" cy="457200"/>
          </a:xfrm>
          <a:prstGeom prst="rect">
            <a:avLst/>
          </a:prstGeom>
          <a:noFill/>
          <a:ln/>
        </p:spPr>
        <p:txBody>
          <a:bodyPr wrap="square" lIns="0" tIns="0" rIns="0" bIns="0" rtlCol="0" anchor="t"/>
          <a:lstStyle/>
          <a:p>
            <a:pPr marL="0" indent="0">
              <a:buNone/>
            </a:pPr>
            <a:r>
              <a:rPr lang="en-US" sz="2000" b="1" dirty="0">
                <a:solidFill>
                  <a:schemeClr val="bg1"/>
                </a:solidFill>
              </a:rPr>
              <a:t>Preparation</a:t>
            </a:r>
            <a:endParaRPr lang="en-US" sz="2000" dirty="0"/>
          </a:p>
        </p:txBody>
      </p:sp>
      <p:sp>
        <p:nvSpPr>
          <p:cNvPr id="8" name="Text 6"/>
          <p:cNvSpPr txBox="1"/>
          <p:nvPr/>
        </p:nvSpPr>
        <p:spPr>
          <a:xfrm>
            <a:off x="822960" y="27889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DATA SOURCE</a:t>
            </a:r>
            <a:endParaRPr lang="en-US" sz="1100" dirty="0"/>
          </a:p>
        </p:txBody>
      </p:sp>
      <p:sp>
        <p:nvSpPr>
          <p:cNvPr id="9" name="Text 7"/>
          <p:cNvSpPr txBox="1"/>
          <p:nvPr/>
        </p:nvSpPr>
        <p:spPr>
          <a:xfrm>
            <a:off x="822960" y="3063240"/>
            <a:ext cx="2834640" cy="594360"/>
          </a:xfrm>
          <a:prstGeom prst="rect">
            <a:avLst/>
          </a:prstGeom>
          <a:noFill/>
          <a:ln/>
        </p:spPr>
        <p:txBody>
          <a:bodyPr wrap="square" lIns="0" tIns="0" rIns="0" bIns="0" rtlCol="0" anchor="t"/>
          <a:lstStyle/>
          <a:p>
            <a:pPr marL="0" indent="0">
              <a:buNone/>
            </a:pPr>
            <a:r>
              <a:rPr lang="en-US" sz="1400" dirty="0">
                <a:solidFill>
                  <a:schemeClr val="tx1"/>
                </a:solidFill>
              </a:rPr>
              <a:t>Proforma Loading Report (vessel sheet)</a:t>
            </a:r>
            <a:endParaRPr lang="en-US" sz="1400" dirty="0"/>
          </a:p>
        </p:txBody>
      </p:sp>
      <p:sp>
        <p:nvSpPr>
          <p:cNvPr id="10" name="Text 8"/>
          <p:cNvSpPr txBox="1"/>
          <p:nvPr/>
        </p:nvSpPr>
        <p:spPr>
          <a:xfrm>
            <a:off x="822960" y="37033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REPORT COLUMNS</a:t>
            </a:r>
            <a:endParaRPr lang="en-US" sz="1100" dirty="0"/>
          </a:p>
        </p:txBody>
      </p:sp>
      <p:sp>
        <p:nvSpPr>
          <p:cNvPr id="11" name="Text 9"/>
          <p:cNvSpPr txBox="1"/>
          <p:nvPr/>
        </p:nvSpPr>
        <p:spPr>
          <a:xfrm>
            <a:off x="822960" y="3977640"/>
            <a:ext cx="2834640" cy="594360"/>
          </a:xfrm>
          <a:prstGeom prst="rect">
            <a:avLst/>
          </a:prstGeom>
          <a:noFill/>
          <a:ln/>
        </p:spPr>
        <p:txBody>
          <a:bodyPr wrap="square" lIns="0" tIns="0" rIns="0" bIns="0" rtlCol="0" anchor="t"/>
          <a:lstStyle/>
          <a:p>
            <a:pPr marL="0" indent="0">
              <a:buNone/>
            </a:pPr>
            <a:r>
              <a:rPr lang="en-US" sz="1400" dirty="0">
                <a:solidFill>
                  <a:schemeClr val="tx1"/>
                </a:solidFill>
              </a:rPr>
              <a:t>—</a:t>
            </a:r>
            <a:endParaRPr lang="en-US" sz="1400" dirty="0"/>
          </a:p>
        </p:txBody>
      </p:sp>
      <p:sp>
        <p:nvSpPr>
          <p:cNvPr id="12" name="Text 10"/>
          <p:cNvSpPr txBox="1"/>
          <p:nvPr/>
        </p:nvSpPr>
        <p:spPr>
          <a:xfrm>
            <a:off x="822960" y="46177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OUTPUT</a:t>
            </a:r>
            <a:endParaRPr lang="en-US" sz="1100" dirty="0"/>
          </a:p>
        </p:txBody>
      </p:sp>
      <p:sp>
        <p:nvSpPr>
          <p:cNvPr id="13" name="Text 11"/>
          <p:cNvSpPr txBox="1"/>
          <p:nvPr/>
        </p:nvSpPr>
        <p:spPr>
          <a:xfrm>
            <a:off x="822960" y="4892040"/>
            <a:ext cx="2834640" cy="594360"/>
          </a:xfrm>
          <a:prstGeom prst="rect">
            <a:avLst/>
          </a:prstGeom>
          <a:noFill/>
          <a:ln/>
        </p:spPr>
        <p:txBody>
          <a:bodyPr wrap="square" lIns="0" tIns="0" rIns="0" bIns="0" rtlCol="0" anchor="t"/>
          <a:lstStyle/>
          <a:p>
            <a:pPr marL="0" indent="0">
              <a:buNone/>
            </a:pPr>
            <a:r>
              <a:rPr lang="en-US" sz="1400" dirty="0">
                <a:solidFill>
                  <a:schemeClr val="tx1"/>
                </a:solidFill>
              </a:rPr>
              <a:t>List of bookings and containers to be completed</a:t>
            </a:r>
            <a:endParaRPr lang="en-US" sz="1400" dirty="0"/>
          </a:p>
        </p:txBody>
      </p:sp>
      <p:pic>
        <p:nvPicPr>
          <p:cNvPr id="14" name="arrow" descr="preencoded.png"/>
          <p:cNvPicPr>
            <a:picLocks noChangeAspect="1"/>
          </p:cNvPicPr>
          <p:nvPr/>
        </p:nvPicPr>
        <p:blipFill>
          <a:blip r:embed="rId3"/>
          <a:stretch>
            <a:fillRect/>
          </a:stretch>
        </p:blipFill>
        <p:spPr>
          <a:xfrm>
            <a:off x="4041648" y="3337560"/>
            <a:ext cx="237744" cy="237744"/>
          </a:xfrm>
          <a:prstGeom prst="rect">
            <a:avLst/>
          </a:prstGeom>
        </p:spPr>
      </p:pic>
      <p:sp>
        <p:nvSpPr>
          <p:cNvPr id="15" name="card"/>
          <p:cNvSpPr/>
          <p:nvPr/>
        </p:nvSpPr>
        <p:spPr>
          <a:xfrm>
            <a:off x="4389120" y="1417320"/>
            <a:ext cx="3383280" cy="4206240"/>
          </a:xfrm>
          <a:prstGeom prst="roundRect">
            <a:avLst>
              <a:gd name="adj" fmla="val 3243"/>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16" name="stage header"/>
          <p:cNvSpPr/>
          <p:nvPr/>
        </p:nvSpPr>
        <p:spPr>
          <a:xfrm>
            <a:off x="4389120" y="1417320"/>
            <a:ext cx="3383280" cy="1143000"/>
          </a:xfrm>
          <a:prstGeom prst="roundRect">
            <a:avLst>
              <a:gd name="adj" fmla="val 9600"/>
            </a:avLst>
          </a:prstGeom>
          <a:solidFill>
            <a:schemeClr val="tx2"/>
          </a:solidFill>
          <a:ln/>
        </p:spPr>
      </p:sp>
      <p:sp>
        <p:nvSpPr>
          <p:cNvPr id="17" name="stage header base"/>
          <p:cNvSpPr/>
          <p:nvPr/>
        </p:nvSpPr>
        <p:spPr>
          <a:xfrm>
            <a:off x="4389120" y="2331720"/>
            <a:ext cx="3383280" cy="228600"/>
          </a:xfrm>
          <a:prstGeom prst="rect">
            <a:avLst/>
          </a:prstGeom>
          <a:solidFill>
            <a:schemeClr val="tx2"/>
          </a:solidFill>
          <a:ln/>
        </p:spPr>
      </p:sp>
      <p:sp>
        <p:nvSpPr>
          <p:cNvPr id="18" name="Text 15"/>
          <p:cNvSpPr txBox="1"/>
          <p:nvPr/>
        </p:nvSpPr>
        <p:spPr>
          <a:xfrm>
            <a:off x="4663440" y="1600200"/>
            <a:ext cx="914400" cy="365760"/>
          </a:xfrm>
          <a:prstGeom prst="rect">
            <a:avLst/>
          </a:prstGeom>
          <a:noFill/>
          <a:ln/>
        </p:spPr>
        <p:txBody>
          <a:bodyPr wrap="square" lIns="0" tIns="0" rIns="0" bIns="0" rtlCol="0" anchor="t"/>
          <a:lstStyle/>
          <a:p>
            <a:pPr marL="0" indent="0">
              <a:buNone/>
            </a:pPr>
            <a:r>
              <a:rPr lang="en-US" sz="1400" b="1" dirty="0">
                <a:solidFill>
                  <a:schemeClr val="accent1"/>
                </a:solidFill>
              </a:rPr>
              <a:t>02</a:t>
            </a:r>
            <a:endParaRPr lang="en-US" sz="1400" dirty="0"/>
          </a:p>
        </p:txBody>
      </p:sp>
      <p:sp>
        <p:nvSpPr>
          <p:cNvPr id="19" name="Text 16"/>
          <p:cNvSpPr txBox="1"/>
          <p:nvPr/>
        </p:nvSpPr>
        <p:spPr>
          <a:xfrm>
            <a:off x="4663440" y="1920240"/>
            <a:ext cx="2834640" cy="457200"/>
          </a:xfrm>
          <a:prstGeom prst="rect">
            <a:avLst/>
          </a:prstGeom>
          <a:noFill/>
          <a:ln/>
        </p:spPr>
        <p:txBody>
          <a:bodyPr wrap="square" lIns="0" tIns="0" rIns="0" bIns="0" rtlCol="0" anchor="t"/>
          <a:lstStyle/>
          <a:p>
            <a:pPr marL="0" indent="0">
              <a:buNone/>
            </a:pPr>
            <a:r>
              <a:rPr lang="en-US" sz="2000" b="1" dirty="0">
                <a:solidFill>
                  <a:schemeClr val="bg1"/>
                </a:solidFill>
              </a:rPr>
              <a:t>Input Container List</a:t>
            </a:r>
            <a:endParaRPr lang="en-US" sz="2000" dirty="0"/>
          </a:p>
        </p:txBody>
      </p:sp>
      <p:sp>
        <p:nvSpPr>
          <p:cNvPr id="20" name="Text 17"/>
          <p:cNvSpPr txBox="1"/>
          <p:nvPr/>
        </p:nvSpPr>
        <p:spPr>
          <a:xfrm>
            <a:off x="4663440" y="27889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DATA SOURCE</a:t>
            </a:r>
            <a:endParaRPr lang="en-US" sz="1100" dirty="0"/>
          </a:p>
        </p:txBody>
      </p:sp>
      <p:sp>
        <p:nvSpPr>
          <p:cNvPr id="21" name="Text 18"/>
          <p:cNvSpPr txBox="1"/>
          <p:nvPr/>
        </p:nvSpPr>
        <p:spPr>
          <a:xfrm>
            <a:off x="4663440" y="3063240"/>
            <a:ext cx="2834640" cy="594360"/>
          </a:xfrm>
          <a:prstGeom prst="rect">
            <a:avLst/>
          </a:prstGeom>
          <a:noFill/>
          <a:ln/>
        </p:spPr>
        <p:txBody>
          <a:bodyPr wrap="square" lIns="0" tIns="0" rIns="0" bIns="0" rtlCol="0" anchor="t"/>
          <a:lstStyle/>
          <a:p>
            <a:pPr marL="0" indent="0">
              <a:buNone/>
            </a:pPr>
            <a:r>
              <a:rPr lang="en-US" sz="1400" dirty="0">
                <a:solidFill>
                  <a:schemeClr val="tx1"/>
                </a:solidFill>
              </a:rPr>
              <a:t>Depot websites / depot emails</a:t>
            </a:r>
            <a:endParaRPr lang="en-US" sz="1400" dirty="0"/>
          </a:p>
        </p:txBody>
      </p:sp>
      <p:sp>
        <p:nvSpPr>
          <p:cNvPr id="22" name="Text 19"/>
          <p:cNvSpPr txBox="1"/>
          <p:nvPr/>
        </p:nvSpPr>
        <p:spPr>
          <a:xfrm>
            <a:off x="4663440" y="37033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REPORT COLUMNS</a:t>
            </a:r>
            <a:endParaRPr lang="en-US" sz="1100" dirty="0"/>
          </a:p>
        </p:txBody>
      </p:sp>
      <p:sp>
        <p:nvSpPr>
          <p:cNvPr id="23" name="Text 20"/>
          <p:cNvSpPr txBox="1"/>
          <p:nvPr/>
        </p:nvSpPr>
        <p:spPr>
          <a:xfrm>
            <a:off x="4663440" y="3977640"/>
            <a:ext cx="2834640" cy="594360"/>
          </a:xfrm>
          <a:prstGeom prst="rect">
            <a:avLst/>
          </a:prstGeom>
          <a:noFill/>
          <a:ln/>
        </p:spPr>
        <p:txBody>
          <a:bodyPr wrap="square" lIns="0" tIns="0" rIns="0" bIns="0" rtlCol="0" anchor="t"/>
          <a:lstStyle/>
          <a:p>
            <a:pPr marL="0" indent="0">
              <a:buNone/>
            </a:pPr>
            <a:r>
              <a:rPr lang="en-US" sz="1400" dirty="0">
                <a:solidFill>
                  <a:schemeClr val="tx1"/>
                </a:solidFill>
              </a:rPr>
              <a:t>CNTR NO (col. L)</a:t>
            </a:r>
            <a:endParaRPr lang="en-US" sz="1400" dirty="0"/>
          </a:p>
          <a:p>
            <a:pPr marL="0" indent="0">
              <a:buNone/>
            </a:pPr>
            <a:r>
              <a:rPr lang="en-US" sz="1400" dirty="0">
                <a:solidFill>
                  <a:schemeClr val="tx1"/>
                </a:solidFill>
              </a:rPr>
              <a:t>SEAL (col. M)</a:t>
            </a:r>
            <a:endParaRPr lang="en-US" sz="1400" dirty="0"/>
          </a:p>
        </p:txBody>
      </p:sp>
      <p:sp>
        <p:nvSpPr>
          <p:cNvPr id="24" name="Text 21"/>
          <p:cNvSpPr txBox="1"/>
          <p:nvPr/>
        </p:nvSpPr>
        <p:spPr>
          <a:xfrm>
            <a:off x="4663440" y="46177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OUTPUT</a:t>
            </a:r>
            <a:endParaRPr lang="en-US" sz="1100" dirty="0"/>
          </a:p>
        </p:txBody>
      </p:sp>
      <p:sp>
        <p:nvSpPr>
          <p:cNvPr id="25" name="Text 22"/>
          <p:cNvSpPr txBox="1"/>
          <p:nvPr/>
        </p:nvSpPr>
        <p:spPr>
          <a:xfrm>
            <a:off x="4663440" y="4892040"/>
            <a:ext cx="2834640" cy="594360"/>
          </a:xfrm>
          <a:prstGeom prst="rect">
            <a:avLst/>
          </a:prstGeom>
          <a:noFill/>
          <a:ln/>
        </p:spPr>
        <p:txBody>
          <a:bodyPr wrap="square" lIns="0" tIns="0" rIns="0" bIns="0" rtlCol="0" anchor="t"/>
          <a:lstStyle/>
          <a:p>
            <a:pPr marL="0" indent="0">
              <a:buNone/>
            </a:pPr>
            <a:r>
              <a:rPr lang="en-US" sz="1400" dirty="0">
                <a:solidFill>
                  <a:schemeClr val="tx1"/>
                </a:solidFill>
              </a:rPr>
              <a:t>Container and seal number per booking</a:t>
            </a:r>
            <a:endParaRPr lang="en-US" sz="1400" dirty="0"/>
          </a:p>
        </p:txBody>
      </p:sp>
      <p:pic>
        <p:nvPicPr>
          <p:cNvPr id="26" name="arrow" descr="preencoded.png"/>
          <p:cNvPicPr>
            <a:picLocks noChangeAspect="1"/>
          </p:cNvPicPr>
          <p:nvPr/>
        </p:nvPicPr>
        <p:blipFill>
          <a:blip r:embed="rId3"/>
          <a:stretch>
            <a:fillRect/>
          </a:stretch>
        </p:blipFill>
        <p:spPr>
          <a:xfrm>
            <a:off x="7882128" y="3337560"/>
            <a:ext cx="237744" cy="237744"/>
          </a:xfrm>
          <a:prstGeom prst="rect">
            <a:avLst/>
          </a:prstGeom>
        </p:spPr>
      </p:pic>
      <p:sp>
        <p:nvSpPr>
          <p:cNvPr id="27" name="card"/>
          <p:cNvSpPr/>
          <p:nvPr/>
        </p:nvSpPr>
        <p:spPr>
          <a:xfrm>
            <a:off x="8229600" y="1417320"/>
            <a:ext cx="3383280" cy="4206240"/>
          </a:xfrm>
          <a:prstGeom prst="roundRect">
            <a:avLst>
              <a:gd name="adj" fmla="val 3243"/>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28" name="stage header"/>
          <p:cNvSpPr/>
          <p:nvPr/>
        </p:nvSpPr>
        <p:spPr>
          <a:xfrm>
            <a:off x="8229600" y="1417320"/>
            <a:ext cx="3383280" cy="1143000"/>
          </a:xfrm>
          <a:prstGeom prst="roundRect">
            <a:avLst>
              <a:gd name="adj" fmla="val 9600"/>
            </a:avLst>
          </a:prstGeom>
          <a:solidFill>
            <a:schemeClr val="tx2"/>
          </a:solidFill>
          <a:ln/>
        </p:spPr>
      </p:sp>
      <p:sp>
        <p:nvSpPr>
          <p:cNvPr id="29" name="stage header base"/>
          <p:cNvSpPr/>
          <p:nvPr/>
        </p:nvSpPr>
        <p:spPr>
          <a:xfrm>
            <a:off x="8229600" y="2331720"/>
            <a:ext cx="3383280" cy="228600"/>
          </a:xfrm>
          <a:prstGeom prst="rect">
            <a:avLst/>
          </a:prstGeom>
          <a:solidFill>
            <a:schemeClr val="tx2"/>
          </a:solidFill>
          <a:ln/>
        </p:spPr>
      </p:sp>
      <p:sp>
        <p:nvSpPr>
          <p:cNvPr id="30" name="Text 26"/>
          <p:cNvSpPr txBox="1"/>
          <p:nvPr/>
        </p:nvSpPr>
        <p:spPr>
          <a:xfrm>
            <a:off x="8503920" y="1600200"/>
            <a:ext cx="914400" cy="365760"/>
          </a:xfrm>
          <a:prstGeom prst="rect">
            <a:avLst/>
          </a:prstGeom>
          <a:noFill/>
          <a:ln/>
        </p:spPr>
        <p:txBody>
          <a:bodyPr wrap="square" lIns="0" tIns="0" rIns="0" bIns="0" rtlCol="0" anchor="t"/>
          <a:lstStyle/>
          <a:p>
            <a:pPr marL="0" indent="0">
              <a:buNone/>
            </a:pPr>
            <a:r>
              <a:rPr lang="en-US" sz="1400" b="1" dirty="0">
                <a:solidFill>
                  <a:schemeClr val="accent1"/>
                </a:solidFill>
              </a:rPr>
              <a:t>03</a:t>
            </a:r>
            <a:endParaRPr lang="en-US" sz="1400" dirty="0"/>
          </a:p>
        </p:txBody>
      </p:sp>
      <p:sp>
        <p:nvSpPr>
          <p:cNvPr id="31" name="Text 27"/>
          <p:cNvSpPr txBox="1"/>
          <p:nvPr/>
        </p:nvSpPr>
        <p:spPr>
          <a:xfrm>
            <a:off x="8503920" y="1920240"/>
            <a:ext cx="2834640" cy="457200"/>
          </a:xfrm>
          <a:prstGeom prst="rect">
            <a:avLst/>
          </a:prstGeom>
          <a:noFill/>
          <a:ln/>
        </p:spPr>
        <p:txBody>
          <a:bodyPr wrap="square" lIns="0" tIns="0" rIns="0" bIns="0" rtlCol="0" anchor="t"/>
          <a:lstStyle/>
          <a:p>
            <a:pPr marL="0" indent="0">
              <a:buNone/>
            </a:pPr>
            <a:r>
              <a:rPr lang="en-US" sz="2000" b="1" dirty="0">
                <a:solidFill>
                  <a:schemeClr val="bg1"/>
                </a:solidFill>
              </a:rPr>
              <a:t>Save, Verify &amp; Report</a:t>
            </a:r>
            <a:endParaRPr lang="en-US" sz="2000" dirty="0"/>
          </a:p>
        </p:txBody>
      </p:sp>
      <p:sp>
        <p:nvSpPr>
          <p:cNvPr id="32" name="Text 28"/>
          <p:cNvSpPr txBox="1"/>
          <p:nvPr/>
        </p:nvSpPr>
        <p:spPr>
          <a:xfrm>
            <a:off x="8503920" y="27889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DATA SOURCE</a:t>
            </a:r>
            <a:endParaRPr lang="en-US" sz="1100" dirty="0"/>
          </a:p>
        </p:txBody>
      </p:sp>
      <p:sp>
        <p:nvSpPr>
          <p:cNvPr id="33" name="Text 29"/>
          <p:cNvSpPr txBox="1"/>
          <p:nvPr/>
        </p:nvSpPr>
        <p:spPr>
          <a:xfrm>
            <a:off x="8503920" y="3063240"/>
            <a:ext cx="2834640" cy="594360"/>
          </a:xfrm>
          <a:prstGeom prst="rect">
            <a:avLst/>
          </a:prstGeom>
          <a:noFill/>
          <a:ln/>
        </p:spPr>
        <p:txBody>
          <a:bodyPr wrap="square" lIns="0" tIns="0" rIns="0" bIns="0" rtlCol="0" anchor="t"/>
          <a:lstStyle/>
          <a:p>
            <a:pPr marL="0" indent="0">
              <a:buNone/>
            </a:pPr>
            <a:r>
              <a:rPr lang="en-US" sz="1400" dirty="0">
                <a:solidFill>
                  <a:schemeClr val="tx1"/>
                </a:solidFill>
              </a:rPr>
              <a:t>Excel</a:t>
            </a:r>
            <a:endParaRPr lang="en-US" sz="1400" dirty="0"/>
          </a:p>
        </p:txBody>
      </p:sp>
      <p:sp>
        <p:nvSpPr>
          <p:cNvPr id="34" name="Text 30"/>
          <p:cNvSpPr txBox="1"/>
          <p:nvPr/>
        </p:nvSpPr>
        <p:spPr>
          <a:xfrm>
            <a:off x="8503920" y="37033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REPORT COLUMNS</a:t>
            </a:r>
            <a:endParaRPr lang="en-US" sz="1100" dirty="0"/>
          </a:p>
        </p:txBody>
      </p:sp>
      <p:sp>
        <p:nvSpPr>
          <p:cNvPr id="35" name="Text 31"/>
          <p:cNvSpPr txBox="1"/>
          <p:nvPr/>
        </p:nvSpPr>
        <p:spPr>
          <a:xfrm>
            <a:off x="8503920" y="3977640"/>
            <a:ext cx="2834640" cy="594360"/>
          </a:xfrm>
          <a:prstGeom prst="rect">
            <a:avLst/>
          </a:prstGeom>
          <a:noFill/>
          <a:ln/>
        </p:spPr>
        <p:txBody>
          <a:bodyPr wrap="square" lIns="0" tIns="0" rIns="0" bIns="0" rtlCol="0" anchor="t"/>
          <a:lstStyle/>
          <a:p>
            <a:pPr marL="0" indent="0">
              <a:buNone/>
            </a:pPr>
            <a:r>
              <a:rPr lang="en-US" sz="1400" dirty="0">
                <a:solidFill>
                  <a:schemeClr val="tx1"/>
                </a:solidFill>
              </a:rPr>
              <a:t>—</a:t>
            </a:r>
            <a:endParaRPr lang="en-US" sz="1400" dirty="0"/>
          </a:p>
        </p:txBody>
      </p:sp>
      <p:sp>
        <p:nvSpPr>
          <p:cNvPr id="36" name="Text 32"/>
          <p:cNvSpPr txBox="1"/>
          <p:nvPr/>
        </p:nvSpPr>
        <p:spPr>
          <a:xfrm>
            <a:off x="8503920" y="4617720"/>
            <a:ext cx="28346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OUTPUT</a:t>
            </a:r>
            <a:endParaRPr lang="en-US" sz="1100" dirty="0"/>
          </a:p>
        </p:txBody>
      </p:sp>
      <p:sp>
        <p:nvSpPr>
          <p:cNvPr id="37" name="Text 33"/>
          <p:cNvSpPr txBox="1"/>
          <p:nvPr/>
        </p:nvSpPr>
        <p:spPr>
          <a:xfrm>
            <a:off x="8503920" y="4892040"/>
            <a:ext cx="2834640" cy="594360"/>
          </a:xfrm>
          <a:prstGeom prst="rect">
            <a:avLst/>
          </a:prstGeom>
          <a:noFill/>
          <a:ln/>
        </p:spPr>
        <p:txBody>
          <a:bodyPr wrap="square" lIns="0" tIns="0" rIns="0" bIns="0" rtlCol="0" anchor="t"/>
          <a:lstStyle/>
          <a:p>
            <a:pPr marL="0" indent="0">
              <a:buNone/>
            </a:pPr>
            <a:r>
              <a:rPr lang="en-US" sz="1400" dirty="0">
                <a:solidFill>
                  <a:schemeClr val="tx1"/>
                </a:solidFill>
              </a:rPr>
              <a:t>Final report + follow-up notes</a:t>
            </a:r>
            <a:endParaRPr lang="en-US" sz="1400" dirty="0"/>
          </a:p>
        </p:txBody>
      </p:sp>
      <p:sp>
        <p:nvSpPr>
          <p:cNvPr id="38" name="Text 34"/>
          <p:cNvSpPr txBox="1"/>
          <p:nvPr/>
        </p:nvSpPr>
        <p:spPr>
          <a:xfrm>
            <a:off x="548640" y="5806440"/>
            <a:ext cx="11064240" cy="365760"/>
          </a:xfrm>
          <a:prstGeom prst="rect">
            <a:avLst/>
          </a:prstGeom>
          <a:noFill/>
          <a:ln/>
        </p:spPr>
        <p:txBody>
          <a:bodyPr wrap="square" lIns="0" tIns="0" rIns="0" bIns="0" rtlCol="0" anchor="t"/>
          <a:lstStyle/>
          <a:p>
            <a:pPr marL="0" indent="0">
              <a:buNone/>
            </a:pPr>
            <a:r>
              <a:rPr lang="en-US" sz="1400" i="1" dirty="0">
                <a:solidFill>
                  <a:schemeClr val="accent5"/>
                </a:solidFill>
              </a:rPr>
              <a:t>The stages are the same in both workflows — what changes is who does the searching and typing.</a:t>
            </a:r>
            <a:endParaRPr lang="en-US" sz="1400" dirty="0"/>
          </a:p>
        </p:txBody>
      </p:sp>
      <p:sp>
        <p:nvSpPr>
          <p:cNvPr id="39" name="Slide Number Placeholder 0"/>
          <p:cNvSpPr>
            <a:spLocks noGrp="1"/>
          </p:cNvSpPr>
          <p:nvPr>
            <p:ph type="sldNum" sz="quarter" idx="4294967295"/>
          </p:nvPr>
        </p:nvSpPr>
        <p:spPr>
          <a:xfrm>
            <a:off x="11155680" y="6492240"/>
            <a:ext cx="45720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1"/>
                </a:solidFill>
              </a:rPr>
              <a:t>Alur manual: 8 langkah, ±4 jam setiap proses</a:t>
            </a:r>
            <a:endParaRPr lang="en-US" sz="3400" dirty="0"/>
          </a:p>
        </p:txBody>
      </p:sp>
      <p:sp>
        <p:nvSpPr>
          <p:cNvPr id="3" name="Langkah manual 1"/>
          <p:cNvSpPr/>
          <p:nvPr/>
        </p:nvSpPr>
        <p:spPr>
          <a:xfrm>
            <a:off x="548640" y="150876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4" name="Ikon langkah 1 lingkaran"/>
          <p:cNvSpPr/>
          <p:nvPr/>
        </p:nvSpPr>
        <p:spPr>
          <a:xfrm>
            <a:off x="777240" y="1737360"/>
            <a:ext cx="640080" cy="640080"/>
          </a:xfrm>
          <a:prstGeom prst="ellipse">
            <a:avLst/>
          </a:prstGeom>
          <a:solidFill>
            <a:schemeClr val="accent2"/>
          </a:solidFill>
          <a:ln w="12700">
            <a:solidFill>
              <a:schemeClr val="accent2"/>
            </a:solidFill>
            <a:prstDash val="solid"/>
          </a:ln>
        </p:spPr>
      </p:sp>
      <p:pic>
        <p:nvPicPr>
          <p:cNvPr id="5" name="Ikon langkah 1 ikon" descr="Ikon langkah 1"/>
          <p:cNvPicPr>
            <a:picLocks noChangeAspect="1"/>
          </p:cNvPicPr>
          <p:nvPr/>
        </p:nvPicPr>
        <p:blipFill>
          <a:blip r:embed="rId3"/>
          <a:stretch>
            <a:fillRect/>
          </a:stretch>
        </p:blipFill>
        <p:spPr>
          <a:xfrm>
            <a:off x="950062" y="1910182"/>
            <a:ext cx="294437" cy="294437"/>
          </a:xfrm>
          <a:prstGeom prst="rect">
            <a:avLst/>
          </a:prstGeom>
        </p:spPr>
      </p:pic>
      <p:sp>
        <p:nvSpPr>
          <p:cNvPr id="6" name="Text 3"/>
          <p:cNvSpPr txBox="1"/>
          <p:nvPr/>
        </p:nvSpPr>
        <p:spPr>
          <a:xfrm>
            <a:off x="2282114" y="169164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1</a:t>
            </a:r>
            <a:endParaRPr lang="en-US" sz="2800" dirty="0"/>
          </a:p>
        </p:txBody>
      </p:sp>
      <p:sp>
        <p:nvSpPr>
          <p:cNvPr id="7" name="Text 4"/>
          <p:cNvSpPr txBox="1"/>
          <p:nvPr/>
        </p:nvSpPr>
        <p:spPr>
          <a:xfrm>
            <a:off x="777240" y="2423160"/>
            <a:ext cx="2007794" cy="594360"/>
          </a:xfrm>
          <a:prstGeom prst="rect">
            <a:avLst/>
          </a:prstGeom>
          <a:noFill/>
          <a:ln/>
        </p:spPr>
        <p:txBody>
          <a:bodyPr wrap="square" lIns="0" tIns="0" rIns="0" bIns="0" rtlCol="0" anchor="t"/>
          <a:lstStyle/>
          <a:p>
            <a:pPr marL="0" indent="0">
              <a:buNone/>
            </a:pPr>
            <a:r>
              <a:rPr lang="en-US" sz="1400" b="1" dirty="0">
                <a:solidFill>
                  <a:schemeClr val="tx1"/>
                </a:solidFill>
              </a:rPr>
              <a:t>Unduh data booking dari portal</a:t>
            </a:r>
            <a:endParaRPr lang="en-US" sz="1400" dirty="0"/>
          </a:p>
        </p:txBody>
      </p:sp>
      <p:sp>
        <p:nvSpPr>
          <p:cNvPr id="8" name="Text 5"/>
          <p:cNvSpPr txBox="1"/>
          <p:nvPr/>
        </p:nvSpPr>
        <p:spPr>
          <a:xfrm>
            <a:off x="777240" y="306324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±10 menit</a:t>
            </a:r>
            <a:r>
              <a:rPr lang="en-US" sz="1100" dirty="0">
                <a:solidFill>
                  <a:schemeClr val="accent2"/>
                </a:solidFill>
              </a:rPr>
              <a:t>  estimasi</a:t>
            </a:r>
            <a:endParaRPr lang="en-US" sz="1400" dirty="0"/>
          </a:p>
        </p:txBody>
      </p:sp>
      <p:sp>
        <p:nvSpPr>
          <p:cNvPr id="9" name="Panah manual 1"/>
          <p:cNvSpPr/>
          <p:nvPr/>
        </p:nvSpPr>
        <p:spPr>
          <a:xfrm>
            <a:off x="3118790" y="2327148"/>
            <a:ext cx="201168" cy="329184"/>
          </a:xfrm>
          <a:prstGeom prst="chevron">
            <a:avLst/>
          </a:prstGeom>
          <a:solidFill>
            <a:schemeClr val="accent6"/>
          </a:solidFill>
          <a:ln w="12700">
            <a:solidFill>
              <a:schemeClr val="accent6"/>
            </a:solidFill>
            <a:prstDash val="solid"/>
          </a:ln>
        </p:spPr>
      </p:sp>
      <p:sp>
        <p:nvSpPr>
          <p:cNvPr id="10" name="Langkah manual 2"/>
          <p:cNvSpPr/>
          <p:nvPr/>
        </p:nvSpPr>
        <p:spPr>
          <a:xfrm>
            <a:off x="3425114" y="150876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1" name="Ikon langkah 2 lingkaran"/>
          <p:cNvSpPr/>
          <p:nvPr/>
        </p:nvSpPr>
        <p:spPr>
          <a:xfrm>
            <a:off x="3653714" y="1737360"/>
            <a:ext cx="640080" cy="640080"/>
          </a:xfrm>
          <a:prstGeom prst="ellipse">
            <a:avLst/>
          </a:prstGeom>
          <a:solidFill>
            <a:schemeClr val="accent2"/>
          </a:solidFill>
          <a:ln w="12700">
            <a:solidFill>
              <a:schemeClr val="accent2"/>
            </a:solidFill>
            <a:prstDash val="solid"/>
          </a:ln>
        </p:spPr>
      </p:sp>
      <p:pic>
        <p:nvPicPr>
          <p:cNvPr id="12" name="Ikon langkah 2 ikon" descr="Ikon langkah 2"/>
          <p:cNvPicPr>
            <a:picLocks noChangeAspect="1"/>
          </p:cNvPicPr>
          <p:nvPr/>
        </p:nvPicPr>
        <p:blipFill>
          <a:blip r:embed="rId4"/>
          <a:stretch>
            <a:fillRect/>
          </a:stretch>
        </p:blipFill>
        <p:spPr>
          <a:xfrm>
            <a:off x="3826535" y="1910182"/>
            <a:ext cx="294437" cy="294437"/>
          </a:xfrm>
          <a:prstGeom prst="rect">
            <a:avLst/>
          </a:prstGeom>
        </p:spPr>
      </p:pic>
      <p:sp>
        <p:nvSpPr>
          <p:cNvPr id="13" name="Text 9"/>
          <p:cNvSpPr txBox="1"/>
          <p:nvPr/>
        </p:nvSpPr>
        <p:spPr>
          <a:xfrm>
            <a:off x="5158588" y="169164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2</a:t>
            </a:r>
            <a:endParaRPr lang="en-US" sz="2800" dirty="0"/>
          </a:p>
        </p:txBody>
      </p:sp>
      <p:sp>
        <p:nvSpPr>
          <p:cNvPr id="14" name="Text 10"/>
          <p:cNvSpPr txBox="1"/>
          <p:nvPr/>
        </p:nvSpPr>
        <p:spPr>
          <a:xfrm>
            <a:off x="3653714" y="2423160"/>
            <a:ext cx="2007794" cy="594360"/>
          </a:xfrm>
          <a:prstGeom prst="rect">
            <a:avLst/>
          </a:prstGeom>
          <a:noFill/>
          <a:ln/>
        </p:spPr>
        <p:txBody>
          <a:bodyPr wrap="square" lIns="0" tIns="0" rIns="0" bIns="0" rtlCol="0" anchor="t"/>
          <a:lstStyle/>
          <a:p>
            <a:pPr marL="0" indent="0">
              <a:buNone/>
            </a:pPr>
            <a:r>
              <a:rPr lang="en-US" sz="1400" b="1" dirty="0">
                <a:solidFill>
                  <a:schemeClr val="tx1"/>
                </a:solidFill>
              </a:rPr>
              <a:t>Salin booking ke sheet voyage di template</a:t>
            </a:r>
            <a:endParaRPr lang="en-US" sz="1400" dirty="0"/>
          </a:p>
        </p:txBody>
      </p:sp>
      <p:sp>
        <p:nvSpPr>
          <p:cNvPr id="15" name="Text 11"/>
          <p:cNvSpPr txBox="1"/>
          <p:nvPr/>
        </p:nvSpPr>
        <p:spPr>
          <a:xfrm>
            <a:off x="3653714" y="306324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±40 menit</a:t>
            </a:r>
            <a:r>
              <a:rPr lang="en-US" sz="1100" dirty="0">
                <a:solidFill>
                  <a:schemeClr val="accent2"/>
                </a:solidFill>
              </a:rPr>
              <a:t>  estimasi</a:t>
            </a:r>
            <a:endParaRPr lang="en-US" sz="1400" dirty="0"/>
          </a:p>
        </p:txBody>
      </p:sp>
      <p:sp>
        <p:nvSpPr>
          <p:cNvPr id="16" name="Panah manual 2"/>
          <p:cNvSpPr/>
          <p:nvPr/>
        </p:nvSpPr>
        <p:spPr>
          <a:xfrm>
            <a:off x="5995264" y="2327148"/>
            <a:ext cx="201168" cy="329184"/>
          </a:xfrm>
          <a:prstGeom prst="chevron">
            <a:avLst/>
          </a:prstGeom>
          <a:solidFill>
            <a:schemeClr val="accent6"/>
          </a:solidFill>
          <a:ln w="12700">
            <a:solidFill>
              <a:schemeClr val="accent6"/>
            </a:solidFill>
            <a:prstDash val="solid"/>
          </a:ln>
        </p:spPr>
      </p:sp>
      <p:sp>
        <p:nvSpPr>
          <p:cNvPr id="17" name="Langkah manual 3"/>
          <p:cNvSpPr/>
          <p:nvPr/>
        </p:nvSpPr>
        <p:spPr>
          <a:xfrm>
            <a:off x="6301588" y="150876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8" name="Ikon langkah 3 lingkaran"/>
          <p:cNvSpPr/>
          <p:nvPr/>
        </p:nvSpPr>
        <p:spPr>
          <a:xfrm>
            <a:off x="6530188" y="1737360"/>
            <a:ext cx="640080" cy="640080"/>
          </a:xfrm>
          <a:prstGeom prst="ellipse">
            <a:avLst/>
          </a:prstGeom>
          <a:solidFill>
            <a:schemeClr val="accent2"/>
          </a:solidFill>
          <a:ln w="12700">
            <a:solidFill>
              <a:schemeClr val="accent2"/>
            </a:solidFill>
            <a:prstDash val="solid"/>
          </a:ln>
        </p:spPr>
      </p:sp>
      <p:pic>
        <p:nvPicPr>
          <p:cNvPr id="19" name="Ikon langkah 3 ikon" descr="Ikon langkah 3"/>
          <p:cNvPicPr>
            <a:picLocks noChangeAspect="1"/>
          </p:cNvPicPr>
          <p:nvPr/>
        </p:nvPicPr>
        <p:blipFill>
          <a:blip r:embed="rId5"/>
          <a:stretch>
            <a:fillRect/>
          </a:stretch>
        </p:blipFill>
        <p:spPr>
          <a:xfrm>
            <a:off x="6703009" y="1910182"/>
            <a:ext cx="294437" cy="294437"/>
          </a:xfrm>
          <a:prstGeom prst="rect">
            <a:avLst/>
          </a:prstGeom>
        </p:spPr>
      </p:pic>
      <p:sp>
        <p:nvSpPr>
          <p:cNvPr id="20" name="Text 15"/>
          <p:cNvSpPr txBox="1"/>
          <p:nvPr/>
        </p:nvSpPr>
        <p:spPr>
          <a:xfrm>
            <a:off x="8035061" y="169164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3</a:t>
            </a:r>
            <a:endParaRPr lang="en-US" sz="2800" dirty="0"/>
          </a:p>
        </p:txBody>
      </p:sp>
      <p:sp>
        <p:nvSpPr>
          <p:cNvPr id="21" name="Text 16"/>
          <p:cNvSpPr txBox="1"/>
          <p:nvPr/>
        </p:nvSpPr>
        <p:spPr>
          <a:xfrm>
            <a:off x="6530188" y="2423160"/>
            <a:ext cx="2007794" cy="594360"/>
          </a:xfrm>
          <a:prstGeom prst="rect">
            <a:avLst/>
          </a:prstGeom>
          <a:noFill/>
          <a:ln/>
        </p:spPr>
        <p:txBody>
          <a:bodyPr wrap="square" lIns="0" tIns="0" rIns="0" bIns="0" rtlCol="0" anchor="t"/>
          <a:lstStyle/>
          <a:p>
            <a:pPr marL="0" indent="0">
              <a:buNone/>
            </a:pPr>
            <a:r>
              <a:rPr lang="en-US" sz="1400" b="1" dirty="0">
                <a:solidFill>
                  <a:schemeClr val="tx1"/>
                </a:solidFill>
              </a:rPr>
              <a:t>Isi salesman, shipper, delivery, komoditas</a:t>
            </a:r>
            <a:endParaRPr lang="en-US" sz="1400" dirty="0"/>
          </a:p>
        </p:txBody>
      </p:sp>
      <p:sp>
        <p:nvSpPr>
          <p:cNvPr id="22" name="Text 17"/>
          <p:cNvSpPr txBox="1"/>
          <p:nvPr/>
        </p:nvSpPr>
        <p:spPr>
          <a:xfrm>
            <a:off x="6530188" y="306324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±60 menit</a:t>
            </a:r>
            <a:r>
              <a:rPr lang="en-US" sz="1100" dirty="0">
                <a:solidFill>
                  <a:schemeClr val="accent2"/>
                </a:solidFill>
              </a:rPr>
              <a:t>  estimasi</a:t>
            </a:r>
            <a:endParaRPr lang="en-US" sz="1400" dirty="0"/>
          </a:p>
        </p:txBody>
      </p:sp>
      <p:sp>
        <p:nvSpPr>
          <p:cNvPr id="23" name="Panah manual 3"/>
          <p:cNvSpPr/>
          <p:nvPr/>
        </p:nvSpPr>
        <p:spPr>
          <a:xfrm>
            <a:off x="8871737" y="2327148"/>
            <a:ext cx="201168" cy="329184"/>
          </a:xfrm>
          <a:prstGeom prst="chevron">
            <a:avLst/>
          </a:prstGeom>
          <a:solidFill>
            <a:schemeClr val="accent6"/>
          </a:solidFill>
          <a:ln w="12700">
            <a:solidFill>
              <a:schemeClr val="accent6"/>
            </a:solidFill>
            <a:prstDash val="solid"/>
          </a:ln>
        </p:spPr>
      </p:sp>
      <p:sp>
        <p:nvSpPr>
          <p:cNvPr id="24" name="Langkah manual 4"/>
          <p:cNvSpPr/>
          <p:nvPr/>
        </p:nvSpPr>
        <p:spPr>
          <a:xfrm>
            <a:off x="9178061" y="150876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25" name="Ikon langkah 4 lingkaran"/>
          <p:cNvSpPr/>
          <p:nvPr/>
        </p:nvSpPr>
        <p:spPr>
          <a:xfrm>
            <a:off x="9406661" y="1737360"/>
            <a:ext cx="640080" cy="640080"/>
          </a:xfrm>
          <a:prstGeom prst="ellipse">
            <a:avLst/>
          </a:prstGeom>
          <a:solidFill>
            <a:schemeClr val="accent2"/>
          </a:solidFill>
          <a:ln w="12700">
            <a:solidFill>
              <a:schemeClr val="accent2"/>
            </a:solidFill>
            <a:prstDash val="solid"/>
          </a:ln>
        </p:spPr>
      </p:sp>
      <p:pic>
        <p:nvPicPr>
          <p:cNvPr id="26" name="Ikon langkah 4 ikon" descr="Ikon langkah 4"/>
          <p:cNvPicPr>
            <a:picLocks noChangeAspect="1"/>
          </p:cNvPicPr>
          <p:nvPr/>
        </p:nvPicPr>
        <p:blipFill>
          <a:blip r:embed="rId6"/>
          <a:stretch>
            <a:fillRect/>
          </a:stretch>
        </p:blipFill>
        <p:spPr>
          <a:xfrm>
            <a:off x="9579483" y="1910182"/>
            <a:ext cx="294437" cy="294437"/>
          </a:xfrm>
          <a:prstGeom prst="rect">
            <a:avLst/>
          </a:prstGeom>
        </p:spPr>
      </p:pic>
      <p:sp>
        <p:nvSpPr>
          <p:cNvPr id="27" name="Text 21"/>
          <p:cNvSpPr txBox="1"/>
          <p:nvPr/>
        </p:nvSpPr>
        <p:spPr>
          <a:xfrm>
            <a:off x="10911535" y="169164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4</a:t>
            </a:r>
            <a:endParaRPr lang="en-US" sz="2800" dirty="0"/>
          </a:p>
        </p:txBody>
      </p:sp>
      <p:sp>
        <p:nvSpPr>
          <p:cNvPr id="28" name="Text 22"/>
          <p:cNvSpPr txBox="1"/>
          <p:nvPr/>
        </p:nvSpPr>
        <p:spPr>
          <a:xfrm>
            <a:off x="9406661" y="2423160"/>
            <a:ext cx="2007794" cy="594360"/>
          </a:xfrm>
          <a:prstGeom prst="rect">
            <a:avLst/>
          </a:prstGeom>
          <a:noFill/>
          <a:ln/>
        </p:spPr>
        <p:txBody>
          <a:bodyPr wrap="square" lIns="0" tIns="0" rIns="0" bIns="0" rtlCol="0" anchor="t"/>
          <a:lstStyle/>
          <a:p>
            <a:pPr marL="0" indent="0">
              <a:buNone/>
            </a:pPr>
            <a:r>
              <a:rPr lang="en-US" sz="1400" b="1" dirty="0">
                <a:solidFill>
                  <a:schemeClr val="tx1"/>
                </a:solidFill>
              </a:rPr>
              <a:t>Kelompokkan ke blok tujuan</a:t>
            </a:r>
            <a:endParaRPr lang="en-US" sz="1400" dirty="0"/>
          </a:p>
        </p:txBody>
      </p:sp>
      <p:sp>
        <p:nvSpPr>
          <p:cNvPr id="29" name="Text 23"/>
          <p:cNvSpPr txBox="1"/>
          <p:nvPr/>
        </p:nvSpPr>
        <p:spPr>
          <a:xfrm>
            <a:off x="9406661" y="306324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±30 menit</a:t>
            </a:r>
            <a:r>
              <a:rPr lang="en-US" sz="1100" dirty="0">
                <a:solidFill>
                  <a:schemeClr val="accent2"/>
                </a:solidFill>
              </a:rPr>
              <a:t>  estimasi</a:t>
            </a:r>
            <a:endParaRPr lang="en-US" sz="1400" dirty="0"/>
          </a:p>
        </p:txBody>
      </p:sp>
      <p:sp>
        <p:nvSpPr>
          <p:cNvPr id="30" name="Langkah manual 5"/>
          <p:cNvSpPr/>
          <p:nvPr/>
        </p:nvSpPr>
        <p:spPr>
          <a:xfrm>
            <a:off x="548640" y="384048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31" name="Ikon langkah 5 lingkaran"/>
          <p:cNvSpPr/>
          <p:nvPr/>
        </p:nvSpPr>
        <p:spPr>
          <a:xfrm>
            <a:off x="777240" y="4069080"/>
            <a:ext cx="640080" cy="640080"/>
          </a:xfrm>
          <a:prstGeom prst="ellipse">
            <a:avLst/>
          </a:prstGeom>
          <a:solidFill>
            <a:schemeClr val="accent2"/>
          </a:solidFill>
          <a:ln w="12700">
            <a:solidFill>
              <a:schemeClr val="accent2"/>
            </a:solidFill>
            <a:prstDash val="solid"/>
          </a:ln>
        </p:spPr>
      </p:sp>
      <p:pic>
        <p:nvPicPr>
          <p:cNvPr id="32" name="Ikon langkah 5 ikon" descr="Ikon langkah 5"/>
          <p:cNvPicPr>
            <a:picLocks noChangeAspect="1"/>
          </p:cNvPicPr>
          <p:nvPr/>
        </p:nvPicPr>
        <p:blipFill>
          <a:blip r:embed="rId7"/>
          <a:stretch>
            <a:fillRect/>
          </a:stretch>
        </p:blipFill>
        <p:spPr>
          <a:xfrm>
            <a:off x="950062" y="4241902"/>
            <a:ext cx="294437" cy="294437"/>
          </a:xfrm>
          <a:prstGeom prst="rect">
            <a:avLst/>
          </a:prstGeom>
        </p:spPr>
      </p:pic>
      <p:sp>
        <p:nvSpPr>
          <p:cNvPr id="33" name="Text 26"/>
          <p:cNvSpPr txBox="1"/>
          <p:nvPr/>
        </p:nvSpPr>
        <p:spPr>
          <a:xfrm>
            <a:off x="2282114" y="402336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5</a:t>
            </a:r>
            <a:endParaRPr lang="en-US" sz="2800" dirty="0"/>
          </a:p>
        </p:txBody>
      </p:sp>
      <p:sp>
        <p:nvSpPr>
          <p:cNvPr id="34" name="Text 27"/>
          <p:cNvSpPr txBox="1"/>
          <p:nvPr/>
        </p:nvSpPr>
        <p:spPr>
          <a:xfrm>
            <a:off x="777240" y="4754880"/>
            <a:ext cx="2007794" cy="594360"/>
          </a:xfrm>
          <a:prstGeom prst="rect">
            <a:avLst/>
          </a:prstGeom>
          <a:noFill/>
          <a:ln/>
        </p:spPr>
        <p:txBody>
          <a:bodyPr wrap="square" lIns="0" tIns="0" rIns="0" bIns="0" rtlCol="0" anchor="t"/>
          <a:lstStyle/>
          <a:p>
            <a:pPr marL="0" indent="0">
              <a:buNone/>
            </a:pPr>
            <a:r>
              <a:rPr lang="en-US" sz="1400" b="1" dirty="0">
                <a:solidFill>
                  <a:schemeClr val="tx1"/>
                </a:solidFill>
              </a:rPr>
              <a:t>Isi nomor container dan seal dari logistik</a:t>
            </a:r>
            <a:endParaRPr lang="en-US" sz="1400" dirty="0"/>
          </a:p>
        </p:txBody>
      </p:sp>
      <p:sp>
        <p:nvSpPr>
          <p:cNvPr id="35" name="Text 28"/>
          <p:cNvSpPr txBox="1"/>
          <p:nvPr/>
        </p:nvSpPr>
        <p:spPr>
          <a:xfrm>
            <a:off x="777240" y="539496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±45 menit</a:t>
            </a:r>
            <a:r>
              <a:rPr lang="en-US" sz="1100" dirty="0">
                <a:solidFill>
                  <a:schemeClr val="accent2"/>
                </a:solidFill>
              </a:rPr>
              <a:t>  estimasi</a:t>
            </a:r>
            <a:endParaRPr lang="en-US" sz="1400" dirty="0"/>
          </a:p>
        </p:txBody>
      </p:sp>
      <p:sp>
        <p:nvSpPr>
          <p:cNvPr id="36" name="Panah manual 5"/>
          <p:cNvSpPr/>
          <p:nvPr/>
        </p:nvSpPr>
        <p:spPr>
          <a:xfrm>
            <a:off x="3118790" y="4658868"/>
            <a:ext cx="201168" cy="329184"/>
          </a:xfrm>
          <a:prstGeom prst="chevron">
            <a:avLst/>
          </a:prstGeom>
          <a:solidFill>
            <a:schemeClr val="accent6"/>
          </a:solidFill>
          <a:ln w="12700">
            <a:solidFill>
              <a:schemeClr val="accent6"/>
            </a:solidFill>
            <a:prstDash val="solid"/>
          </a:ln>
        </p:spPr>
      </p:sp>
      <p:sp>
        <p:nvSpPr>
          <p:cNvPr id="37" name="Langkah manual 6"/>
          <p:cNvSpPr/>
          <p:nvPr/>
        </p:nvSpPr>
        <p:spPr>
          <a:xfrm>
            <a:off x="3425114" y="384048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38" name="Ikon langkah 6 lingkaran"/>
          <p:cNvSpPr/>
          <p:nvPr/>
        </p:nvSpPr>
        <p:spPr>
          <a:xfrm>
            <a:off x="3653714" y="4069080"/>
            <a:ext cx="640080" cy="640080"/>
          </a:xfrm>
          <a:prstGeom prst="ellipse">
            <a:avLst/>
          </a:prstGeom>
          <a:solidFill>
            <a:schemeClr val="accent2"/>
          </a:solidFill>
          <a:ln w="12700">
            <a:solidFill>
              <a:schemeClr val="accent2"/>
            </a:solidFill>
            <a:prstDash val="solid"/>
          </a:ln>
        </p:spPr>
      </p:sp>
      <p:pic>
        <p:nvPicPr>
          <p:cNvPr id="39" name="Ikon langkah 6 ikon" descr="Ikon langkah 6"/>
          <p:cNvPicPr>
            <a:picLocks noChangeAspect="1"/>
          </p:cNvPicPr>
          <p:nvPr/>
        </p:nvPicPr>
        <p:blipFill>
          <a:blip r:embed="rId8"/>
          <a:stretch>
            <a:fillRect/>
          </a:stretch>
        </p:blipFill>
        <p:spPr>
          <a:xfrm>
            <a:off x="3826535" y="4241902"/>
            <a:ext cx="294437" cy="294437"/>
          </a:xfrm>
          <a:prstGeom prst="rect">
            <a:avLst/>
          </a:prstGeom>
        </p:spPr>
      </p:pic>
      <p:sp>
        <p:nvSpPr>
          <p:cNvPr id="40" name="Text 32"/>
          <p:cNvSpPr txBox="1"/>
          <p:nvPr/>
        </p:nvSpPr>
        <p:spPr>
          <a:xfrm>
            <a:off x="5158588" y="402336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6</a:t>
            </a:r>
            <a:endParaRPr lang="en-US" sz="2800" dirty="0"/>
          </a:p>
        </p:txBody>
      </p:sp>
      <p:sp>
        <p:nvSpPr>
          <p:cNvPr id="41" name="Text 33"/>
          <p:cNvSpPr txBox="1"/>
          <p:nvPr/>
        </p:nvSpPr>
        <p:spPr>
          <a:xfrm>
            <a:off x="3653714" y="4754880"/>
            <a:ext cx="2007794" cy="594360"/>
          </a:xfrm>
          <a:prstGeom prst="rect">
            <a:avLst/>
          </a:prstGeom>
          <a:noFill/>
          <a:ln/>
        </p:spPr>
        <p:txBody>
          <a:bodyPr wrap="square" lIns="0" tIns="0" rIns="0" bIns="0" rtlCol="0" anchor="t"/>
          <a:lstStyle/>
          <a:p>
            <a:pPr marL="0" indent="0">
              <a:buNone/>
            </a:pPr>
            <a:r>
              <a:rPr lang="en-US" sz="1400" b="1" dirty="0">
                <a:solidFill>
                  <a:schemeClr val="tx1"/>
                </a:solidFill>
              </a:rPr>
              <a:t>Tandai kargo khusus dan container kurang</a:t>
            </a:r>
            <a:endParaRPr lang="en-US" sz="1400" dirty="0"/>
          </a:p>
        </p:txBody>
      </p:sp>
      <p:sp>
        <p:nvSpPr>
          <p:cNvPr id="42" name="Text 34"/>
          <p:cNvSpPr txBox="1"/>
          <p:nvPr/>
        </p:nvSpPr>
        <p:spPr>
          <a:xfrm>
            <a:off x="3653714" y="539496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±20 menit</a:t>
            </a:r>
            <a:r>
              <a:rPr lang="en-US" sz="1100" dirty="0">
                <a:solidFill>
                  <a:schemeClr val="accent2"/>
                </a:solidFill>
              </a:rPr>
              <a:t>  estimasi</a:t>
            </a:r>
            <a:endParaRPr lang="en-US" sz="1400" dirty="0"/>
          </a:p>
        </p:txBody>
      </p:sp>
      <p:sp>
        <p:nvSpPr>
          <p:cNvPr id="43" name="Panah manual 6"/>
          <p:cNvSpPr/>
          <p:nvPr/>
        </p:nvSpPr>
        <p:spPr>
          <a:xfrm>
            <a:off x="5995264" y="4658868"/>
            <a:ext cx="201168" cy="329184"/>
          </a:xfrm>
          <a:prstGeom prst="chevron">
            <a:avLst/>
          </a:prstGeom>
          <a:solidFill>
            <a:schemeClr val="accent6"/>
          </a:solidFill>
          <a:ln w="12700">
            <a:solidFill>
              <a:schemeClr val="accent6"/>
            </a:solidFill>
            <a:prstDash val="solid"/>
          </a:ln>
        </p:spPr>
      </p:sp>
      <p:sp>
        <p:nvSpPr>
          <p:cNvPr id="44" name="Langkah manual 7"/>
          <p:cNvSpPr/>
          <p:nvPr/>
        </p:nvSpPr>
        <p:spPr>
          <a:xfrm>
            <a:off x="6301588" y="384048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45" name="Ikon langkah 7 lingkaran"/>
          <p:cNvSpPr/>
          <p:nvPr/>
        </p:nvSpPr>
        <p:spPr>
          <a:xfrm>
            <a:off x="6530188" y="4069080"/>
            <a:ext cx="640080" cy="640080"/>
          </a:xfrm>
          <a:prstGeom prst="ellipse">
            <a:avLst/>
          </a:prstGeom>
          <a:solidFill>
            <a:schemeClr val="accent2"/>
          </a:solidFill>
          <a:ln w="12700">
            <a:solidFill>
              <a:schemeClr val="accent2"/>
            </a:solidFill>
            <a:prstDash val="solid"/>
          </a:ln>
        </p:spPr>
      </p:sp>
      <p:pic>
        <p:nvPicPr>
          <p:cNvPr id="46" name="Ikon langkah 7 ikon" descr="Ikon langkah 7"/>
          <p:cNvPicPr>
            <a:picLocks noChangeAspect="1"/>
          </p:cNvPicPr>
          <p:nvPr/>
        </p:nvPicPr>
        <p:blipFill>
          <a:blip r:embed="rId9"/>
          <a:stretch>
            <a:fillRect/>
          </a:stretch>
        </p:blipFill>
        <p:spPr>
          <a:xfrm>
            <a:off x="6703009" y="4241902"/>
            <a:ext cx="294437" cy="294437"/>
          </a:xfrm>
          <a:prstGeom prst="rect">
            <a:avLst/>
          </a:prstGeom>
        </p:spPr>
      </p:pic>
      <p:sp>
        <p:nvSpPr>
          <p:cNvPr id="47" name="Text 38"/>
          <p:cNvSpPr txBox="1"/>
          <p:nvPr/>
        </p:nvSpPr>
        <p:spPr>
          <a:xfrm>
            <a:off x="8035061" y="402336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7</a:t>
            </a:r>
            <a:endParaRPr lang="en-US" sz="2800" dirty="0"/>
          </a:p>
        </p:txBody>
      </p:sp>
      <p:sp>
        <p:nvSpPr>
          <p:cNvPr id="48" name="Text 39"/>
          <p:cNvSpPr txBox="1"/>
          <p:nvPr/>
        </p:nvSpPr>
        <p:spPr>
          <a:xfrm>
            <a:off x="6530188" y="4754880"/>
            <a:ext cx="2007794" cy="594360"/>
          </a:xfrm>
          <a:prstGeom prst="rect">
            <a:avLst/>
          </a:prstGeom>
          <a:noFill/>
          <a:ln/>
        </p:spPr>
        <p:txBody>
          <a:bodyPr wrap="square" lIns="0" tIns="0" rIns="0" bIns="0" rtlCol="0" anchor="t"/>
          <a:lstStyle/>
          <a:p>
            <a:pPr marL="0" indent="0">
              <a:buNone/>
            </a:pPr>
            <a:r>
              <a:rPr lang="en-US" sz="1400" b="1" dirty="0">
                <a:solidFill>
                  <a:schemeClr val="tx1"/>
                </a:solidFill>
              </a:rPr>
              <a:t>Review dan revisi</a:t>
            </a:r>
            <a:endParaRPr lang="en-US" sz="1400" dirty="0"/>
          </a:p>
        </p:txBody>
      </p:sp>
      <p:sp>
        <p:nvSpPr>
          <p:cNvPr id="49" name="Text 40"/>
          <p:cNvSpPr txBox="1"/>
          <p:nvPr/>
        </p:nvSpPr>
        <p:spPr>
          <a:xfrm>
            <a:off x="6530188" y="539496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±45 menit</a:t>
            </a:r>
            <a:r>
              <a:rPr lang="en-US" sz="1100" dirty="0">
                <a:solidFill>
                  <a:schemeClr val="accent2"/>
                </a:solidFill>
              </a:rPr>
              <a:t>  estimasi</a:t>
            </a:r>
            <a:endParaRPr lang="en-US" sz="1400" dirty="0"/>
          </a:p>
        </p:txBody>
      </p:sp>
      <p:sp>
        <p:nvSpPr>
          <p:cNvPr id="50" name="Panah manual 7"/>
          <p:cNvSpPr/>
          <p:nvPr/>
        </p:nvSpPr>
        <p:spPr>
          <a:xfrm>
            <a:off x="8871737" y="4658868"/>
            <a:ext cx="201168" cy="329184"/>
          </a:xfrm>
          <a:prstGeom prst="chevron">
            <a:avLst/>
          </a:prstGeom>
          <a:solidFill>
            <a:schemeClr val="accent6"/>
          </a:solidFill>
          <a:ln w="12700">
            <a:solidFill>
              <a:schemeClr val="accent6"/>
            </a:solidFill>
            <a:prstDash val="solid"/>
          </a:ln>
        </p:spPr>
      </p:sp>
      <p:sp>
        <p:nvSpPr>
          <p:cNvPr id="51" name="Langkah manual 8"/>
          <p:cNvSpPr/>
          <p:nvPr/>
        </p:nvSpPr>
        <p:spPr>
          <a:xfrm>
            <a:off x="9178061" y="3840480"/>
            <a:ext cx="2464994" cy="1965960"/>
          </a:xfrm>
          <a:prstGeom prst="roundRect">
            <a:avLst>
              <a:gd name="adj" fmla="val 558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52" name="Ikon langkah 8 lingkaran"/>
          <p:cNvSpPr/>
          <p:nvPr/>
        </p:nvSpPr>
        <p:spPr>
          <a:xfrm>
            <a:off x="9406661" y="4069080"/>
            <a:ext cx="640080" cy="640080"/>
          </a:xfrm>
          <a:prstGeom prst="ellipse">
            <a:avLst/>
          </a:prstGeom>
          <a:solidFill>
            <a:schemeClr val="accent2"/>
          </a:solidFill>
          <a:ln w="12700">
            <a:solidFill>
              <a:schemeClr val="accent2"/>
            </a:solidFill>
            <a:prstDash val="solid"/>
          </a:ln>
        </p:spPr>
      </p:sp>
      <p:pic>
        <p:nvPicPr>
          <p:cNvPr id="53" name="Ikon langkah 8 ikon" descr="Ikon langkah 8"/>
          <p:cNvPicPr>
            <a:picLocks noChangeAspect="1"/>
          </p:cNvPicPr>
          <p:nvPr/>
        </p:nvPicPr>
        <p:blipFill>
          <a:blip r:embed="rId10"/>
          <a:stretch>
            <a:fillRect/>
          </a:stretch>
        </p:blipFill>
        <p:spPr>
          <a:xfrm>
            <a:off x="9579483" y="4241902"/>
            <a:ext cx="294437" cy="294437"/>
          </a:xfrm>
          <a:prstGeom prst="rect">
            <a:avLst/>
          </a:prstGeom>
        </p:spPr>
      </p:pic>
      <p:sp>
        <p:nvSpPr>
          <p:cNvPr id="54" name="Text 44"/>
          <p:cNvSpPr txBox="1"/>
          <p:nvPr/>
        </p:nvSpPr>
        <p:spPr>
          <a:xfrm>
            <a:off x="10911535" y="4023360"/>
            <a:ext cx="5029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8</a:t>
            </a:r>
            <a:endParaRPr lang="en-US" sz="2800" dirty="0"/>
          </a:p>
        </p:txBody>
      </p:sp>
      <p:sp>
        <p:nvSpPr>
          <p:cNvPr id="55" name="Text 45"/>
          <p:cNvSpPr txBox="1"/>
          <p:nvPr/>
        </p:nvSpPr>
        <p:spPr>
          <a:xfrm>
            <a:off x="9406661" y="4754880"/>
            <a:ext cx="2007794" cy="594360"/>
          </a:xfrm>
          <a:prstGeom prst="rect">
            <a:avLst/>
          </a:prstGeom>
          <a:noFill/>
          <a:ln/>
        </p:spPr>
        <p:txBody>
          <a:bodyPr wrap="square" lIns="0" tIns="0" rIns="0" bIns="0" rtlCol="0" anchor="t"/>
          <a:lstStyle/>
          <a:p>
            <a:pPr marL="0" indent="0">
              <a:buNone/>
            </a:pPr>
            <a:r>
              <a:rPr lang="en-US" sz="1400" b="1" dirty="0">
                <a:solidFill>
                  <a:schemeClr val="tx1"/>
                </a:solidFill>
              </a:rPr>
              <a:t>Kirim</a:t>
            </a:r>
            <a:endParaRPr lang="en-US" sz="1400" dirty="0"/>
          </a:p>
        </p:txBody>
      </p:sp>
      <p:sp>
        <p:nvSpPr>
          <p:cNvPr id="56" name="Text 46"/>
          <p:cNvSpPr txBox="1"/>
          <p:nvPr/>
        </p:nvSpPr>
        <p:spPr>
          <a:xfrm>
            <a:off x="9406661" y="5394960"/>
            <a:ext cx="2007794" cy="274320"/>
          </a:xfrm>
          <a:prstGeom prst="rect">
            <a:avLst/>
          </a:prstGeom>
          <a:noFill/>
          <a:ln/>
        </p:spPr>
        <p:txBody>
          <a:bodyPr wrap="square" lIns="0" tIns="0" rIns="0" bIns="0" rtlCol="0" anchor="ctr"/>
          <a:lstStyle/>
          <a:p>
            <a:pPr marL="0" indent="0">
              <a:buNone/>
            </a:pPr>
            <a:r>
              <a:rPr lang="en-US" sz="1600" b="1" dirty="0">
                <a:solidFill>
                  <a:schemeClr val="accent2"/>
                </a:solidFill>
              </a:rPr>
              <a:t>±5 menit</a:t>
            </a:r>
            <a:r>
              <a:rPr lang="en-US" sz="1100" dirty="0">
                <a:solidFill>
                  <a:schemeClr val="accent2"/>
                </a:solidFill>
              </a:rPr>
              <a:t>  estimasi</a:t>
            </a:r>
            <a:endParaRPr lang="en-US" sz="1400" dirty="0"/>
          </a:p>
        </p:txBody>
      </p:sp>
      <p:sp>
        <p:nvSpPr>
          <p:cNvPr id="57" name="Text 47"/>
          <p:cNvSpPr txBox="1"/>
          <p:nvPr/>
        </p:nvSpPr>
        <p:spPr>
          <a:xfrm>
            <a:off x="548640" y="5943600"/>
            <a:ext cx="11094415" cy="365760"/>
          </a:xfrm>
          <a:prstGeom prst="rect">
            <a:avLst/>
          </a:prstGeom>
          <a:noFill/>
          <a:ln/>
        </p:spPr>
        <p:txBody>
          <a:bodyPr wrap="square" lIns="0" tIns="0" rIns="0" bIns="0" rtlCol="0" anchor="t"/>
          <a:lstStyle/>
          <a:p>
            <a:pPr marL="0" indent="0">
              <a:buNone/>
            </a:pPr>
            <a:r>
              <a:rPr lang="en-US" sz="1200" dirty="0">
                <a:solidFill>
                  <a:schemeClr val="accent2"/>
                </a:solidFill>
              </a:rPr>
              <a:t>Estimasi per satu kali proses (satu drop data, ±6 voyage, ±300 booking). Data diperbarui dua kali sehari, jam 11.00 dan 16.00. Total ±255 menit.</a:t>
            </a:r>
            <a:endParaRPr lang="en-US" sz="1200" dirty="0"/>
          </a:p>
        </p:txBody>
      </p:sp>
      <p:sp>
        <p:nvSpPr>
          <p:cNvPr id="58"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1"/>
                </a:solidFill>
              </a:rPr>
              <a:t>Alur dengan AI: 6 langkah, ±51 menit</a:t>
            </a:r>
            <a:endParaRPr lang="en-US" sz="3400" dirty="0"/>
          </a:p>
        </p:txBody>
      </p:sp>
      <p:sp>
        <p:nvSpPr>
          <p:cNvPr id="3" name="Langkah AI 1"/>
          <p:cNvSpPr/>
          <p:nvPr/>
        </p:nvSpPr>
        <p:spPr>
          <a:xfrm>
            <a:off x="548640" y="1463040"/>
            <a:ext cx="1620469" cy="3840480"/>
          </a:xfrm>
          <a:prstGeom prst="roundRect">
            <a:avLst>
              <a:gd name="adj" fmla="val 677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4" name="Ikon langkah AI 1 lingkaran"/>
          <p:cNvSpPr/>
          <p:nvPr/>
        </p:nvSpPr>
        <p:spPr>
          <a:xfrm>
            <a:off x="731520" y="1645920"/>
            <a:ext cx="658368" cy="658368"/>
          </a:xfrm>
          <a:prstGeom prst="ellipse">
            <a:avLst/>
          </a:prstGeom>
          <a:solidFill>
            <a:schemeClr val="accent2"/>
          </a:solidFill>
          <a:ln w="12700">
            <a:solidFill>
              <a:schemeClr val="accent2"/>
            </a:solidFill>
            <a:prstDash val="solid"/>
          </a:ln>
        </p:spPr>
      </p:sp>
      <p:pic>
        <p:nvPicPr>
          <p:cNvPr id="5" name="Ikon langkah AI 1 ikon" descr="Ikon langkah AI 1"/>
          <p:cNvPicPr>
            <a:picLocks noChangeAspect="1"/>
          </p:cNvPicPr>
          <p:nvPr/>
        </p:nvPicPr>
        <p:blipFill>
          <a:blip r:embed="rId3"/>
          <a:stretch>
            <a:fillRect/>
          </a:stretch>
        </p:blipFill>
        <p:spPr>
          <a:xfrm>
            <a:off x="909279" y="1823679"/>
            <a:ext cx="302849" cy="302849"/>
          </a:xfrm>
          <a:prstGeom prst="rect">
            <a:avLst/>
          </a:prstGeom>
        </p:spPr>
      </p:pic>
      <p:sp>
        <p:nvSpPr>
          <p:cNvPr id="6" name="Peran langkah 1"/>
          <p:cNvSpPr/>
          <p:nvPr/>
        </p:nvSpPr>
        <p:spPr>
          <a:xfrm>
            <a:off x="731520" y="2423160"/>
            <a:ext cx="914400" cy="274320"/>
          </a:xfrm>
          <a:prstGeom prst="roundRect">
            <a:avLst>
              <a:gd name="adj" fmla="val 50000"/>
            </a:avLst>
          </a:prstGeom>
          <a:solidFill>
            <a:schemeClr val="accent2"/>
          </a:solidFill>
          <a:ln w="12700">
            <a:solidFill>
              <a:schemeClr val="accent2"/>
            </a:solidFill>
            <a:prstDash val="solid"/>
          </a:ln>
        </p:spPr>
      </p:sp>
      <p:sp>
        <p:nvSpPr>
          <p:cNvPr id="7" name="Text 4"/>
          <p:cNvSpPr txBox="1"/>
          <p:nvPr/>
        </p:nvSpPr>
        <p:spPr>
          <a:xfrm>
            <a:off x="731520" y="242316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MANUSIA</a:t>
            </a:r>
            <a:endParaRPr lang="en-US" sz="1100" dirty="0"/>
          </a:p>
        </p:txBody>
      </p:sp>
      <p:sp>
        <p:nvSpPr>
          <p:cNvPr id="8" name="Text 5"/>
          <p:cNvSpPr txBox="1"/>
          <p:nvPr/>
        </p:nvSpPr>
        <p:spPr>
          <a:xfrm>
            <a:off x="731520" y="2834640"/>
            <a:ext cx="1254709" cy="731520"/>
          </a:xfrm>
          <a:prstGeom prst="rect">
            <a:avLst/>
          </a:prstGeom>
          <a:noFill/>
          <a:ln/>
        </p:spPr>
        <p:txBody>
          <a:bodyPr wrap="square" lIns="0" tIns="0" rIns="0" bIns="0" rtlCol="0" anchor="t"/>
          <a:lstStyle/>
          <a:p>
            <a:pPr marL="0" indent="0">
              <a:buNone/>
            </a:pPr>
            <a:r>
              <a:rPr lang="en-US" sz="1400" b="1" dirty="0">
                <a:solidFill>
                  <a:schemeClr val="tx1"/>
                </a:solidFill>
              </a:rPr>
              <a:t>Unduh data dari portal</a:t>
            </a:r>
            <a:endParaRPr lang="en-US" sz="1400" dirty="0"/>
          </a:p>
        </p:txBody>
      </p:sp>
      <p:sp>
        <p:nvSpPr>
          <p:cNvPr id="9" name="Text 6"/>
          <p:cNvSpPr txBox="1"/>
          <p:nvPr/>
        </p:nvSpPr>
        <p:spPr>
          <a:xfrm>
            <a:off x="731520" y="3566160"/>
            <a:ext cx="1254709" cy="1188720"/>
          </a:xfrm>
          <a:prstGeom prst="rect">
            <a:avLst/>
          </a:prstGeom>
          <a:noFill/>
          <a:ln/>
        </p:spPr>
        <p:txBody>
          <a:bodyPr wrap="square" lIns="0" tIns="0" rIns="0" bIns="0" rtlCol="0" anchor="t"/>
          <a:lstStyle/>
          <a:p>
            <a:pPr marL="0" indent="0">
              <a:buNone/>
            </a:pPr>
            <a:r>
              <a:rPr lang="en-US" sz="1200" dirty="0">
                <a:solidFill>
                  <a:schemeClr val="accent2"/>
                </a:solidFill>
              </a:rPr>
              <a:t>Mengunduh data booking jam 11.00 dan 16.00.</a:t>
            </a:r>
            <a:endParaRPr lang="en-US" sz="1200" dirty="0"/>
          </a:p>
        </p:txBody>
      </p:sp>
      <p:sp>
        <p:nvSpPr>
          <p:cNvPr id="10" name="Text 7"/>
          <p:cNvSpPr txBox="1"/>
          <p:nvPr/>
        </p:nvSpPr>
        <p:spPr>
          <a:xfrm>
            <a:off x="731520" y="4846320"/>
            <a:ext cx="1254709" cy="292608"/>
          </a:xfrm>
          <a:prstGeom prst="rect">
            <a:avLst/>
          </a:prstGeom>
          <a:noFill/>
          <a:ln/>
        </p:spPr>
        <p:txBody>
          <a:bodyPr wrap="square" lIns="0" tIns="0" rIns="0" bIns="0" rtlCol="0" anchor="ctr"/>
          <a:lstStyle/>
          <a:p>
            <a:pPr marL="0" indent="0">
              <a:buNone/>
            </a:pPr>
            <a:r>
              <a:rPr lang="en-US" sz="1600" b="1" dirty="0">
                <a:solidFill>
                  <a:schemeClr val="tx1"/>
                </a:solidFill>
              </a:rPr>
              <a:t>±10 mnt</a:t>
            </a:r>
            <a:endParaRPr lang="en-US" sz="1600" dirty="0"/>
          </a:p>
        </p:txBody>
      </p:sp>
      <p:sp>
        <p:nvSpPr>
          <p:cNvPr id="11" name="Panah AI 1"/>
          <p:cNvSpPr/>
          <p:nvPr/>
        </p:nvSpPr>
        <p:spPr>
          <a:xfrm>
            <a:off x="2205685" y="3218688"/>
            <a:ext cx="201168" cy="329184"/>
          </a:xfrm>
          <a:prstGeom prst="chevron">
            <a:avLst/>
          </a:prstGeom>
          <a:solidFill>
            <a:schemeClr val="accent6"/>
          </a:solidFill>
          <a:ln w="12700">
            <a:solidFill>
              <a:schemeClr val="accent6"/>
            </a:solidFill>
            <a:prstDash val="solid"/>
          </a:ln>
        </p:spPr>
      </p:sp>
      <p:sp>
        <p:nvSpPr>
          <p:cNvPr id="12" name="Langkah AI 2"/>
          <p:cNvSpPr/>
          <p:nvPr/>
        </p:nvSpPr>
        <p:spPr>
          <a:xfrm>
            <a:off x="2443429" y="1463040"/>
            <a:ext cx="1620469" cy="3840480"/>
          </a:xfrm>
          <a:prstGeom prst="roundRect">
            <a:avLst>
              <a:gd name="adj" fmla="val 677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3" name="Ikon langkah AI 2 lingkaran"/>
          <p:cNvSpPr/>
          <p:nvPr/>
        </p:nvSpPr>
        <p:spPr>
          <a:xfrm>
            <a:off x="2626309" y="1645920"/>
            <a:ext cx="658368" cy="658368"/>
          </a:xfrm>
          <a:prstGeom prst="ellipse">
            <a:avLst/>
          </a:prstGeom>
          <a:solidFill>
            <a:schemeClr val="accent3"/>
          </a:solidFill>
          <a:ln w="12700">
            <a:solidFill>
              <a:schemeClr val="accent3"/>
            </a:solidFill>
            <a:prstDash val="solid"/>
          </a:ln>
        </p:spPr>
      </p:sp>
      <p:pic>
        <p:nvPicPr>
          <p:cNvPr id="14" name="Ikon langkah AI 2 ikon" descr="Ikon langkah AI 2"/>
          <p:cNvPicPr>
            <a:picLocks noChangeAspect="1"/>
          </p:cNvPicPr>
          <p:nvPr/>
        </p:nvPicPr>
        <p:blipFill>
          <a:blip r:embed="rId4"/>
          <a:stretch>
            <a:fillRect/>
          </a:stretch>
        </p:blipFill>
        <p:spPr>
          <a:xfrm>
            <a:off x="2804069" y="1823679"/>
            <a:ext cx="302849" cy="302849"/>
          </a:xfrm>
          <a:prstGeom prst="rect">
            <a:avLst/>
          </a:prstGeom>
        </p:spPr>
      </p:pic>
      <p:sp>
        <p:nvSpPr>
          <p:cNvPr id="15" name="Peran langkah 2"/>
          <p:cNvSpPr/>
          <p:nvPr/>
        </p:nvSpPr>
        <p:spPr>
          <a:xfrm>
            <a:off x="2626309" y="2423160"/>
            <a:ext cx="914400" cy="274320"/>
          </a:xfrm>
          <a:prstGeom prst="roundRect">
            <a:avLst>
              <a:gd name="adj" fmla="val 50000"/>
            </a:avLst>
          </a:prstGeom>
          <a:solidFill>
            <a:schemeClr val="accent3"/>
          </a:solidFill>
          <a:ln w="12700">
            <a:solidFill>
              <a:schemeClr val="accent3"/>
            </a:solidFill>
            <a:prstDash val="solid"/>
          </a:ln>
        </p:spPr>
      </p:sp>
      <p:sp>
        <p:nvSpPr>
          <p:cNvPr id="16" name="Text 12"/>
          <p:cNvSpPr txBox="1"/>
          <p:nvPr/>
        </p:nvSpPr>
        <p:spPr>
          <a:xfrm>
            <a:off x="2626309" y="242316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AI</a:t>
            </a:r>
            <a:endParaRPr lang="en-US" sz="1100" dirty="0"/>
          </a:p>
        </p:txBody>
      </p:sp>
      <p:sp>
        <p:nvSpPr>
          <p:cNvPr id="17" name="Text 13"/>
          <p:cNvSpPr txBox="1"/>
          <p:nvPr/>
        </p:nvSpPr>
        <p:spPr>
          <a:xfrm>
            <a:off x="2626309" y="2834640"/>
            <a:ext cx="1254709" cy="731520"/>
          </a:xfrm>
          <a:prstGeom prst="rect">
            <a:avLst/>
          </a:prstGeom>
          <a:noFill/>
          <a:ln/>
        </p:spPr>
        <p:txBody>
          <a:bodyPr wrap="square" lIns="0" tIns="0" rIns="0" bIns="0" rtlCol="0" anchor="t"/>
          <a:lstStyle/>
          <a:p>
            <a:pPr marL="0" indent="0">
              <a:buNone/>
            </a:pPr>
            <a:r>
              <a:rPr lang="en-US" sz="1400" b="1" dirty="0">
                <a:solidFill>
                  <a:schemeClr val="tx1"/>
                </a:solidFill>
              </a:rPr>
              <a:t>Baca data dan isi blok tujuan</a:t>
            </a:r>
            <a:endParaRPr lang="en-US" sz="1400" dirty="0"/>
          </a:p>
        </p:txBody>
      </p:sp>
      <p:sp>
        <p:nvSpPr>
          <p:cNvPr id="18" name="Text 14"/>
          <p:cNvSpPr txBox="1"/>
          <p:nvPr/>
        </p:nvSpPr>
        <p:spPr>
          <a:xfrm>
            <a:off x="2626309" y="3566160"/>
            <a:ext cx="1254709" cy="1188720"/>
          </a:xfrm>
          <a:prstGeom prst="rect">
            <a:avLst/>
          </a:prstGeom>
          <a:noFill/>
          <a:ln/>
        </p:spPr>
        <p:txBody>
          <a:bodyPr wrap="square" lIns="0" tIns="0" rIns="0" bIns="0" rtlCol="0" anchor="t"/>
          <a:lstStyle/>
          <a:p>
            <a:pPr marL="0" indent="0">
              <a:buNone/>
            </a:pPr>
            <a:r>
              <a:rPr lang="en-US" sz="1200" dirty="0">
                <a:solidFill>
                  <a:schemeClr val="accent2"/>
                </a:solidFill>
              </a:rPr>
              <a:t>Mengisi sheet per voyage dan mengelompokkan booking ke blok, tanpa mengubah format.</a:t>
            </a:r>
            <a:endParaRPr lang="en-US" sz="1200" dirty="0"/>
          </a:p>
        </p:txBody>
      </p:sp>
      <p:sp>
        <p:nvSpPr>
          <p:cNvPr id="19" name="Text 15"/>
          <p:cNvSpPr txBox="1"/>
          <p:nvPr/>
        </p:nvSpPr>
        <p:spPr>
          <a:xfrm>
            <a:off x="2626309" y="4846320"/>
            <a:ext cx="1254709" cy="292608"/>
          </a:xfrm>
          <a:prstGeom prst="rect">
            <a:avLst/>
          </a:prstGeom>
          <a:noFill/>
          <a:ln/>
        </p:spPr>
        <p:txBody>
          <a:bodyPr wrap="square" lIns="0" tIns="0" rIns="0" bIns="0" rtlCol="0" anchor="ctr"/>
          <a:lstStyle/>
          <a:p>
            <a:pPr marL="0" indent="0">
              <a:buNone/>
            </a:pPr>
            <a:r>
              <a:rPr lang="en-US" sz="1600" b="1" dirty="0">
                <a:solidFill>
                  <a:schemeClr val="accent3"/>
                </a:solidFill>
              </a:rPr>
              <a:t>±3 mnt</a:t>
            </a:r>
            <a:endParaRPr lang="en-US" sz="1600" dirty="0"/>
          </a:p>
        </p:txBody>
      </p:sp>
      <p:sp>
        <p:nvSpPr>
          <p:cNvPr id="20" name="Panah AI 2"/>
          <p:cNvSpPr/>
          <p:nvPr/>
        </p:nvSpPr>
        <p:spPr>
          <a:xfrm>
            <a:off x="4100474" y="3218688"/>
            <a:ext cx="201168" cy="329184"/>
          </a:xfrm>
          <a:prstGeom prst="chevron">
            <a:avLst/>
          </a:prstGeom>
          <a:solidFill>
            <a:schemeClr val="accent6"/>
          </a:solidFill>
          <a:ln w="12700">
            <a:solidFill>
              <a:schemeClr val="accent6"/>
            </a:solidFill>
            <a:prstDash val="solid"/>
          </a:ln>
        </p:spPr>
      </p:sp>
      <p:sp>
        <p:nvSpPr>
          <p:cNvPr id="21" name="Langkah AI 3"/>
          <p:cNvSpPr/>
          <p:nvPr/>
        </p:nvSpPr>
        <p:spPr>
          <a:xfrm>
            <a:off x="4338218" y="1463040"/>
            <a:ext cx="1620469" cy="3840480"/>
          </a:xfrm>
          <a:prstGeom prst="roundRect">
            <a:avLst>
              <a:gd name="adj" fmla="val 677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22" name="Ikon langkah AI 3 lingkaran"/>
          <p:cNvSpPr/>
          <p:nvPr/>
        </p:nvSpPr>
        <p:spPr>
          <a:xfrm>
            <a:off x="4521098" y="1645920"/>
            <a:ext cx="658368" cy="658368"/>
          </a:xfrm>
          <a:prstGeom prst="ellipse">
            <a:avLst/>
          </a:prstGeom>
          <a:solidFill>
            <a:schemeClr val="accent3"/>
          </a:solidFill>
          <a:ln w="12700">
            <a:solidFill>
              <a:schemeClr val="accent3"/>
            </a:solidFill>
            <a:prstDash val="solid"/>
          </a:ln>
        </p:spPr>
      </p:sp>
      <p:pic>
        <p:nvPicPr>
          <p:cNvPr id="23" name="Ikon langkah AI 3 ikon" descr="Ikon langkah AI 3"/>
          <p:cNvPicPr>
            <a:picLocks noChangeAspect="1"/>
          </p:cNvPicPr>
          <p:nvPr/>
        </p:nvPicPr>
        <p:blipFill>
          <a:blip r:embed="rId5"/>
          <a:stretch>
            <a:fillRect/>
          </a:stretch>
        </p:blipFill>
        <p:spPr>
          <a:xfrm>
            <a:off x="4698858" y="1823679"/>
            <a:ext cx="302849" cy="302849"/>
          </a:xfrm>
          <a:prstGeom prst="rect">
            <a:avLst/>
          </a:prstGeom>
        </p:spPr>
      </p:pic>
      <p:sp>
        <p:nvSpPr>
          <p:cNvPr id="24" name="Peran langkah 3"/>
          <p:cNvSpPr/>
          <p:nvPr/>
        </p:nvSpPr>
        <p:spPr>
          <a:xfrm>
            <a:off x="4521098" y="2423160"/>
            <a:ext cx="914400" cy="274320"/>
          </a:xfrm>
          <a:prstGeom prst="roundRect">
            <a:avLst>
              <a:gd name="adj" fmla="val 50000"/>
            </a:avLst>
          </a:prstGeom>
          <a:solidFill>
            <a:schemeClr val="accent3"/>
          </a:solidFill>
          <a:ln w="12700">
            <a:solidFill>
              <a:schemeClr val="accent3"/>
            </a:solidFill>
            <a:prstDash val="solid"/>
          </a:ln>
        </p:spPr>
      </p:sp>
      <p:sp>
        <p:nvSpPr>
          <p:cNvPr id="25" name="Text 20"/>
          <p:cNvSpPr txBox="1"/>
          <p:nvPr/>
        </p:nvSpPr>
        <p:spPr>
          <a:xfrm>
            <a:off x="4521098" y="242316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AI</a:t>
            </a:r>
            <a:endParaRPr lang="en-US" sz="1100" dirty="0"/>
          </a:p>
        </p:txBody>
      </p:sp>
      <p:sp>
        <p:nvSpPr>
          <p:cNvPr id="26" name="Text 21"/>
          <p:cNvSpPr txBox="1"/>
          <p:nvPr/>
        </p:nvSpPr>
        <p:spPr>
          <a:xfrm>
            <a:off x="4521098" y="2834640"/>
            <a:ext cx="1254709" cy="731520"/>
          </a:xfrm>
          <a:prstGeom prst="rect">
            <a:avLst/>
          </a:prstGeom>
          <a:noFill/>
          <a:ln/>
        </p:spPr>
        <p:txBody>
          <a:bodyPr wrap="square" lIns="0" tIns="0" rIns="0" bIns="0" rtlCol="0" anchor="t"/>
          <a:lstStyle/>
          <a:p>
            <a:pPr marL="0" indent="0">
              <a:buNone/>
            </a:pPr>
            <a:r>
              <a:rPr lang="en-US" sz="1400" b="1" dirty="0">
                <a:solidFill>
                  <a:schemeClr val="tx1"/>
                </a:solidFill>
              </a:rPr>
              <a:t>Tarik container dan seal</a:t>
            </a:r>
            <a:endParaRPr lang="en-US" sz="1400" dirty="0"/>
          </a:p>
        </p:txBody>
      </p:sp>
      <p:sp>
        <p:nvSpPr>
          <p:cNvPr id="27" name="Text 22"/>
          <p:cNvSpPr txBox="1"/>
          <p:nvPr/>
        </p:nvSpPr>
        <p:spPr>
          <a:xfrm>
            <a:off x="4521098" y="3566160"/>
            <a:ext cx="1254709" cy="1188720"/>
          </a:xfrm>
          <a:prstGeom prst="rect">
            <a:avLst/>
          </a:prstGeom>
          <a:noFill/>
          <a:ln/>
        </p:spPr>
        <p:txBody>
          <a:bodyPr wrap="square" lIns="0" tIns="0" rIns="0" bIns="0" rtlCol="0" anchor="t"/>
          <a:lstStyle/>
          <a:p>
            <a:pPr marL="0" indent="0">
              <a:buNone/>
            </a:pPr>
            <a:r>
              <a:rPr lang="en-US" sz="1200" dirty="0">
                <a:solidFill>
                  <a:schemeClr val="accent2"/>
                </a:solidFill>
              </a:rPr>
              <a:t>Mengambil dari spreadsheet logistik, dicocokkan per nomor booking.</a:t>
            </a:r>
            <a:endParaRPr lang="en-US" sz="1200" dirty="0"/>
          </a:p>
        </p:txBody>
      </p:sp>
      <p:sp>
        <p:nvSpPr>
          <p:cNvPr id="28" name="Text 23"/>
          <p:cNvSpPr txBox="1"/>
          <p:nvPr/>
        </p:nvSpPr>
        <p:spPr>
          <a:xfrm>
            <a:off x="4521098" y="4846320"/>
            <a:ext cx="1254709" cy="292608"/>
          </a:xfrm>
          <a:prstGeom prst="rect">
            <a:avLst/>
          </a:prstGeom>
          <a:noFill/>
          <a:ln/>
        </p:spPr>
        <p:txBody>
          <a:bodyPr wrap="square" lIns="0" tIns="0" rIns="0" bIns="0" rtlCol="0" anchor="ctr"/>
          <a:lstStyle/>
          <a:p>
            <a:pPr marL="0" indent="0">
              <a:buNone/>
            </a:pPr>
            <a:r>
              <a:rPr lang="en-US" sz="1600" b="1" dirty="0">
                <a:solidFill>
                  <a:schemeClr val="accent3"/>
                </a:solidFill>
              </a:rPr>
              <a:t>±2 mnt</a:t>
            </a:r>
            <a:endParaRPr lang="en-US" sz="1600" dirty="0"/>
          </a:p>
        </p:txBody>
      </p:sp>
      <p:sp>
        <p:nvSpPr>
          <p:cNvPr id="29" name="Panah AI 3"/>
          <p:cNvSpPr/>
          <p:nvPr/>
        </p:nvSpPr>
        <p:spPr>
          <a:xfrm>
            <a:off x="5995264" y="3218688"/>
            <a:ext cx="201168" cy="329184"/>
          </a:xfrm>
          <a:prstGeom prst="chevron">
            <a:avLst/>
          </a:prstGeom>
          <a:solidFill>
            <a:schemeClr val="accent6"/>
          </a:solidFill>
          <a:ln w="12700">
            <a:solidFill>
              <a:schemeClr val="accent6"/>
            </a:solidFill>
            <a:prstDash val="solid"/>
          </a:ln>
        </p:spPr>
      </p:sp>
      <p:sp>
        <p:nvSpPr>
          <p:cNvPr id="30" name="Langkah AI 4"/>
          <p:cNvSpPr/>
          <p:nvPr/>
        </p:nvSpPr>
        <p:spPr>
          <a:xfrm>
            <a:off x="6233008" y="1463040"/>
            <a:ext cx="1620469" cy="3840480"/>
          </a:xfrm>
          <a:prstGeom prst="roundRect">
            <a:avLst>
              <a:gd name="adj" fmla="val 677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31" name="Ikon langkah AI 4 lingkaran"/>
          <p:cNvSpPr/>
          <p:nvPr/>
        </p:nvSpPr>
        <p:spPr>
          <a:xfrm>
            <a:off x="6415888" y="1645920"/>
            <a:ext cx="658368" cy="658368"/>
          </a:xfrm>
          <a:prstGeom prst="ellipse">
            <a:avLst/>
          </a:prstGeom>
          <a:solidFill>
            <a:schemeClr val="accent3"/>
          </a:solidFill>
          <a:ln w="12700">
            <a:solidFill>
              <a:schemeClr val="accent3"/>
            </a:solidFill>
            <a:prstDash val="solid"/>
          </a:ln>
        </p:spPr>
      </p:sp>
      <p:pic>
        <p:nvPicPr>
          <p:cNvPr id="32" name="Ikon langkah AI 4 ikon" descr="Ikon langkah AI 4"/>
          <p:cNvPicPr>
            <a:picLocks noChangeAspect="1"/>
          </p:cNvPicPr>
          <p:nvPr/>
        </p:nvPicPr>
        <p:blipFill>
          <a:blip r:embed="rId6"/>
          <a:stretch>
            <a:fillRect/>
          </a:stretch>
        </p:blipFill>
        <p:spPr>
          <a:xfrm>
            <a:off x="6593647" y="1823679"/>
            <a:ext cx="302849" cy="302849"/>
          </a:xfrm>
          <a:prstGeom prst="rect">
            <a:avLst/>
          </a:prstGeom>
        </p:spPr>
      </p:pic>
      <p:sp>
        <p:nvSpPr>
          <p:cNvPr id="33" name="Peran langkah 4"/>
          <p:cNvSpPr/>
          <p:nvPr/>
        </p:nvSpPr>
        <p:spPr>
          <a:xfrm>
            <a:off x="6415888" y="2423160"/>
            <a:ext cx="914400" cy="274320"/>
          </a:xfrm>
          <a:prstGeom prst="roundRect">
            <a:avLst>
              <a:gd name="adj" fmla="val 50000"/>
            </a:avLst>
          </a:prstGeom>
          <a:solidFill>
            <a:schemeClr val="accent3"/>
          </a:solidFill>
          <a:ln w="12700">
            <a:solidFill>
              <a:schemeClr val="accent3"/>
            </a:solidFill>
            <a:prstDash val="solid"/>
          </a:ln>
        </p:spPr>
      </p:sp>
      <p:sp>
        <p:nvSpPr>
          <p:cNvPr id="34" name="Text 28"/>
          <p:cNvSpPr txBox="1"/>
          <p:nvPr/>
        </p:nvSpPr>
        <p:spPr>
          <a:xfrm>
            <a:off x="6415888" y="242316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AI</a:t>
            </a:r>
            <a:endParaRPr lang="en-US" sz="1100" dirty="0"/>
          </a:p>
        </p:txBody>
      </p:sp>
      <p:sp>
        <p:nvSpPr>
          <p:cNvPr id="35" name="Text 29"/>
          <p:cNvSpPr txBox="1"/>
          <p:nvPr/>
        </p:nvSpPr>
        <p:spPr>
          <a:xfrm>
            <a:off x="6415888" y="2834640"/>
            <a:ext cx="1254709" cy="731520"/>
          </a:xfrm>
          <a:prstGeom prst="rect">
            <a:avLst/>
          </a:prstGeom>
          <a:noFill/>
          <a:ln/>
        </p:spPr>
        <p:txBody>
          <a:bodyPr wrap="square" lIns="0" tIns="0" rIns="0" bIns="0" rtlCol="0" anchor="t"/>
          <a:lstStyle/>
          <a:p>
            <a:pPr marL="0" indent="0">
              <a:buNone/>
            </a:pPr>
            <a:r>
              <a:rPr lang="en-US" sz="1400" b="1" dirty="0">
                <a:solidFill>
                  <a:schemeClr val="tx1"/>
                </a:solidFill>
              </a:rPr>
              <a:t>Penanda dan cek total</a:t>
            </a:r>
            <a:endParaRPr lang="en-US" sz="1400" dirty="0"/>
          </a:p>
        </p:txBody>
      </p:sp>
      <p:sp>
        <p:nvSpPr>
          <p:cNvPr id="36" name="Text 30"/>
          <p:cNvSpPr txBox="1"/>
          <p:nvPr/>
        </p:nvSpPr>
        <p:spPr>
          <a:xfrm>
            <a:off x="6415888" y="3566160"/>
            <a:ext cx="1254709" cy="1188720"/>
          </a:xfrm>
          <a:prstGeom prst="rect">
            <a:avLst/>
          </a:prstGeom>
          <a:noFill/>
          <a:ln/>
        </p:spPr>
        <p:txBody>
          <a:bodyPr wrap="square" lIns="0" tIns="0" rIns="0" bIns="0" rtlCol="0" anchor="t"/>
          <a:lstStyle/>
          <a:p>
            <a:pPr marL="0" indent="0">
              <a:buNone/>
            </a:pPr>
            <a:r>
              <a:rPr lang="en-US" sz="1200" dirty="0">
                <a:solidFill>
                  <a:schemeClr val="accent2"/>
                </a:solidFill>
              </a:rPr>
              <a:t>Angka merah, Remark 1, dan pencocokan TEU serta berat.</a:t>
            </a:r>
            <a:endParaRPr lang="en-US" sz="1200" dirty="0"/>
          </a:p>
        </p:txBody>
      </p:sp>
      <p:sp>
        <p:nvSpPr>
          <p:cNvPr id="37" name="Text 31"/>
          <p:cNvSpPr txBox="1"/>
          <p:nvPr/>
        </p:nvSpPr>
        <p:spPr>
          <a:xfrm>
            <a:off x="6415888" y="4846320"/>
            <a:ext cx="1254709" cy="292608"/>
          </a:xfrm>
          <a:prstGeom prst="rect">
            <a:avLst/>
          </a:prstGeom>
          <a:noFill/>
          <a:ln/>
        </p:spPr>
        <p:txBody>
          <a:bodyPr wrap="square" lIns="0" tIns="0" rIns="0" bIns="0" rtlCol="0" anchor="ctr"/>
          <a:lstStyle/>
          <a:p>
            <a:pPr marL="0" indent="0">
              <a:buNone/>
            </a:pPr>
            <a:r>
              <a:rPr lang="en-US" sz="1600" b="1" dirty="0">
                <a:solidFill>
                  <a:schemeClr val="accent3"/>
                </a:solidFill>
              </a:rPr>
              <a:t>±1 mnt</a:t>
            </a:r>
            <a:endParaRPr lang="en-US" sz="1600" dirty="0"/>
          </a:p>
        </p:txBody>
      </p:sp>
      <p:sp>
        <p:nvSpPr>
          <p:cNvPr id="38" name="Panah AI 4"/>
          <p:cNvSpPr/>
          <p:nvPr/>
        </p:nvSpPr>
        <p:spPr>
          <a:xfrm>
            <a:off x="7890053" y="3218688"/>
            <a:ext cx="201168" cy="329184"/>
          </a:xfrm>
          <a:prstGeom prst="chevron">
            <a:avLst/>
          </a:prstGeom>
          <a:solidFill>
            <a:schemeClr val="accent6"/>
          </a:solidFill>
          <a:ln w="12700">
            <a:solidFill>
              <a:schemeClr val="accent6"/>
            </a:solidFill>
            <a:prstDash val="solid"/>
          </a:ln>
        </p:spPr>
      </p:sp>
      <p:sp>
        <p:nvSpPr>
          <p:cNvPr id="39" name="Langkah AI 5"/>
          <p:cNvSpPr/>
          <p:nvPr/>
        </p:nvSpPr>
        <p:spPr>
          <a:xfrm>
            <a:off x="8127797" y="1463040"/>
            <a:ext cx="1620469" cy="3840480"/>
          </a:xfrm>
          <a:prstGeom prst="roundRect">
            <a:avLst>
              <a:gd name="adj" fmla="val 677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40" name="Ikon langkah AI 5 lingkaran"/>
          <p:cNvSpPr/>
          <p:nvPr/>
        </p:nvSpPr>
        <p:spPr>
          <a:xfrm>
            <a:off x="8310677" y="1645920"/>
            <a:ext cx="658368" cy="658368"/>
          </a:xfrm>
          <a:prstGeom prst="ellipse">
            <a:avLst/>
          </a:prstGeom>
          <a:solidFill>
            <a:schemeClr val="accent1"/>
          </a:solidFill>
          <a:ln w="12700">
            <a:solidFill>
              <a:schemeClr val="accent1"/>
            </a:solidFill>
            <a:prstDash val="solid"/>
          </a:ln>
        </p:spPr>
      </p:sp>
      <p:pic>
        <p:nvPicPr>
          <p:cNvPr id="41" name="Ikon langkah AI 5 ikon" descr="Ikon langkah AI 5"/>
          <p:cNvPicPr>
            <a:picLocks noChangeAspect="1"/>
          </p:cNvPicPr>
          <p:nvPr/>
        </p:nvPicPr>
        <p:blipFill>
          <a:blip r:embed="rId7"/>
          <a:stretch>
            <a:fillRect/>
          </a:stretch>
        </p:blipFill>
        <p:spPr>
          <a:xfrm>
            <a:off x="8488436" y="1823679"/>
            <a:ext cx="302849" cy="302849"/>
          </a:xfrm>
          <a:prstGeom prst="rect">
            <a:avLst/>
          </a:prstGeom>
        </p:spPr>
      </p:pic>
      <p:sp>
        <p:nvSpPr>
          <p:cNvPr id="42" name="Peran langkah 5"/>
          <p:cNvSpPr/>
          <p:nvPr/>
        </p:nvSpPr>
        <p:spPr>
          <a:xfrm>
            <a:off x="8310677" y="2423160"/>
            <a:ext cx="1254709" cy="274320"/>
          </a:xfrm>
          <a:prstGeom prst="roundRect">
            <a:avLst>
              <a:gd name="adj" fmla="val 50000"/>
            </a:avLst>
          </a:prstGeom>
          <a:solidFill>
            <a:schemeClr val="accent1"/>
          </a:solidFill>
          <a:ln w="12700">
            <a:solidFill>
              <a:schemeClr val="accent1"/>
            </a:solidFill>
            <a:prstDash val="solid"/>
          </a:ln>
        </p:spPr>
      </p:sp>
      <p:sp>
        <p:nvSpPr>
          <p:cNvPr id="43" name="Text 36"/>
          <p:cNvSpPr txBox="1"/>
          <p:nvPr/>
        </p:nvSpPr>
        <p:spPr>
          <a:xfrm>
            <a:off x="8310677" y="2423160"/>
            <a:ext cx="1254709" cy="274320"/>
          </a:xfrm>
          <a:prstGeom prst="rect">
            <a:avLst/>
          </a:prstGeom>
          <a:noFill/>
          <a:ln/>
        </p:spPr>
        <p:txBody>
          <a:bodyPr wrap="square" lIns="0" tIns="0" rIns="0" bIns="0" rtlCol="0" anchor="ctr"/>
          <a:lstStyle/>
          <a:p>
            <a:pPr marL="0" indent="0" algn="ctr">
              <a:buNone/>
            </a:pPr>
            <a:r>
              <a:rPr lang="en-US" sz="1100" b="1" dirty="0">
                <a:solidFill>
                  <a:schemeClr val="bg1"/>
                </a:solidFill>
              </a:rPr>
              <a:t>MANUSIA + AI</a:t>
            </a:r>
            <a:endParaRPr lang="en-US" sz="1100" dirty="0"/>
          </a:p>
        </p:txBody>
      </p:sp>
      <p:sp>
        <p:nvSpPr>
          <p:cNvPr id="44" name="Text 37"/>
          <p:cNvSpPr txBox="1"/>
          <p:nvPr/>
        </p:nvSpPr>
        <p:spPr>
          <a:xfrm>
            <a:off x="8310677" y="2834640"/>
            <a:ext cx="1254709" cy="731520"/>
          </a:xfrm>
          <a:prstGeom prst="rect">
            <a:avLst/>
          </a:prstGeom>
          <a:noFill/>
          <a:ln/>
        </p:spPr>
        <p:txBody>
          <a:bodyPr wrap="square" lIns="0" tIns="0" rIns="0" bIns="0" rtlCol="0" anchor="t"/>
          <a:lstStyle/>
          <a:p>
            <a:pPr marL="0" indent="0">
              <a:buNone/>
            </a:pPr>
            <a:r>
              <a:rPr lang="en-US" sz="1400" b="1" dirty="0">
                <a:solidFill>
                  <a:schemeClr val="tx1"/>
                </a:solidFill>
              </a:rPr>
              <a:t>Review dan revisi</a:t>
            </a:r>
            <a:endParaRPr lang="en-US" sz="1400" dirty="0"/>
          </a:p>
        </p:txBody>
      </p:sp>
      <p:sp>
        <p:nvSpPr>
          <p:cNvPr id="45" name="Text 38"/>
          <p:cNvSpPr txBox="1"/>
          <p:nvPr/>
        </p:nvSpPr>
        <p:spPr>
          <a:xfrm>
            <a:off x="8310677" y="3566160"/>
            <a:ext cx="1254709" cy="1188720"/>
          </a:xfrm>
          <a:prstGeom prst="rect">
            <a:avLst/>
          </a:prstGeom>
          <a:noFill/>
          <a:ln/>
        </p:spPr>
        <p:txBody>
          <a:bodyPr wrap="square" lIns="0" tIns="0" rIns="0" bIns="0" rtlCol="0" anchor="t"/>
          <a:lstStyle/>
          <a:p>
            <a:pPr marL="0" indent="0">
              <a:buNone/>
            </a:pPr>
            <a:r>
              <a:rPr lang="en-US" sz="1200" dirty="0">
                <a:solidFill>
                  <a:schemeClr val="accent2"/>
                </a:solidFill>
              </a:rPr>
              <a:t>Manusia memutuskan, dibantu laporan pengecualian dari AI.</a:t>
            </a:r>
            <a:endParaRPr lang="en-US" sz="1200" dirty="0"/>
          </a:p>
        </p:txBody>
      </p:sp>
      <p:sp>
        <p:nvSpPr>
          <p:cNvPr id="46" name="Text 39"/>
          <p:cNvSpPr txBox="1"/>
          <p:nvPr/>
        </p:nvSpPr>
        <p:spPr>
          <a:xfrm>
            <a:off x="8310677" y="4846320"/>
            <a:ext cx="1254709" cy="292608"/>
          </a:xfrm>
          <a:prstGeom prst="rect">
            <a:avLst/>
          </a:prstGeom>
          <a:noFill/>
          <a:ln/>
        </p:spPr>
        <p:txBody>
          <a:bodyPr wrap="square" lIns="0" tIns="0" rIns="0" bIns="0" rtlCol="0" anchor="ctr"/>
          <a:lstStyle/>
          <a:p>
            <a:pPr marL="0" indent="0">
              <a:buNone/>
            </a:pPr>
            <a:r>
              <a:rPr lang="en-US" sz="1600" b="1" dirty="0">
                <a:solidFill>
                  <a:schemeClr val="tx1"/>
                </a:solidFill>
              </a:rPr>
              <a:t>±30 mnt</a:t>
            </a:r>
            <a:endParaRPr lang="en-US" sz="1600" dirty="0"/>
          </a:p>
        </p:txBody>
      </p:sp>
      <p:sp>
        <p:nvSpPr>
          <p:cNvPr id="47" name="Panah AI 5"/>
          <p:cNvSpPr/>
          <p:nvPr/>
        </p:nvSpPr>
        <p:spPr>
          <a:xfrm>
            <a:off x="9784842" y="3218688"/>
            <a:ext cx="201168" cy="329184"/>
          </a:xfrm>
          <a:prstGeom prst="chevron">
            <a:avLst/>
          </a:prstGeom>
          <a:solidFill>
            <a:schemeClr val="accent6"/>
          </a:solidFill>
          <a:ln w="12700">
            <a:solidFill>
              <a:schemeClr val="accent6"/>
            </a:solidFill>
            <a:prstDash val="solid"/>
          </a:ln>
        </p:spPr>
      </p:sp>
      <p:sp>
        <p:nvSpPr>
          <p:cNvPr id="48" name="Langkah AI 6"/>
          <p:cNvSpPr/>
          <p:nvPr/>
        </p:nvSpPr>
        <p:spPr>
          <a:xfrm>
            <a:off x="10022586" y="1463040"/>
            <a:ext cx="1620469" cy="3840480"/>
          </a:xfrm>
          <a:prstGeom prst="roundRect">
            <a:avLst>
              <a:gd name="adj" fmla="val 6771"/>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49" name="Ikon langkah AI 6 lingkaran"/>
          <p:cNvSpPr/>
          <p:nvPr/>
        </p:nvSpPr>
        <p:spPr>
          <a:xfrm>
            <a:off x="10205466" y="1645920"/>
            <a:ext cx="658368" cy="658368"/>
          </a:xfrm>
          <a:prstGeom prst="ellipse">
            <a:avLst/>
          </a:prstGeom>
          <a:solidFill>
            <a:schemeClr val="accent2"/>
          </a:solidFill>
          <a:ln w="12700">
            <a:solidFill>
              <a:schemeClr val="accent2"/>
            </a:solidFill>
            <a:prstDash val="solid"/>
          </a:ln>
        </p:spPr>
      </p:sp>
      <p:pic>
        <p:nvPicPr>
          <p:cNvPr id="50" name="Ikon langkah AI 6 ikon" descr="Ikon langkah AI 6"/>
          <p:cNvPicPr>
            <a:picLocks noChangeAspect="1"/>
          </p:cNvPicPr>
          <p:nvPr/>
        </p:nvPicPr>
        <p:blipFill>
          <a:blip r:embed="rId8"/>
          <a:stretch>
            <a:fillRect/>
          </a:stretch>
        </p:blipFill>
        <p:spPr>
          <a:xfrm>
            <a:off x="10383225" y="1823679"/>
            <a:ext cx="302849" cy="302849"/>
          </a:xfrm>
          <a:prstGeom prst="rect">
            <a:avLst/>
          </a:prstGeom>
        </p:spPr>
      </p:pic>
      <p:sp>
        <p:nvSpPr>
          <p:cNvPr id="51" name="Peran langkah 6"/>
          <p:cNvSpPr/>
          <p:nvPr/>
        </p:nvSpPr>
        <p:spPr>
          <a:xfrm>
            <a:off x="10205466" y="2423160"/>
            <a:ext cx="914400" cy="274320"/>
          </a:xfrm>
          <a:prstGeom prst="roundRect">
            <a:avLst>
              <a:gd name="adj" fmla="val 50000"/>
            </a:avLst>
          </a:prstGeom>
          <a:solidFill>
            <a:schemeClr val="accent2"/>
          </a:solidFill>
          <a:ln w="12700">
            <a:solidFill>
              <a:schemeClr val="accent2"/>
            </a:solidFill>
            <a:prstDash val="solid"/>
          </a:ln>
        </p:spPr>
      </p:sp>
      <p:sp>
        <p:nvSpPr>
          <p:cNvPr id="52" name="Text 44"/>
          <p:cNvSpPr txBox="1"/>
          <p:nvPr/>
        </p:nvSpPr>
        <p:spPr>
          <a:xfrm>
            <a:off x="10205466" y="242316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MANUSIA</a:t>
            </a:r>
            <a:endParaRPr lang="en-US" sz="1100" dirty="0"/>
          </a:p>
        </p:txBody>
      </p:sp>
      <p:sp>
        <p:nvSpPr>
          <p:cNvPr id="53" name="Text 45"/>
          <p:cNvSpPr txBox="1"/>
          <p:nvPr/>
        </p:nvSpPr>
        <p:spPr>
          <a:xfrm>
            <a:off x="10205466" y="2834640"/>
            <a:ext cx="1254709" cy="731520"/>
          </a:xfrm>
          <a:prstGeom prst="rect">
            <a:avLst/>
          </a:prstGeom>
          <a:noFill/>
          <a:ln/>
        </p:spPr>
        <p:txBody>
          <a:bodyPr wrap="square" lIns="0" tIns="0" rIns="0" bIns="0" rtlCol="0" anchor="t"/>
          <a:lstStyle/>
          <a:p>
            <a:pPr marL="0" indent="0">
              <a:buNone/>
            </a:pPr>
            <a:r>
              <a:rPr lang="en-US" sz="1400" b="1" dirty="0">
                <a:solidFill>
                  <a:schemeClr val="tx1"/>
                </a:solidFill>
              </a:rPr>
              <a:t>Kirim</a:t>
            </a:r>
            <a:endParaRPr lang="en-US" sz="1400" dirty="0"/>
          </a:p>
        </p:txBody>
      </p:sp>
      <p:sp>
        <p:nvSpPr>
          <p:cNvPr id="54" name="Text 46"/>
          <p:cNvSpPr txBox="1"/>
          <p:nvPr/>
        </p:nvSpPr>
        <p:spPr>
          <a:xfrm>
            <a:off x="10205466" y="3566160"/>
            <a:ext cx="1254709" cy="1188720"/>
          </a:xfrm>
          <a:prstGeom prst="rect">
            <a:avLst/>
          </a:prstGeom>
          <a:noFill/>
          <a:ln/>
        </p:spPr>
        <p:txBody>
          <a:bodyPr wrap="square" lIns="0" tIns="0" rIns="0" bIns="0" rtlCol="0" anchor="t"/>
          <a:lstStyle/>
          <a:p>
            <a:pPr marL="0" indent="0">
              <a:buNone/>
            </a:pPr>
            <a:r>
              <a:rPr lang="en-US" sz="1200" dirty="0">
                <a:solidFill>
                  <a:schemeClr val="accent2"/>
                </a:solidFill>
              </a:rPr>
              <a:t>Mengirim proforma yang sudah disetujui.</a:t>
            </a:r>
            <a:endParaRPr lang="en-US" sz="1200" dirty="0"/>
          </a:p>
        </p:txBody>
      </p:sp>
      <p:sp>
        <p:nvSpPr>
          <p:cNvPr id="55" name="Text 47"/>
          <p:cNvSpPr txBox="1"/>
          <p:nvPr/>
        </p:nvSpPr>
        <p:spPr>
          <a:xfrm>
            <a:off x="10205466" y="4846320"/>
            <a:ext cx="1254709" cy="292608"/>
          </a:xfrm>
          <a:prstGeom prst="rect">
            <a:avLst/>
          </a:prstGeom>
          <a:noFill/>
          <a:ln/>
        </p:spPr>
        <p:txBody>
          <a:bodyPr wrap="square" lIns="0" tIns="0" rIns="0" bIns="0" rtlCol="0" anchor="ctr"/>
          <a:lstStyle/>
          <a:p>
            <a:pPr marL="0" indent="0">
              <a:buNone/>
            </a:pPr>
            <a:r>
              <a:rPr lang="en-US" sz="1600" b="1" dirty="0">
                <a:solidFill>
                  <a:schemeClr val="tx1"/>
                </a:solidFill>
              </a:rPr>
              <a:t>±5 mnt</a:t>
            </a:r>
            <a:endParaRPr lang="en-US" sz="1600" dirty="0"/>
          </a:p>
        </p:txBody>
      </p:sp>
      <p:sp>
        <p:nvSpPr>
          <p:cNvPr id="56" name="Legenda MANUSIA"/>
          <p:cNvSpPr/>
          <p:nvPr/>
        </p:nvSpPr>
        <p:spPr>
          <a:xfrm>
            <a:off x="548640" y="5577840"/>
            <a:ext cx="914400" cy="274320"/>
          </a:xfrm>
          <a:prstGeom prst="roundRect">
            <a:avLst>
              <a:gd name="adj" fmla="val 50000"/>
            </a:avLst>
          </a:prstGeom>
          <a:solidFill>
            <a:schemeClr val="accent2"/>
          </a:solidFill>
          <a:ln w="12700">
            <a:solidFill>
              <a:schemeClr val="accent2"/>
            </a:solidFill>
            <a:prstDash val="solid"/>
          </a:ln>
        </p:spPr>
      </p:sp>
      <p:sp>
        <p:nvSpPr>
          <p:cNvPr id="57" name="Text 49"/>
          <p:cNvSpPr txBox="1"/>
          <p:nvPr/>
        </p:nvSpPr>
        <p:spPr>
          <a:xfrm>
            <a:off x="548640" y="557784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MANUSIA</a:t>
            </a:r>
            <a:endParaRPr lang="en-US" sz="1100" dirty="0"/>
          </a:p>
        </p:txBody>
      </p:sp>
      <p:sp>
        <p:nvSpPr>
          <p:cNvPr id="58" name="Legenda AI"/>
          <p:cNvSpPr/>
          <p:nvPr/>
        </p:nvSpPr>
        <p:spPr>
          <a:xfrm>
            <a:off x="1645920" y="5577840"/>
            <a:ext cx="914400" cy="274320"/>
          </a:xfrm>
          <a:prstGeom prst="roundRect">
            <a:avLst>
              <a:gd name="adj" fmla="val 50000"/>
            </a:avLst>
          </a:prstGeom>
          <a:solidFill>
            <a:schemeClr val="accent3"/>
          </a:solidFill>
          <a:ln w="12700">
            <a:solidFill>
              <a:schemeClr val="accent3"/>
            </a:solidFill>
            <a:prstDash val="solid"/>
          </a:ln>
        </p:spPr>
      </p:sp>
      <p:sp>
        <p:nvSpPr>
          <p:cNvPr id="59" name="Text 51"/>
          <p:cNvSpPr txBox="1"/>
          <p:nvPr/>
        </p:nvSpPr>
        <p:spPr>
          <a:xfrm>
            <a:off x="1645920" y="5577840"/>
            <a:ext cx="914400" cy="274320"/>
          </a:xfrm>
          <a:prstGeom prst="rect">
            <a:avLst/>
          </a:prstGeom>
          <a:noFill/>
          <a:ln/>
        </p:spPr>
        <p:txBody>
          <a:bodyPr wrap="square" lIns="0" tIns="0" rIns="0" bIns="0" rtlCol="0" anchor="ctr"/>
          <a:lstStyle/>
          <a:p>
            <a:pPr marL="0" indent="0" algn="ctr">
              <a:buNone/>
            </a:pPr>
            <a:r>
              <a:rPr lang="en-US" sz="1100" b="1" dirty="0">
                <a:solidFill>
                  <a:schemeClr val="bg1"/>
                </a:solidFill>
              </a:rPr>
              <a:t>AI</a:t>
            </a:r>
            <a:endParaRPr lang="en-US" sz="1100" dirty="0"/>
          </a:p>
        </p:txBody>
      </p:sp>
      <p:sp>
        <p:nvSpPr>
          <p:cNvPr id="60" name="Legenda MANUSIA + AI"/>
          <p:cNvSpPr/>
          <p:nvPr/>
        </p:nvSpPr>
        <p:spPr>
          <a:xfrm>
            <a:off x="2743200" y="5577840"/>
            <a:ext cx="1463040" cy="274320"/>
          </a:xfrm>
          <a:prstGeom prst="roundRect">
            <a:avLst>
              <a:gd name="adj" fmla="val 50000"/>
            </a:avLst>
          </a:prstGeom>
          <a:solidFill>
            <a:schemeClr val="accent1"/>
          </a:solidFill>
          <a:ln w="12700">
            <a:solidFill>
              <a:schemeClr val="accent1"/>
            </a:solidFill>
            <a:prstDash val="solid"/>
          </a:ln>
        </p:spPr>
      </p:sp>
      <p:sp>
        <p:nvSpPr>
          <p:cNvPr id="61" name="Text 53"/>
          <p:cNvSpPr txBox="1"/>
          <p:nvPr/>
        </p:nvSpPr>
        <p:spPr>
          <a:xfrm>
            <a:off x="2743200" y="5577840"/>
            <a:ext cx="1463040" cy="274320"/>
          </a:xfrm>
          <a:prstGeom prst="rect">
            <a:avLst/>
          </a:prstGeom>
          <a:noFill/>
          <a:ln/>
        </p:spPr>
        <p:txBody>
          <a:bodyPr wrap="square" lIns="0" tIns="0" rIns="0" bIns="0" rtlCol="0" anchor="ctr"/>
          <a:lstStyle/>
          <a:p>
            <a:pPr marL="0" indent="0" algn="ctr">
              <a:buNone/>
            </a:pPr>
            <a:r>
              <a:rPr lang="en-US" sz="1100" b="1" dirty="0">
                <a:solidFill>
                  <a:schemeClr val="bg1"/>
                </a:solidFill>
              </a:rPr>
              <a:t>MANUSIA + AI</a:t>
            </a:r>
            <a:endParaRPr lang="en-US" sz="1100" dirty="0"/>
          </a:p>
        </p:txBody>
      </p:sp>
      <p:sp>
        <p:nvSpPr>
          <p:cNvPr id="62" name="Text 54"/>
          <p:cNvSpPr txBox="1"/>
          <p:nvPr/>
        </p:nvSpPr>
        <p:spPr>
          <a:xfrm>
            <a:off x="7498080" y="5532120"/>
            <a:ext cx="4114800" cy="365760"/>
          </a:xfrm>
          <a:prstGeom prst="rect">
            <a:avLst/>
          </a:prstGeom>
          <a:noFill/>
          <a:ln/>
        </p:spPr>
        <p:txBody>
          <a:bodyPr wrap="square" lIns="0" tIns="0" rIns="0" bIns="0" rtlCol="0" anchor="ctr"/>
          <a:lstStyle/>
          <a:p>
            <a:pPr marL="0" indent="0" algn="r">
              <a:buNone/>
            </a:pPr>
            <a:r>
              <a:rPr lang="en-US" sz="1800" b="1" dirty="0">
                <a:solidFill>
                  <a:schemeClr val="tx1"/>
                </a:solidFill>
              </a:rPr>
              <a:t>Total ±51 menit </a:t>
            </a:r>
            <a:r>
              <a:rPr lang="en-US" sz="1200" dirty="0">
                <a:solidFill>
                  <a:schemeClr val="accent2"/>
                </a:solidFill>
              </a:rPr>
              <a:t>(estimasi)</a:t>
            </a:r>
            <a:endParaRPr lang="en-US" sz="1400" dirty="0"/>
          </a:p>
        </p:txBody>
      </p:sp>
      <p:sp>
        <p:nvSpPr>
          <p:cNvPr id="6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D2D2280-C20F-4B01-3C18-0466D6DCB24A}"/>
              </a:ext>
            </a:extLst>
          </p:cNvPr>
          <p:cNvSpPr txBox="1">
            <a:spLocks/>
          </p:cNvSpPr>
          <p:nvPr/>
        </p:nvSpPr>
        <p:spPr>
          <a:xfrm>
            <a:off x="1254034" y="467463"/>
            <a:ext cx="6928913" cy="2784255"/>
          </a:xfrm>
          <a:prstGeom prst="rect">
            <a:avLst/>
          </a:prstGeom>
          <a:noFill/>
          <a:ln/>
        </p:spPr>
        <p:txBody>
          <a:bodyPr wrap="square" lIns="0" tIns="0" rIns="0" bIns="0" rtlCol="0" anchor="b"/>
          <a:lstStyle>
            <a:lvl1pPr marL="0" indent="0" algn="l" defTabSz="914400" rtl="0" eaLnBrk="1" latinLnBrk="0" hangingPunct="1">
              <a:lnSpc>
                <a:spcPct val="115000"/>
              </a:lnSpc>
              <a:spcBef>
                <a:spcPct val="0"/>
              </a:spcBef>
              <a:buNone/>
              <a:defRPr lang="en-US" sz="3733" b="1" kern="1200" dirty="0">
                <a:solidFill>
                  <a:schemeClr val="tx2"/>
                </a:solidFill>
                <a:latin typeface="Rubik" pitchFamily="34" charset="0"/>
                <a:ea typeface="Rubik" pitchFamily="34" charset="-122"/>
                <a:cs typeface="Rubik" pitchFamily="34" charset="-120"/>
              </a:defRPr>
            </a:lvl1pPr>
          </a:lstStyle>
          <a:p>
            <a:r>
              <a:rPr lang="en-US" sz="4000" dirty="0">
                <a:solidFill>
                  <a:schemeClr val="tx1"/>
                </a:solidFill>
                <a:latin typeface="Bierstadt Display" panose="020B0004020202020204" pitchFamily="34" charset="0"/>
              </a:rPr>
              <a:t>Automating Container &amp; Seal No. Input in the Proforma Loading Report</a:t>
            </a:r>
          </a:p>
        </p:txBody>
      </p:sp>
      <p:sp>
        <p:nvSpPr>
          <p:cNvPr id="4" name="Text 0">
            <a:extLst>
              <a:ext uri="{FF2B5EF4-FFF2-40B4-BE49-F238E27FC236}">
                <a16:creationId xmlns:a16="http://schemas.microsoft.com/office/drawing/2014/main" id="{4DD38CD5-7F20-7E45-71F4-58E0C57E8D94}"/>
              </a:ext>
            </a:extLst>
          </p:cNvPr>
          <p:cNvSpPr txBox="1">
            <a:spLocks/>
          </p:cNvSpPr>
          <p:nvPr/>
        </p:nvSpPr>
        <p:spPr>
          <a:xfrm>
            <a:off x="1254034" y="4031757"/>
            <a:ext cx="4023360" cy="822960"/>
          </a:xfrm>
          <a:prstGeom prst="rect">
            <a:avLst/>
          </a:prstGeom>
          <a:noFill/>
          <a:ln/>
        </p:spPr>
        <p:txBody>
          <a:bodyPr wrap="square" lIns="0" tIns="0" rIns="0" bIns="0" rtlCol="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800" dirty="0">
                <a:solidFill>
                  <a:schemeClr val="accent3"/>
                </a:solidFill>
              </a:rPr>
              <a:t>From a manual depot-by-depot search to a 5-minute AI-assisted workflow</a:t>
            </a:r>
            <a:endParaRPr lang="en-US" sz="1800" dirty="0"/>
          </a:p>
        </p:txBody>
      </p:sp>
    </p:spTree>
    <p:extLst>
      <p:ext uri="{BB962C8B-B14F-4D97-AF65-F5344CB8AC3E}">
        <p14:creationId xmlns:p14="http://schemas.microsoft.com/office/powerpoint/2010/main" val="321581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Current Workflow: Manual Input (Flowchart)</a:t>
            </a:r>
            <a:endParaRPr lang="en-US" sz="3200" dirty="0"/>
          </a:p>
        </p:txBody>
      </p:sp>
      <p:sp>
        <p:nvSpPr>
          <p:cNvPr id="3" name="flow term"/>
          <p:cNvSpPr/>
          <p:nvPr/>
        </p:nvSpPr>
        <p:spPr>
          <a:xfrm>
            <a:off x="594360" y="1645920"/>
            <a:ext cx="1463040" cy="548640"/>
          </a:xfrm>
          <a:prstGeom prst="flowChartTerminator">
            <a:avLst/>
          </a:prstGeom>
          <a:solidFill>
            <a:schemeClr val="tx2"/>
          </a:solidFill>
          <a:ln w="15875">
            <a:solidFill>
              <a:srgbClr val="0B2545"/>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bg1"/>
                </a:solidFill>
              </a:rPr>
              <a:t>Start</a:t>
            </a:r>
            <a:endParaRPr lang="en-US" sz="1200" dirty="0"/>
          </a:p>
        </p:txBody>
      </p:sp>
      <p:sp>
        <p:nvSpPr>
          <p:cNvPr id="4" name="flow proc"/>
          <p:cNvSpPr/>
          <p:nvPr/>
        </p:nvSpPr>
        <p:spPr>
          <a:xfrm>
            <a:off x="2606040" y="1554480"/>
            <a:ext cx="1828800" cy="731520"/>
          </a:xfrm>
          <a:prstGeom prst="flowChartProcess">
            <a:avLst/>
          </a:prstGeom>
          <a:solidFill>
            <a:schemeClr val="bg1"/>
          </a:solidFill>
          <a:ln w="15875">
            <a:solidFill>
              <a:srgbClr val="8DA9C4"/>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tx2"/>
                </a:solidFill>
              </a:rPr>
              <a:t>Prepare proforma loading data</a:t>
            </a:r>
            <a:endParaRPr lang="en-US" sz="1200" dirty="0"/>
          </a:p>
        </p:txBody>
      </p:sp>
      <p:sp>
        <p:nvSpPr>
          <p:cNvPr id="5" name="flow dec"/>
          <p:cNvSpPr/>
          <p:nvPr/>
        </p:nvSpPr>
        <p:spPr>
          <a:xfrm>
            <a:off x="4937760" y="1463040"/>
            <a:ext cx="1554480" cy="914400"/>
          </a:xfrm>
          <a:prstGeom prst="flowChartDecision">
            <a:avLst/>
          </a:prstGeom>
          <a:solidFill>
            <a:schemeClr val="accent1"/>
          </a:solidFill>
          <a:ln w="15875">
            <a:solidFill>
              <a:srgbClr val="F28C28"/>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bg1"/>
                </a:solidFill>
              </a:rPr>
              <a:t>Data source?</a:t>
            </a:r>
            <a:endParaRPr lang="en-US" sz="1200" dirty="0"/>
          </a:p>
        </p:txBody>
      </p:sp>
      <p:sp>
        <p:nvSpPr>
          <p:cNvPr id="6" name="flow proc"/>
          <p:cNvSpPr/>
          <p:nvPr/>
        </p:nvSpPr>
        <p:spPr>
          <a:xfrm>
            <a:off x="6995160" y="1554480"/>
            <a:ext cx="1828800" cy="731520"/>
          </a:xfrm>
          <a:prstGeom prst="flowChartProcess">
            <a:avLst/>
          </a:prstGeom>
          <a:solidFill>
            <a:schemeClr val="bg1"/>
          </a:solidFill>
          <a:ln w="15875">
            <a:solidFill>
              <a:srgbClr val="8DA9C4"/>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tx2"/>
                </a:solidFill>
              </a:rPr>
              <a:t>Search booking no. in Outlook</a:t>
            </a:r>
            <a:endParaRPr lang="en-US" sz="1200" dirty="0"/>
          </a:p>
        </p:txBody>
      </p:sp>
      <p:sp>
        <p:nvSpPr>
          <p:cNvPr id="7" name="flow proc"/>
          <p:cNvSpPr/>
          <p:nvPr/>
        </p:nvSpPr>
        <p:spPr>
          <a:xfrm>
            <a:off x="6995160" y="2994660"/>
            <a:ext cx="1828800" cy="868680"/>
          </a:xfrm>
          <a:prstGeom prst="flowChartProcess">
            <a:avLst/>
          </a:prstGeom>
          <a:solidFill>
            <a:schemeClr val="bg1"/>
          </a:solidFill>
          <a:ln w="15875">
            <a:solidFill>
              <a:srgbClr val="8DA9C4"/>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tx2"/>
                </a:solidFill>
              </a:rPr>
              <a:t>Search depot web / Track DO (DKD, Glorius, HUB)</a:t>
            </a:r>
            <a:endParaRPr lang="en-US" sz="1200" dirty="0"/>
          </a:p>
        </p:txBody>
      </p:sp>
      <p:sp>
        <p:nvSpPr>
          <p:cNvPr id="8" name="flow proc"/>
          <p:cNvSpPr/>
          <p:nvPr/>
        </p:nvSpPr>
        <p:spPr>
          <a:xfrm>
            <a:off x="9189720" y="3063240"/>
            <a:ext cx="1828800" cy="731520"/>
          </a:xfrm>
          <a:prstGeom prst="flowChartProcess">
            <a:avLst/>
          </a:prstGeom>
          <a:solidFill>
            <a:schemeClr val="bg1"/>
          </a:solidFill>
          <a:ln w="15875">
            <a:solidFill>
              <a:srgbClr val="8DA9C4"/>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tx2"/>
                </a:solidFill>
              </a:rPr>
              <a:t>Copy-paste CNTR &amp; SEAL no. manually</a:t>
            </a:r>
            <a:endParaRPr lang="en-US" sz="1200" dirty="0"/>
          </a:p>
        </p:txBody>
      </p:sp>
      <p:sp>
        <p:nvSpPr>
          <p:cNvPr id="9" name="flow dec"/>
          <p:cNvSpPr/>
          <p:nvPr/>
        </p:nvSpPr>
        <p:spPr>
          <a:xfrm>
            <a:off x="9326880" y="4389120"/>
            <a:ext cx="1554480" cy="914400"/>
          </a:xfrm>
          <a:prstGeom prst="flowChartDecision">
            <a:avLst/>
          </a:prstGeom>
          <a:solidFill>
            <a:schemeClr val="accent1"/>
          </a:solidFill>
          <a:ln w="15875">
            <a:solidFill>
              <a:srgbClr val="F28C28"/>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bg1"/>
                </a:solidFill>
              </a:rPr>
              <a:t>More bookings?</a:t>
            </a:r>
            <a:endParaRPr lang="en-US" sz="1200" dirty="0"/>
          </a:p>
        </p:txBody>
      </p:sp>
      <p:sp>
        <p:nvSpPr>
          <p:cNvPr id="10" name="flow term"/>
          <p:cNvSpPr/>
          <p:nvPr/>
        </p:nvSpPr>
        <p:spPr>
          <a:xfrm>
            <a:off x="7178040" y="4572000"/>
            <a:ext cx="1463040" cy="548640"/>
          </a:xfrm>
          <a:prstGeom prst="flowChartTerminator">
            <a:avLst/>
          </a:prstGeom>
          <a:solidFill>
            <a:schemeClr val="tx2"/>
          </a:solidFill>
          <a:ln w="15875">
            <a:solidFill>
              <a:srgbClr val="0B2545"/>
            </a:solidFill>
          </a:ln>
          <a:effectLst>
            <a:outerShdw blurRad="101600" dist="25400" dir="5400000" algn="bl" rotWithShape="0">
              <a:srgbClr val="0B2545">
                <a:alpha val="12000"/>
              </a:srgbClr>
            </a:outerShdw>
          </a:effectLst>
        </p:spPr>
        <p:txBody>
          <a:bodyPr wrap="square" lIns="38100" tIns="38100" rIns="38100" bIns="38100" rtlCol="0" anchor="ctr"/>
          <a:lstStyle/>
          <a:p>
            <a:pPr marL="0" indent="0" algn="ctr">
              <a:buNone/>
            </a:pPr>
            <a:r>
              <a:rPr lang="en-US" sz="1200" b="1" dirty="0">
                <a:solidFill>
                  <a:schemeClr val="bg1"/>
                </a:solidFill>
              </a:rPr>
              <a:t>Report done</a:t>
            </a:r>
            <a:endParaRPr lang="en-US" sz="1200" dirty="0"/>
          </a:p>
        </p:txBody>
      </p:sp>
      <p:sp>
        <p:nvSpPr>
          <p:cNvPr id="11" name="connector"/>
          <p:cNvSpPr/>
          <p:nvPr/>
        </p:nvSpPr>
        <p:spPr>
          <a:xfrm>
            <a:off x="2057400" y="1920240"/>
            <a:ext cx="548640" cy="0"/>
          </a:xfrm>
          <a:prstGeom prst="line">
            <a:avLst/>
          </a:prstGeom>
          <a:noFill/>
          <a:ln w="22225">
            <a:solidFill>
              <a:srgbClr val="5B6B7F"/>
            </a:solidFill>
            <a:prstDash val="solid"/>
            <a:tailEnd type="triangle"/>
          </a:ln>
        </p:spPr>
      </p:sp>
      <p:sp>
        <p:nvSpPr>
          <p:cNvPr id="12" name="connector"/>
          <p:cNvSpPr/>
          <p:nvPr/>
        </p:nvSpPr>
        <p:spPr>
          <a:xfrm>
            <a:off x="4434840" y="1920240"/>
            <a:ext cx="502920" cy="0"/>
          </a:xfrm>
          <a:prstGeom prst="line">
            <a:avLst/>
          </a:prstGeom>
          <a:noFill/>
          <a:ln w="22225">
            <a:solidFill>
              <a:srgbClr val="5B6B7F"/>
            </a:solidFill>
            <a:prstDash val="solid"/>
            <a:tailEnd type="triangle"/>
          </a:ln>
        </p:spPr>
      </p:sp>
      <p:sp>
        <p:nvSpPr>
          <p:cNvPr id="13" name="connector"/>
          <p:cNvSpPr/>
          <p:nvPr/>
        </p:nvSpPr>
        <p:spPr>
          <a:xfrm>
            <a:off x="6492240" y="1920240"/>
            <a:ext cx="502920" cy="0"/>
          </a:xfrm>
          <a:prstGeom prst="line">
            <a:avLst/>
          </a:prstGeom>
          <a:noFill/>
          <a:ln w="22225">
            <a:solidFill>
              <a:srgbClr val="5B6B7F"/>
            </a:solidFill>
            <a:prstDash val="solid"/>
            <a:tailEnd type="triangle"/>
          </a:ln>
        </p:spPr>
      </p:sp>
      <p:sp>
        <p:nvSpPr>
          <p:cNvPr id="14" name="Text 12"/>
          <p:cNvSpPr txBox="1"/>
          <p:nvPr/>
        </p:nvSpPr>
        <p:spPr>
          <a:xfrm>
            <a:off x="6446520" y="1572768"/>
            <a:ext cx="640080" cy="256032"/>
          </a:xfrm>
          <a:prstGeom prst="rect">
            <a:avLst/>
          </a:prstGeom>
          <a:noFill/>
          <a:ln/>
        </p:spPr>
        <p:txBody>
          <a:bodyPr wrap="square" lIns="0" tIns="0" rIns="0" bIns="0" rtlCol="0" anchor="t"/>
          <a:lstStyle/>
          <a:p>
            <a:pPr marL="0" indent="0">
              <a:buNone/>
            </a:pPr>
            <a:r>
              <a:rPr lang="en-US" sz="1100" b="1" dirty="0">
                <a:solidFill>
                  <a:schemeClr val="accent2"/>
                </a:solidFill>
              </a:rPr>
              <a:t>Email</a:t>
            </a:r>
            <a:endParaRPr lang="en-US" sz="1100" dirty="0"/>
          </a:p>
        </p:txBody>
      </p:sp>
      <p:sp>
        <p:nvSpPr>
          <p:cNvPr id="15" name="connector"/>
          <p:cNvSpPr/>
          <p:nvPr/>
        </p:nvSpPr>
        <p:spPr>
          <a:xfrm>
            <a:off x="5715000" y="2377440"/>
            <a:ext cx="0" cy="1051560"/>
          </a:xfrm>
          <a:prstGeom prst="line">
            <a:avLst/>
          </a:prstGeom>
          <a:noFill/>
          <a:ln w="22225">
            <a:solidFill>
              <a:srgbClr val="5B6B7F"/>
            </a:solidFill>
            <a:prstDash val="solid"/>
          </a:ln>
        </p:spPr>
      </p:sp>
      <p:sp>
        <p:nvSpPr>
          <p:cNvPr id="16" name="connector"/>
          <p:cNvSpPr/>
          <p:nvPr/>
        </p:nvSpPr>
        <p:spPr>
          <a:xfrm>
            <a:off x="5715000" y="3429000"/>
            <a:ext cx="1280160" cy="0"/>
          </a:xfrm>
          <a:prstGeom prst="line">
            <a:avLst/>
          </a:prstGeom>
          <a:noFill/>
          <a:ln w="22225">
            <a:solidFill>
              <a:srgbClr val="5B6B7F"/>
            </a:solidFill>
            <a:prstDash val="solid"/>
            <a:tailEnd type="triangle"/>
          </a:ln>
        </p:spPr>
      </p:sp>
      <p:sp>
        <p:nvSpPr>
          <p:cNvPr id="17" name="Text 15"/>
          <p:cNvSpPr txBox="1"/>
          <p:nvPr/>
        </p:nvSpPr>
        <p:spPr>
          <a:xfrm>
            <a:off x="5852160" y="3127248"/>
            <a:ext cx="640080" cy="256032"/>
          </a:xfrm>
          <a:prstGeom prst="rect">
            <a:avLst/>
          </a:prstGeom>
          <a:noFill/>
          <a:ln/>
        </p:spPr>
        <p:txBody>
          <a:bodyPr wrap="square" lIns="0" tIns="0" rIns="0" bIns="0" rtlCol="0" anchor="t"/>
          <a:lstStyle/>
          <a:p>
            <a:pPr marL="0" indent="0">
              <a:buNone/>
            </a:pPr>
            <a:r>
              <a:rPr lang="en-US" sz="1100" b="1" dirty="0">
                <a:solidFill>
                  <a:schemeClr val="accent2"/>
                </a:solidFill>
              </a:rPr>
              <a:t>Web</a:t>
            </a:r>
            <a:endParaRPr lang="en-US" sz="1100" dirty="0"/>
          </a:p>
        </p:txBody>
      </p:sp>
      <p:sp>
        <p:nvSpPr>
          <p:cNvPr id="18" name="connector"/>
          <p:cNvSpPr/>
          <p:nvPr/>
        </p:nvSpPr>
        <p:spPr>
          <a:xfrm>
            <a:off x="8823960" y="1920240"/>
            <a:ext cx="1280160" cy="0"/>
          </a:xfrm>
          <a:prstGeom prst="line">
            <a:avLst/>
          </a:prstGeom>
          <a:noFill/>
          <a:ln w="22225">
            <a:solidFill>
              <a:srgbClr val="5B6B7F"/>
            </a:solidFill>
            <a:prstDash val="solid"/>
          </a:ln>
        </p:spPr>
      </p:sp>
      <p:sp>
        <p:nvSpPr>
          <p:cNvPr id="19" name="connector"/>
          <p:cNvSpPr/>
          <p:nvPr/>
        </p:nvSpPr>
        <p:spPr>
          <a:xfrm>
            <a:off x="10104120" y="1920240"/>
            <a:ext cx="0" cy="1143000"/>
          </a:xfrm>
          <a:prstGeom prst="line">
            <a:avLst/>
          </a:prstGeom>
          <a:noFill/>
          <a:ln w="22225">
            <a:solidFill>
              <a:srgbClr val="5B6B7F"/>
            </a:solidFill>
            <a:prstDash val="solid"/>
            <a:tailEnd type="triangle"/>
          </a:ln>
        </p:spPr>
      </p:sp>
      <p:sp>
        <p:nvSpPr>
          <p:cNvPr id="20" name="connector"/>
          <p:cNvSpPr/>
          <p:nvPr/>
        </p:nvSpPr>
        <p:spPr>
          <a:xfrm>
            <a:off x="8823960" y="3429000"/>
            <a:ext cx="365760" cy="0"/>
          </a:xfrm>
          <a:prstGeom prst="line">
            <a:avLst/>
          </a:prstGeom>
          <a:noFill/>
          <a:ln w="22225">
            <a:solidFill>
              <a:srgbClr val="5B6B7F"/>
            </a:solidFill>
            <a:prstDash val="solid"/>
            <a:tailEnd type="triangle"/>
          </a:ln>
        </p:spPr>
      </p:sp>
      <p:sp>
        <p:nvSpPr>
          <p:cNvPr id="21" name="connector"/>
          <p:cNvSpPr/>
          <p:nvPr/>
        </p:nvSpPr>
        <p:spPr>
          <a:xfrm>
            <a:off x="10104120" y="3794760"/>
            <a:ext cx="0" cy="594360"/>
          </a:xfrm>
          <a:prstGeom prst="line">
            <a:avLst/>
          </a:prstGeom>
          <a:noFill/>
          <a:ln w="22225">
            <a:solidFill>
              <a:srgbClr val="5B6B7F"/>
            </a:solidFill>
            <a:prstDash val="solid"/>
            <a:tailEnd type="triangle"/>
          </a:ln>
        </p:spPr>
      </p:sp>
      <p:sp>
        <p:nvSpPr>
          <p:cNvPr id="22" name="connector"/>
          <p:cNvSpPr/>
          <p:nvPr/>
        </p:nvSpPr>
        <p:spPr>
          <a:xfrm flipH="1">
            <a:off x="8641080" y="4846320"/>
            <a:ext cx="685800" cy="0"/>
          </a:xfrm>
          <a:prstGeom prst="line">
            <a:avLst/>
          </a:prstGeom>
          <a:noFill/>
          <a:ln w="22225">
            <a:solidFill>
              <a:srgbClr val="5B6B7F"/>
            </a:solidFill>
            <a:prstDash val="solid"/>
            <a:tailEnd type="triangle"/>
          </a:ln>
        </p:spPr>
      </p:sp>
      <p:sp>
        <p:nvSpPr>
          <p:cNvPr id="23" name="Text 21"/>
          <p:cNvSpPr txBox="1"/>
          <p:nvPr/>
        </p:nvSpPr>
        <p:spPr>
          <a:xfrm>
            <a:off x="8778240" y="4544568"/>
            <a:ext cx="457200" cy="256032"/>
          </a:xfrm>
          <a:prstGeom prst="rect">
            <a:avLst/>
          </a:prstGeom>
          <a:noFill/>
          <a:ln/>
        </p:spPr>
        <p:txBody>
          <a:bodyPr wrap="square" lIns="0" tIns="0" rIns="0" bIns="0" rtlCol="0" anchor="t"/>
          <a:lstStyle/>
          <a:p>
            <a:pPr marL="0" indent="0">
              <a:buNone/>
            </a:pPr>
            <a:r>
              <a:rPr lang="en-US" sz="1100" b="1" dirty="0">
                <a:solidFill>
                  <a:schemeClr val="accent2"/>
                </a:solidFill>
              </a:rPr>
              <a:t>No</a:t>
            </a:r>
            <a:endParaRPr lang="en-US" sz="1100" dirty="0"/>
          </a:p>
        </p:txBody>
      </p:sp>
      <p:sp>
        <p:nvSpPr>
          <p:cNvPr id="24" name="connector"/>
          <p:cNvSpPr/>
          <p:nvPr/>
        </p:nvSpPr>
        <p:spPr>
          <a:xfrm>
            <a:off x="10104120" y="5303520"/>
            <a:ext cx="0" cy="411480"/>
          </a:xfrm>
          <a:prstGeom prst="line">
            <a:avLst/>
          </a:prstGeom>
          <a:noFill/>
          <a:ln w="22225">
            <a:solidFill>
              <a:srgbClr val="5B6B7F"/>
            </a:solidFill>
            <a:prstDash val="solid"/>
          </a:ln>
        </p:spPr>
      </p:sp>
      <p:sp>
        <p:nvSpPr>
          <p:cNvPr id="25" name="connector"/>
          <p:cNvSpPr/>
          <p:nvPr/>
        </p:nvSpPr>
        <p:spPr>
          <a:xfrm flipH="1">
            <a:off x="4709160" y="5715000"/>
            <a:ext cx="5394960" cy="0"/>
          </a:xfrm>
          <a:prstGeom prst="line">
            <a:avLst/>
          </a:prstGeom>
          <a:noFill/>
          <a:ln w="22225">
            <a:solidFill>
              <a:srgbClr val="5B6B7F"/>
            </a:solidFill>
            <a:prstDash val="solid"/>
          </a:ln>
        </p:spPr>
      </p:sp>
      <p:sp>
        <p:nvSpPr>
          <p:cNvPr id="26" name="connector"/>
          <p:cNvSpPr/>
          <p:nvPr/>
        </p:nvSpPr>
        <p:spPr>
          <a:xfrm flipV="1">
            <a:off x="4709160" y="1920240"/>
            <a:ext cx="0" cy="3794760"/>
          </a:xfrm>
          <a:prstGeom prst="line">
            <a:avLst/>
          </a:prstGeom>
          <a:noFill/>
          <a:ln w="22225">
            <a:solidFill>
              <a:srgbClr val="5B6B7F"/>
            </a:solidFill>
            <a:prstDash val="solid"/>
            <a:tailEnd type="triangle"/>
          </a:ln>
        </p:spPr>
      </p:sp>
      <p:sp>
        <p:nvSpPr>
          <p:cNvPr id="27" name="Text 25"/>
          <p:cNvSpPr txBox="1"/>
          <p:nvPr/>
        </p:nvSpPr>
        <p:spPr>
          <a:xfrm>
            <a:off x="4846320" y="5413248"/>
            <a:ext cx="2011680" cy="256032"/>
          </a:xfrm>
          <a:prstGeom prst="rect">
            <a:avLst/>
          </a:prstGeom>
          <a:noFill/>
          <a:ln/>
        </p:spPr>
        <p:txBody>
          <a:bodyPr wrap="square" lIns="0" tIns="0" rIns="0" bIns="0" rtlCol="0" anchor="t"/>
          <a:lstStyle/>
          <a:p>
            <a:pPr marL="0" indent="0">
              <a:buNone/>
            </a:pPr>
            <a:r>
              <a:rPr lang="en-US" sz="1100" b="1" dirty="0">
                <a:solidFill>
                  <a:schemeClr val="accent2"/>
                </a:solidFill>
              </a:rPr>
              <a:t>Yes – next booking</a:t>
            </a:r>
            <a:endParaRPr lang="en-US" sz="1100" dirty="0"/>
          </a:p>
        </p:txBody>
      </p:sp>
      <p:sp>
        <p:nvSpPr>
          <p:cNvPr id="28" name="stat card"/>
          <p:cNvSpPr/>
          <p:nvPr/>
        </p:nvSpPr>
        <p:spPr>
          <a:xfrm>
            <a:off x="548640" y="2880360"/>
            <a:ext cx="3657600" cy="2651760"/>
          </a:xfrm>
          <a:prstGeom prst="roundRect">
            <a:avLst>
              <a:gd name="adj" fmla="val 4138"/>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29" name="icon circle"/>
          <p:cNvSpPr/>
          <p:nvPr/>
        </p:nvSpPr>
        <p:spPr>
          <a:xfrm>
            <a:off x="822960" y="3154680"/>
            <a:ext cx="640080" cy="640080"/>
          </a:xfrm>
          <a:prstGeom prst="ellipse">
            <a:avLst/>
          </a:prstGeom>
          <a:solidFill>
            <a:schemeClr val="accent5"/>
          </a:solidFill>
          <a:ln/>
        </p:spPr>
      </p:sp>
      <p:pic>
        <p:nvPicPr>
          <p:cNvPr id="30" name="FaClock" descr="preencoded.png"/>
          <p:cNvPicPr>
            <a:picLocks noChangeAspect="1"/>
          </p:cNvPicPr>
          <p:nvPr/>
        </p:nvPicPr>
        <p:blipFill>
          <a:blip r:embed="rId3"/>
          <a:stretch>
            <a:fillRect/>
          </a:stretch>
        </p:blipFill>
        <p:spPr>
          <a:xfrm>
            <a:off x="982980" y="3314700"/>
            <a:ext cx="320040" cy="320040"/>
          </a:xfrm>
          <a:prstGeom prst="rect">
            <a:avLst/>
          </a:prstGeom>
        </p:spPr>
      </p:pic>
      <p:sp>
        <p:nvSpPr>
          <p:cNvPr id="31" name="Text 28"/>
          <p:cNvSpPr txBox="1"/>
          <p:nvPr/>
        </p:nvSpPr>
        <p:spPr>
          <a:xfrm>
            <a:off x="1600200" y="3108960"/>
            <a:ext cx="2468880" cy="731520"/>
          </a:xfrm>
          <a:prstGeom prst="rect">
            <a:avLst/>
          </a:prstGeom>
          <a:noFill/>
          <a:ln/>
        </p:spPr>
        <p:txBody>
          <a:bodyPr wrap="square" lIns="0" tIns="0" rIns="0" bIns="0" rtlCol="0" anchor="ctr"/>
          <a:lstStyle/>
          <a:p>
            <a:pPr marL="0" indent="0">
              <a:buNone/>
            </a:pPr>
            <a:r>
              <a:rPr lang="en-US" sz="3600" b="1" dirty="0">
                <a:solidFill>
                  <a:schemeClr val="tx2"/>
                </a:solidFill>
              </a:rPr>
              <a:t>30–60 min</a:t>
            </a:r>
            <a:endParaRPr lang="en-US" sz="3600" dirty="0"/>
          </a:p>
        </p:txBody>
      </p:sp>
      <p:sp>
        <p:nvSpPr>
          <p:cNvPr id="32" name="Text 29"/>
          <p:cNvSpPr txBox="1"/>
          <p:nvPr/>
        </p:nvSpPr>
        <p:spPr>
          <a:xfrm>
            <a:off x="822960" y="4023360"/>
            <a:ext cx="3154680" cy="822960"/>
          </a:xfrm>
          <a:prstGeom prst="rect">
            <a:avLst/>
          </a:prstGeom>
          <a:noFill/>
          <a:ln/>
        </p:spPr>
        <p:txBody>
          <a:bodyPr wrap="square" lIns="0" tIns="0" rIns="0" bIns="0" rtlCol="0" anchor="t"/>
          <a:lstStyle/>
          <a:p>
            <a:pPr marL="0" indent="0">
              <a:buNone/>
            </a:pPr>
            <a:r>
              <a:rPr lang="en-US" sz="1400" dirty="0">
                <a:solidFill>
                  <a:schemeClr val="accent5"/>
                </a:solidFill>
              </a:rPr>
              <a:t>per vessel — every booking is searched and typed by hand, one at a time.</a:t>
            </a:r>
            <a:endParaRPr lang="en-US" sz="1400" dirty="0"/>
          </a:p>
        </p:txBody>
      </p:sp>
      <p:sp>
        <p:nvSpPr>
          <p:cNvPr id="33" name="Text 30"/>
          <p:cNvSpPr txBox="1"/>
          <p:nvPr/>
        </p:nvSpPr>
        <p:spPr>
          <a:xfrm>
            <a:off x="822960" y="4937760"/>
            <a:ext cx="3154680" cy="365760"/>
          </a:xfrm>
          <a:prstGeom prst="rect">
            <a:avLst/>
          </a:prstGeom>
          <a:noFill/>
          <a:ln/>
        </p:spPr>
        <p:txBody>
          <a:bodyPr wrap="square" lIns="0" tIns="0" rIns="0" bIns="0" rtlCol="0" anchor="t"/>
          <a:lstStyle/>
          <a:p>
            <a:pPr marL="0" indent="0">
              <a:buNone/>
            </a:pPr>
            <a:r>
              <a:rPr lang="en-US" sz="1200" i="1" dirty="0">
                <a:solidFill>
                  <a:schemeClr val="accent5"/>
                </a:solidFill>
              </a:rPr>
              <a:t>Web access only for DKD, Glorius &amp; HUB</a:t>
            </a:r>
            <a:endParaRPr lang="en-US" sz="1200" dirty="0"/>
          </a:p>
        </p:txBody>
      </p:sp>
      <p:sp>
        <p:nvSpPr>
          <p:cNvPr id="34" name="Slide Number Placeholder 0"/>
          <p:cNvSpPr>
            <a:spLocks noGrp="1"/>
          </p:cNvSpPr>
          <p:nvPr>
            <p:ph type="sldNum" sz="quarter" idx="4294967295"/>
          </p:nvPr>
        </p:nvSpPr>
        <p:spPr>
          <a:xfrm>
            <a:off x="11155680" y="6492240"/>
            <a:ext cx="45720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Next Step: One Data Source for All Depots</a:t>
            </a:r>
            <a:endParaRPr lang="en-US" sz="3200" dirty="0"/>
          </a:p>
        </p:txBody>
      </p:sp>
      <p:sp>
        <p:nvSpPr>
          <p:cNvPr id="3" name="Text 1"/>
          <p:cNvSpPr txBox="1"/>
          <p:nvPr/>
        </p:nvSpPr>
        <p:spPr>
          <a:xfrm>
            <a:off x="548640" y="1234440"/>
            <a:ext cx="11064240" cy="685800"/>
          </a:xfrm>
          <a:prstGeom prst="rect">
            <a:avLst/>
          </a:prstGeom>
          <a:noFill/>
          <a:ln/>
        </p:spPr>
        <p:txBody>
          <a:bodyPr wrap="square" lIns="0" tIns="0" rIns="0" bIns="0" rtlCol="0" anchor="t"/>
          <a:lstStyle/>
          <a:p>
            <a:pPr marL="0" indent="0">
              <a:buNone/>
            </a:pPr>
            <a:r>
              <a:rPr lang="en-US" sz="1600" dirty="0">
                <a:solidFill>
                  <a:schemeClr val="accent5"/>
                </a:solidFill>
              </a:rPr>
              <a:t>Going forward, container data will be extracted from a gate-out spreadsheet for all depots, updated by the logistics team — removing the website access limits.</a:t>
            </a:r>
            <a:endParaRPr lang="en-US" sz="1600" dirty="0"/>
          </a:p>
        </p:txBody>
      </p:sp>
      <p:sp>
        <p:nvSpPr>
          <p:cNvPr id="4" name="card"/>
          <p:cNvSpPr/>
          <p:nvPr/>
        </p:nvSpPr>
        <p:spPr>
          <a:xfrm>
            <a:off x="548640" y="2148840"/>
            <a:ext cx="2468880" cy="2331720"/>
          </a:xfrm>
          <a:prstGeom prst="roundRect">
            <a:avLst>
              <a:gd name="adj" fmla="val 4706"/>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5" name="icon circle"/>
          <p:cNvSpPr/>
          <p:nvPr/>
        </p:nvSpPr>
        <p:spPr>
          <a:xfrm>
            <a:off x="1394460" y="2423160"/>
            <a:ext cx="777240" cy="777240"/>
          </a:xfrm>
          <a:prstGeom prst="ellipse">
            <a:avLst/>
          </a:prstGeom>
          <a:solidFill>
            <a:schemeClr val="accent2"/>
          </a:solidFill>
          <a:ln/>
        </p:spPr>
      </p:sp>
      <p:pic>
        <p:nvPicPr>
          <p:cNvPr id="6" name="FaWarehouse" descr="preencoded.png"/>
          <p:cNvPicPr>
            <a:picLocks noChangeAspect="1"/>
          </p:cNvPicPr>
          <p:nvPr/>
        </p:nvPicPr>
        <p:blipFill>
          <a:blip r:embed="rId3"/>
          <a:stretch>
            <a:fillRect/>
          </a:stretch>
        </p:blipFill>
        <p:spPr>
          <a:xfrm>
            <a:off x="1588770" y="2617470"/>
            <a:ext cx="388620" cy="388620"/>
          </a:xfrm>
          <a:prstGeom prst="rect">
            <a:avLst/>
          </a:prstGeom>
        </p:spPr>
      </p:pic>
      <p:sp>
        <p:nvSpPr>
          <p:cNvPr id="7" name="Text 4"/>
          <p:cNvSpPr txBox="1"/>
          <p:nvPr/>
        </p:nvSpPr>
        <p:spPr>
          <a:xfrm>
            <a:off x="685800" y="3291840"/>
            <a:ext cx="2194560" cy="594360"/>
          </a:xfrm>
          <a:prstGeom prst="rect">
            <a:avLst/>
          </a:prstGeom>
          <a:noFill/>
          <a:ln/>
        </p:spPr>
        <p:txBody>
          <a:bodyPr wrap="square" lIns="0" tIns="0" rIns="0" bIns="0" rtlCol="0" anchor="ctr"/>
          <a:lstStyle/>
          <a:p>
            <a:pPr marL="0" indent="0" algn="ctr">
              <a:buNone/>
            </a:pPr>
            <a:r>
              <a:rPr lang="en-US" sz="1600" b="1" dirty="0">
                <a:solidFill>
                  <a:schemeClr val="tx2"/>
                </a:solidFill>
              </a:rPr>
              <a:t>All depots</a:t>
            </a:r>
            <a:endParaRPr lang="en-US" sz="1600" dirty="0"/>
          </a:p>
        </p:txBody>
      </p:sp>
      <p:sp>
        <p:nvSpPr>
          <p:cNvPr id="8" name="Text 5"/>
          <p:cNvSpPr txBox="1"/>
          <p:nvPr/>
        </p:nvSpPr>
        <p:spPr>
          <a:xfrm>
            <a:off x="685800" y="3904488"/>
            <a:ext cx="2194560" cy="457200"/>
          </a:xfrm>
          <a:prstGeom prst="rect">
            <a:avLst/>
          </a:prstGeom>
          <a:noFill/>
          <a:ln/>
        </p:spPr>
        <p:txBody>
          <a:bodyPr wrap="square" lIns="0" tIns="0" rIns="0" bIns="0" rtlCol="0" anchor="t"/>
          <a:lstStyle/>
          <a:p>
            <a:pPr marL="0" indent="0" algn="ctr">
              <a:buNone/>
            </a:pPr>
            <a:r>
              <a:rPr lang="en-US" sz="1300" dirty="0">
                <a:solidFill>
                  <a:schemeClr val="accent5"/>
                </a:solidFill>
              </a:rPr>
              <a:t>Gate-out containers released</a:t>
            </a:r>
            <a:endParaRPr lang="en-US" sz="1300" dirty="0"/>
          </a:p>
        </p:txBody>
      </p:sp>
      <p:pic>
        <p:nvPicPr>
          <p:cNvPr id="9" name="arrow" descr="preencoded.png"/>
          <p:cNvPicPr>
            <a:picLocks noChangeAspect="1"/>
          </p:cNvPicPr>
          <p:nvPr/>
        </p:nvPicPr>
        <p:blipFill>
          <a:blip r:embed="rId4"/>
          <a:stretch>
            <a:fillRect/>
          </a:stretch>
        </p:blipFill>
        <p:spPr>
          <a:xfrm>
            <a:off x="3127248" y="3200400"/>
            <a:ext cx="237744" cy="237744"/>
          </a:xfrm>
          <a:prstGeom prst="rect">
            <a:avLst/>
          </a:prstGeom>
        </p:spPr>
      </p:pic>
      <p:sp>
        <p:nvSpPr>
          <p:cNvPr id="10" name="card"/>
          <p:cNvSpPr/>
          <p:nvPr/>
        </p:nvSpPr>
        <p:spPr>
          <a:xfrm>
            <a:off x="3429000" y="2148840"/>
            <a:ext cx="2468880" cy="2331720"/>
          </a:xfrm>
          <a:prstGeom prst="roundRect">
            <a:avLst>
              <a:gd name="adj" fmla="val 4706"/>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11" name="icon circle"/>
          <p:cNvSpPr/>
          <p:nvPr/>
        </p:nvSpPr>
        <p:spPr>
          <a:xfrm>
            <a:off x="4274820" y="2423160"/>
            <a:ext cx="777240" cy="777240"/>
          </a:xfrm>
          <a:prstGeom prst="ellipse">
            <a:avLst/>
          </a:prstGeom>
          <a:solidFill>
            <a:schemeClr val="accent2"/>
          </a:solidFill>
          <a:ln/>
        </p:spPr>
      </p:sp>
      <p:pic>
        <p:nvPicPr>
          <p:cNvPr id="12" name="FaTable" descr="preencoded.png"/>
          <p:cNvPicPr>
            <a:picLocks noChangeAspect="1"/>
          </p:cNvPicPr>
          <p:nvPr/>
        </p:nvPicPr>
        <p:blipFill>
          <a:blip r:embed="rId5"/>
          <a:stretch>
            <a:fillRect/>
          </a:stretch>
        </p:blipFill>
        <p:spPr>
          <a:xfrm>
            <a:off x="4469130" y="2617470"/>
            <a:ext cx="388620" cy="388620"/>
          </a:xfrm>
          <a:prstGeom prst="rect">
            <a:avLst/>
          </a:prstGeom>
        </p:spPr>
      </p:pic>
      <p:sp>
        <p:nvSpPr>
          <p:cNvPr id="13" name="Text 8"/>
          <p:cNvSpPr txBox="1"/>
          <p:nvPr/>
        </p:nvSpPr>
        <p:spPr>
          <a:xfrm>
            <a:off x="3566160" y="3291840"/>
            <a:ext cx="2194560" cy="594360"/>
          </a:xfrm>
          <a:prstGeom prst="rect">
            <a:avLst/>
          </a:prstGeom>
          <a:noFill/>
          <a:ln/>
        </p:spPr>
        <p:txBody>
          <a:bodyPr wrap="square" lIns="0" tIns="0" rIns="0" bIns="0" rtlCol="0" anchor="ctr"/>
          <a:lstStyle/>
          <a:p>
            <a:pPr marL="0" indent="0" algn="ctr">
              <a:buNone/>
            </a:pPr>
            <a:r>
              <a:rPr lang="en-US" sz="1600" b="1" dirty="0">
                <a:solidFill>
                  <a:schemeClr val="tx2"/>
                </a:solidFill>
              </a:rPr>
              <a:t>Logistics spreadsheet</a:t>
            </a:r>
            <a:endParaRPr lang="en-US" sz="1600" dirty="0"/>
          </a:p>
        </p:txBody>
      </p:sp>
      <p:sp>
        <p:nvSpPr>
          <p:cNvPr id="14" name="Text 9"/>
          <p:cNvSpPr txBox="1"/>
          <p:nvPr/>
        </p:nvSpPr>
        <p:spPr>
          <a:xfrm>
            <a:off x="3566160" y="3904488"/>
            <a:ext cx="2194560" cy="457200"/>
          </a:xfrm>
          <a:prstGeom prst="rect">
            <a:avLst/>
          </a:prstGeom>
          <a:noFill/>
          <a:ln/>
        </p:spPr>
        <p:txBody>
          <a:bodyPr wrap="square" lIns="0" tIns="0" rIns="0" bIns="0" rtlCol="0" anchor="t"/>
          <a:lstStyle/>
          <a:p>
            <a:pPr marL="0" indent="0" algn="ctr">
              <a:buNone/>
            </a:pPr>
            <a:r>
              <a:rPr lang="en-US" sz="1300" dirty="0">
                <a:solidFill>
                  <a:schemeClr val="accent5"/>
                </a:solidFill>
              </a:rPr>
              <a:t>Updated by the logistics team</a:t>
            </a:r>
            <a:endParaRPr lang="en-US" sz="1300" dirty="0"/>
          </a:p>
        </p:txBody>
      </p:sp>
      <p:pic>
        <p:nvPicPr>
          <p:cNvPr id="15" name="arrow" descr="preencoded.png"/>
          <p:cNvPicPr>
            <a:picLocks noChangeAspect="1"/>
          </p:cNvPicPr>
          <p:nvPr/>
        </p:nvPicPr>
        <p:blipFill>
          <a:blip r:embed="rId4"/>
          <a:stretch>
            <a:fillRect/>
          </a:stretch>
        </p:blipFill>
        <p:spPr>
          <a:xfrm>
            <a:off x="6007608" y="3200400"/>
            <a:ext cx="237744" cy="237744"/>
          </a:xfrm>
          <a:prstGeom prst="rect">
            <a:avLst/>
          </a:prstGeom>
        </p:spPr>
      </p:pic>
      <p:sp>
        <p:nvSpPr>
          <p:cNvPr id="16" name="card"/>
          <p:cNvSpPr/>
          <p:nvPr/>
        </p:nvSpPr>
        <p:spPr>
          <a:xfrm>
            <a:off x="6309360" y="2148840"/>
            <a:ext cx="2468880" cy="2331720"/>
          </a:xfrm>
          <a:prstGeom prst="roundRect">
            <a:avLst>
              <a:gd name="adj" fmla="val 4706"/>
            </a:avLst>
          </a:prstGeom>
          <a:solidFill>
            <a:schemeClr val="tx2"/>
          </a:solidFill>
          <a:ln w="9525">
            <a:solidFill>
              <a:srgbClr val="EEF2F6"/>
            </a:solidFill>
            <a:prstDash val="solid"/>
          </a:ln>
          <a:effectLst>
            <a:outerShdw blurRad="101600" dist="25400" dir="5400000" algn="bl" rotWithShape="0">
              <a:srgbClr val="0B2545">
                <a:alpha val="12000"/>
              </a:srgbClr>
            </a:outerShdw>
          </a:effectLst>
        </p:spPr>
      </p:sp>
      <p:sp>
        <p:nvSpPr>
          <p:cNvPr id="17" name="icon circle"/>
          <p:cNvSpPr/>
          <p:nvPr/>
        </p:nvSpPr>
        <p:spPr>
          <a:xfrm>
            <a:off x="7155180" y="2423160"/>
            <a:ext cx="777240" cy="777240"/>
          </a:xfrm>
          <a:prstGeom prst="ellipse">
            <a:avLst/>
          </a:prstGeom>
          <a:solidFill>
            <a:schemeClr val="accent1"/>
          </a:solidFill>
          <a:ln/>
        </p:spPr>
      </p:sp>
      <p:pic>
        <p:nvPicPr>
          <p:cNvPr id="18" name="FaRobot" descr="preencoded.png"/>
          <p:cNvPicPr>
            <a:picLocks noChangeAspect="1"/>
          </p:cNvPicPr>
          <p:nvPr/>
        </p:nvPicPr>
        <p:blipFill>
          <a:blip r:embed="rId6"/>
          <a:stretch>
            <a:fillRect/>
          </a:stretch>
        </p:blipFill>
        <p:spPr>
          <a:xfrm>
            <a:off x="7349490" y="2617470"/>
            <a:ext cx="388620" cy="388620"/>
          </a:xfrm>
          <a:prstGeom prst="rect">
            <a:avLst/>
          </a:prstGeom>
        </p:spPr>
      </p:pic>
      <p:sp>
        <p:nvSpPr>
          <p:cNvPr id="19" name="Text 12"/>
          <p:cNvSpPr txBox="1"/>
          <p:nvPr/>
        </p:nvSpPr>
        <p:spPr>
          <a:xfrm>
            <a:off x="6446520" y="3291840"/>
            <a:ext cx="2194560" cy="594360"/>
          </a:xfrm>
          <a:prstGeom prst="rect">
            <a:avLst/>
          </a:prstGeom>
          <a:noFill/>
          <a:ln/>
        </p:spPr>
        <p:txBody>
          <a:bodyPr wrap="square" lIns="0" tIns="0" rIns="0" bIns="0" rtlCol="0" anchor="ctr"/>
          <a:lstStyle/>
          <a:p>
            <a:pPr marL="0" indent="0" algn="ctr">
              <a:buNone/>
            </a:pPr>
            <a:r>
              <a:rPr lang="en-US" sz="1600" b="1" dirty="0">
                <a:solidFill>
                  <a:schemeClr val="bg1"/>
                </a:solidFill>
              </a:rPr>
              <a:t>Claude /cntrseal</a:t>
            </a:r>
            <a:endParaRPr lang="en-US" sz="1600" dirty="0"/>
          </a:p>
        </p:txBody>
      </p:sp>
      <p:sp>
        <p:nvSpPr>
          <p:cNvPr id="20" name="Text 13"/>
          <p:cNvSpPr txBox="1"/>
          <p:nvPr/>
        </p:nvSpPr>
        <p:spPr>
          <a:xfrm>
            <a:off x="6446520" y="3904488"/>
            <a:ext cx="2194560" cy="457200"/>
          </a:xfrm>
          <a:prstGeom prst="rect">
            <a:avLst/>
          </a:prstGeom>
          <a:noFill/>
          <a:ln/>
        </p:spPr>
        <p:txBody>
          <a:bodyPr wrap="square" lIns="0" tIns="0" rIns="0" bIns="0" rtlCol="0" anchor="t"/>
          <a:lstStyle/>
          <a:p>
            <a:pPr marL="0" indent="0" algn="ctr">
              <a:buNone/>
            </a:pPr>
            <a:r>
              <a:rPr lang="en-US" sz="1300" dirty="0">
                <a:solidFill>
                  <a:schemeClr val="accent3"/>
                </a:solidFill>
              </a:rPr>
              <a:t>Extracts and matches by booking no.</a:t>
            </a:r>
            <a:endParaRPr lang="en-US" sz="1300" dirty="0"/>
          </a:p>
        </p:txBody>
      </p:sp>
      <p:pic>
        <p:nvPicPr>
          <p:cNvPr id="21" name="arrow" descr="preencoded.png"/>
          <p:cNvPicPr>
            <a:picLocks noChangeAspect="1"/>
          </p:cNvPicPr>
          <p:nvPr/>
        </p:nvPicPr>
        <p:blipFill>
          <a:blip r:embed="rId4"/>
          <a:stretch>
            <a:fillRect/>
          </a:stretch>
        </p:blipFill>
        <p:spPr>
          <a:xfrm>
            <a:off x="8887968" y="3200400"/>
            <a:ext cx="237744" cy="237744"/>
          </a:xfrm>
          <a:prstGeom prst="rect">
            <a:avLst/>
          </a:prstGeom>
        </p:spPr>
      </p:pic>
      <p:sp>
        <p:nvSpPr>
          <p:cNvPr id="22" name="card"/>
          <p:cNvSpPr/>
          <p:nvPr/>
        </p:nvSpPr>
        <p:spPr>
          <a:xfrm>
            <a:off x="9189720" y="2148840"/>
            <a:ext cx="2468880" cy="2331720"/>
          </a:xfrm>
          <a:prstGeom prst="roundRect">
            <a:avLst>
              <a:gd name="adj" fmla="val 4706"/>
            </a:avLst>
          </a:prstGeom>
          <a:solidFill>
            <a:schemeClr val="bg1"/>
          </a:solidFill>
          <a:ln w="9525">
            <a:solidFill>
              <a:srgbClr val="EEF2F6"/>
            </a:solidFill>
            <a:prstDash val="solid"/>
          </a:ln>
          <a:effectLst>
            <a:outerShdw blurRad="101600" dist="25400" dir="5400000" algn="bl" rotWithShape="0">
              <a:srgbClr val="0B2545">
                <a:alpha val="12000"/>
              </a:srgbClr>
            </a:outerShdw>
          </a:effectLst>
        </p:spPr>
      </p:sp>
      <p:sp>
        <p:nvSpPr>
          <p:cNvPr id="23" name="icon circle"/>
          <p:cNvSpPr/>
          <p:nvPr/>
        </p:nvSpPr>
        <p:spPr>
          <a:xfrm>
            <a:off x="10035540" y="2423160"/>
            <a:ext cx="777240" cy="777240"/>
          </a:xfrm>
          <a:prstGeom prst="ellipse">
            <a:avLst/>
          </a:prstGeom>
          <a:solidFill>
            <a:schemeClr val="accent2"/>
          </a:solidFill>
          <a:ln/>
        </p:spPr>
      </p:sp>
      <p:pic>
        <p:nvPicPr>
          <p:cNvPr id="24" name="FaFileExcel" descr="preencoded.png"/>
          <p:cNvPicPr>
            <a:picLocks noChangeAspect="1"/>
          </p:cNvPicPr>
          <p:nvPr/>
        </p:nvPicPr>
        <p:blipFill>
          <a:blip r:embed="rId7"/>
          <a:stretch>
            <a:fillRect/>
          </a:stretch>
        </p:blipFill>
        <p:spPr>
          <a:xfrm>
            <a:off x="10229850" y="2617470"/>
            <a:ext cx="388620" cy="388620"/>
          </a:xfrm>
          <a:prstGeom prst="rect">
            <a:avLst/>
          </a:prstGeom>
        </p:spPr>
      </p:pic>
      <p:sp>
        <p:nvSpPr>
          <p:cNvPr id="25" name="Text 16"/>
          <p:cNvSpPr txBox="1"/>
          <p:nvPr/>
        </p:nvSpPr>
        <p:spPr>
          <a:xfrm>
            <a:off x="9326880" y="3291840"/>
            <a:ext cx="2194560" cy="594360"/>
          </a:xfrm>
          <a:prstGeom prst="rect">
            <a:avLst/>
          </a:prstGeom>
          <a:noFill/>
          <a:ln/>
        </p:spPr>
        <p:txBody>
          <a:bodyPr wrap="square" lIns="0" tIns="0" rIns="0" bIns="0" rtlCol="0" anchor="ctr"/>
          <a:lstStyle/>
          <a:p>
            <a:pPr marL="0" indent="0" algn="ctr">
              <a:buNone/>
            </a:pPr>
            <a:r>
              <a:rPr lang="en-US" sz="1600" b="1" dirty="0">
                <a:solidFill>
                  <a:schemeClr val="tx2"/>
                </a:solidFill>
              </a:rPr>
              <a:t>Proforma Loading Report</a:t>
            </a:r>
            <a:endParaRPr lang="en-US" sz="1600" dirty="0"/>
          </a:p>
        </p:txBody>
      </p:sp>
      <p:sp>
        <p:nvSpPr>
          <p:cNvPr id="26" name="Text 17"/>
          <p:cNvSpPr txBox="1"/>
          <p:nvPr/>
        </p:nvSpPr>
        <p:spPr>
          <a:xfrm>
            <a:off x="9326880" y="3904488"/>
            <a:ext cx="2194560" cy="457200"/>
          </a:xfrm>
          <a:prstGeom prst="rect">
            <a:avLst/>
          </a:prstGeom>
          <a:noFill/>
          <a:ln/>
        </p:spPr>
        <p:txBody>
          <a:bodyPr wrap="square" lIns="0" tIns="0" rIns="0" bIns="0" rtlCol="0" anchor="t"/>
          <a:lstStyle/>
          <a:p>
            <a:pPr marL="0" indent="0" algn="ctr">
              <a:buNone/>
            </a:pPr>
            <a:r>
              <a:rPr lang="en-US" sz="1300" dirty="0">
                <a:solidFill>
                  <a:schemeClr val="accent5"/>
                </a:solidFill>
              </a:rPr>
              <a:t>Container &amp; seal no. complete</a:t>
            </a:r>
            <a:endParaRPr lang="en-US" sz="1300" dirty="0"/>
          </a:p>
        </p:txBody>
      </p:sp>
      <p:sp>
        <p:nvSpPr>
          <p:cNvPr id="27" name="icon circle"/>
          <p:cNvSpPr/>
          <p:nvPr/>
        </p:nvSpPr>
        <p:spPr>
          <a:xfrm>
            <a:off x="548640" y="4846320"/>
            <a:ext cx="548640" cy="548640"/>
          </a:xfrm>
          <a:prstGeom prst="ellipse">
            <a:avLst/>
          </a:prstGeom>
          <a:solidFill>
            <a:schemeClr val="bg2"/>
          </a:solidFill>
          <a:ln/>
        </p:spPr>
      </p:sp>
      <p:pic>
        <p:nvPicPr>
          <p:cNvPr id="28" name="FaCheckDouble" descr="preencoded.png"/>
          <p:cNvPicPr>
            <a:picLocks noChangeAspect="1"/>
          </p:cNvPicPr>
          <p:nvPr/>
        </p:nvPicPr>
        <p:blipFill>
          <a:blip r:embed="rId8"/>
          <a:stretch>
            <a:fillRect/>
          </a:stretch>
        </p:blipFill>
        <p:spPr>
          <a:xfrm>
            <a:off x="685800" y="4983480"/>
            <a:ext cx="274320" cy="274320"/>
          </a:xfrm>
          <a:prstGeom prst="rect">
            <a:avLst/>
          </a:prstGeom>
        </p:spPr>
      </p:pic>
      <p:sp>
        <p:nvSpPr>
          <p:cNvPr id="29" name="Text 19"/>
          <p:cNvSpPr txBox="1"/>
          <p:nvPr/>
        </p:nvSpPr>
        <p:spPr>
          <a:xfrm>
            <a:off x="1234440" y="4818888"/>
            <a:ext cx="2926080" cy="320040"/>
          </a:xfrm>
          <a:prstGeom prst="rect">
            <a:avLst/>
          </a:prstGeom>
          <a:noFill/>
          <a:ln/>
        </p:spPr>
        <p:txBody>
          <a:bodyPr wrap="square" lIns="0" tIns="0" rIns="0" bIns="0" rtlCol="0" anchor="t"/>
          <a:lstStyle/>
          <a:p>
            <a:pPr marL="0" indent="0">
              <a:buNone/>
            </a:pPr>
            <a:r>
              <a:rPr lang="en-US" sz="1500" b="1" dirty="0">
                <a:solidFill>
                  <a:schemeClr val="tx2"/>
                </a:solidFill>
              </a:rPr>
              <a:t>Covers every depot</a:t>
            </a:r>
            <a:endParaRPr lang="en-US" sz="1500" dirty="0"/>
          </a:p>
        </p:txBody>
      </p:sp>
      <p:sp>
        <p:nvSpPr>
          <p:cNvPr id="30" name="Text 20"/>
          <p:cNvSpPr txBox="1"/>
          <p:nvPr/>
        </p:nvSpPr>
        <p:spPr>
          <a:xfrm>
            <a:off x="1234440" y="5120640"/>
            <a:ext cx="2926080" cy="320040"/>
          </a:xfrm>
          <a:prstGeom prst="rect">
            <a:avLst/>
          </a:prstGeom>
          <a:noFill/>
          <a:ln/>
        </p:spPr>
        <p:txBody>
          <a:bodyPr wrap="square" lIns="0" tIns="0" rIns="0" bIns="0" rtlCol="0" anchor="t"/>
          <a:lstStyle/>
          <a:p>
            <a:pPr marL="0" indent="0">
              <a:buNone/>
            </a:pPr>
            <a:r>
              <a:rPr lang="en-US" sz="1300" dirty="0">
                <a:solidFill>
                  <a:schemeClr val="accent5"/>
                </a:solidFill>
              </a:rPr>
              <a:t>incl. Glorius &amp; DKD</a:t>
            </a:r>
            <a:endParaRPr lang="en-US" sz="1300" dirty="0"/>
          </a:p>
        </p:txBody>
      </p:sp>
      <p:sp>
        <p:nvSpPr>
          <p:cNvPr id="31" name="icon circle"/>
          <p:cNvSpPr/>
          <p:nvPr/>
        </p:nvSpPr>
        <p:spPr>
          <a:xfrm>
            <a:off x="4343400" y="4846320"/>
            <a:ext cx="548640" cy="548640"/>
          </a:xfrm>
          <a:prstGeom prst="ellipse">
            <a:avLst/>
          </a:prstGeom>
          <a:solidFill>
            <a:schemeClr val="bg2"/>
          </a:solidFill>
          <a:ln/>
        </p:spPr>
      </p:sp>
      <p:pic>
        <p:nvPicPr>
          <p:cNvPr id="32" name="FaShieldAlt" descr="preencoded.png"/>
          <p:cNvPicPr>
            <a:picLocks noChangeAspect="1"/>
          </p:cNvPicPr>
          <p:nvPr/>
        </p:nvPicPr>
        <p:blipFill>
          <a:blip r:embed="rId9"/>
          <a:stretch>
            <a:fillRect/>
          </a:stretch>
        </p:blipFill>
        <p:spPr>
          <a:xfrm>
            <a:off x="4480560" y="4983480"/>
            <a:ext cx="274320" cy="274320"/>
          </a:xfrm>
          <a:prstGeom prst="rect">
            <a:avLst/>
          </a:prstGeom>
        </p:spPr>
      </p:pic>
      <p:sp>
        <p:nvSpPr>
          <p:cNvPr id="33" name="Text 22"/>
          <p:cNvSpPr txBox="1"/>
          <p:nvPr/>
        </p:nvSpPr>
        <p:spPr>
          <a:xfrm>
            <a:off x="5029200" y="4818888"/>
            <a:ext cx="2926080" cy="320040"/>
          </a:xfrm>
          <a:prstGeom prst="rect">
            <a:avLst/>
          </a:prstGeom>
          <a:noFill/>
          <a:ln/>
        </p:spPr>
        <p:txBody>
          <a:bodyPr wrap="square" lIns="0" tIns="0" rIns="0" bIns="0" rtlCol="0" anchor="t"/>
          <a:lstStyle/>
          <a:p>
            <a:pPr marL="0" indent="0">
              <a:buNone/>
            </a:pPr>
            <a:r>
              <a:rPr lang="en-US" sz="1500" b="1" dirty="0">
                <a:solidFill>
                  <a:schemeClr val="tx2"/>
                </a:solidFill>
              </a:rPr>
              <a:t>Single, consistent source</a:t>
            </a:r>
            <a:endParaRPr lang="en-US" sz="1500" dirty="0"/>
          </a:p>
        </p:txBody>
      </p:sp>
      <p:sp>
        <p:nvSpPr>
          <p:cNvPr id="34" name="Text 23"/>
          <p:cNvSpPr txBox="1"/>
          <p:nvPr/>
        </p:nvSpPr>
        <p:spPr>
          <a:xfrm>
            <a:off x="5029200" y="5120640"/>
            <a:ext cx="2926080" cy="320040"/>
          </a:xfrm>
          <a:prstGeom prst="rect">
            <a:avLst/>
          </a:prstGeom>
          <a:noFill/>
          <a:ln/>
        </p:spPr>
        <p:txBody>
          <a:bodyPr wrap="square" lIns="0" tIns="0" rIns="0" bIns="0" rtlCol="0" anchor="t"/>
          <a:lstStyle/>
          <a:p>
            <a:pPr marL="0" indent="0">
              <a:buNone/>
            </a:pPr>
            <a:r>
              <a:rPr lang="en-US" sz="1300" dirty="0">
                <a:solidFill>
                  <a:schemeClr val="accent5"/>
                </a:solidFill>
              </a:rPr>
              <a:t>no logins or captcha</a:t>
            </a:r>
            <a:endParaRPr lang="en-US" sz="1300" dirty="0"/>
          </a:p>
        </p:txBody>
      </p:sp>
      <p:sp>
        <p:nvSpPr>
          <p:cNvPr id="35" name="icon circle"/>
          <p:cNvSpPr/>
          <p:nvPr/>
        </p:nvSpPr>
        <p:spPr>
          <a:xfrm>
            <a:off x="8138160" y="4846320"/>
            <a:ext cx="548640" cy="548640"/>
          </a:xfrm>
          <a:prstGeom prst="ellipse">
            <a:avLst/>
          </a:prstGeom>
          <a:solidFill>
            <a:schemeClr val="bg2"/>
          </a:solidFill>
          <a:ln/>
        </p:spPr>
      </p:sp>
      <p:pic>
        <p:nvPicPr>
          <p:cNvPr id="36" name="FaBolt" descr="preencoded.png"/>
          <p:cNvPicPr>
            <a:picLocks noChangeAspect="1"/>
          </p:cNvPicPr>
          <p:nvPr/>
        </p:nvPicPr>
        <p:blipFill>
          <a:blip r:embed="rId10"/>
          <a:stretch>
            <a:fillRect/>
          </a:stretch>
        </p:blipFill>
        <p:spPr>
          <a:xfrm>
            <a:off x="8275320" y="4983480"/>
            <a:ext cx="274320" cy="274320"/>
          </a:xfrm>
          <a:prstGeom prst="rect">
            <a:avLst/>
          </a:prstGeom>
        </p:spPr>
      </p:pic>
      <p:sp>
        <p:nvSpPr>
          <p:cNvPr id="37" name="Text 25"/>
          <p:cNvSpPr txBox="1"/>
          <p:nvPr/>
        </p:nvSpPr>
        <p:spPr>
          <a:xfrm>
            <a:off x="8823960" y="4818888"/>
            <a:ext cx="2926080" cy="320040"/>
          </a:xfrm>
          <a:prstGeom prst="rect">
            <a:avLst/>
          </a:prstGeom>
          <a:noFill/>
          <a:ln/>
        </p:spPr>
        <p:txBody>
          <a:bodyPr wrap="square" lIns="0" tIns="0" rIns="0" bIns="0" rtlCol="0" anchor="t"/>
          <a:lstStyle/>
          <a:p>
            <a:pPr marL="0" indent="0">
              <a:buNone/>
            </a:pPr>
            <a:r>
              <a:rPr lang="en-US" sz="1500" b="1" dirty="0">
                <a:solidFill>
                  <a:schemeClr val="tx2"/>
                </a:solidFill>
              </a:rPr>
              <a:t>Faster daily updates</a:t>
            </a:r>
            <a:endParaRPr lang="en-US" sz="1500" dirty="0"/>
          </a:p>
        </p:txBody>
      </p:sp>
      <p:sp>
        <p:nvSpPr>
          <p:cNvPr id="38" name="Text 26"/>
          <p:cNvSpPr txBox="1"/>
          <p:nvPr/>
        </p:nvSpPr>
        <p:spPr>
          <a:xfrm>
            <a:off x="8823960" y="5120640"/>
            <a:ext cx="2926080" cy="320040"/>
          </a:xfrm>
          <a:prstGeom prst="rect">
            <a:avLst/>
          </a:prstGeom>
          <a:noFill/>
          <a:ln/>
        </p:spPr>
        <p:txBody>
          <a:bodyPr wrap="square" lIns="0" tIns="0" rIns="0" bIns="0" rtlCol="0" anchor="t"/>
          <a:lstStyle/>
          <a:p>
            <a:pPr marL="0" indent="0">
              <a:buNone/>
            </a:pPr>
            <a:r>
              <a:rPr lang="en-US" sz="1300" dirty="0">
                <a:solidFill>
                  <a:schemeClr val="accent5"/>
                </a:solidFill>
              </a:rPr>
              <a:t>for every vessel</a:t>
            </a:r>
            <a:endParaRPr lang="en-US" sz="1300" dirty="0"/>
          </a:p>
        </p:txBody>
      </p:sp>
      <p:sp>
        <p:nvSpPr>
          <p:cNvPr id="39" name="Slide Number Placeholder 0"/>
          <p:cNvSpPr>
            <a:spLocks noGrp="1"/>
          </p:cNvSpPr>
          <p:nvPr>
            <p:ph type="sldNum" sz="quarter" idx="4294967295"/>
          </p:nvPr>
        </p:nvSpPr>
        <p:spPr>
          <a:xfrm>
            <a:off x="11155680" y="6492240"/>
            <a:ext cx="45720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1"/>
                </a:solidFill>
              </a:rPr>
              <a:t>Contoh hasil: tanda dan remark otomatis</a:t>
            </a:r>
            <a:endParaRPr lang="en-US" sz="3400" dirty="0"/>
          </a:p>
        </p:txBody>
      </p:sp>
      <p:graphicFrame>
        <p:nvGraphicFramePr>
          <p:cNvPr id="8" name="Table 0"/>
          <p:cNvGraphicFramePr>
            <a:graphicFrameLocks noGrp="1"/>
          </p:cNvGraphicFramePr>
          <p:nvPr/>
        </p:nvGraphicFramePr>
        <p:xfrm>
          <a:off x="548640" y="1463040"/>
          <a:ext cx="11091672" cy="2688336"/>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2039112">
                  <a:extLst>
                    <a:ext uri="{9D8B030D-6E8A-4147-A177-3AD203B41FA5}">
                      <a16:colId xmlns:a16="http://schemas.microsoft.com/office/drawing/2014/main" val="20008"/>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BOOKING NO</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DELIVERY</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SHIPPER</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20GP</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40'HC</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TEU</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CNTR NO</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SEAL</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REMARK 1</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0B7A86"/>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SNKO0000000001</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KRPUS</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CONTOH LOGISTIK A</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r>
                        <a:rPr lang="en-US" sz="1200" dirty="0">
                          <a:solidFill>
                            <a:srgbClr val="102A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ABCD1234567</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100001</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b="1" dirty="0">
                          <a:solidFill>
                            <a:srgbClr val="102A33"/>
                          </a:solidFill>
                          <a:latin typeface="Calibri" pitchFamily="34" charset="0"/>
                          <a:ea typeface="Calibri" pitchFamily="34" charset="-122"/>
                          <a:cs typeface="Calibri" pitchFamily="34" charset="-120"/>
                        </a:rPr>
                        <a:t>DG (UN 1234 / CLS 3)</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ABCD1234568</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100002</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extLst>
                  <a:ext uri="{0D108BD9-81ED-4DB2-BD59-A6C34878D82A}">
                    <a16:rowId xmlns:a16="http://schemas.microsoft.com/office/drawing/2014/main" val="10002"/>
                  </a:ext>
                </a:extLst>
              </a:tr>
              <a:tr h="384048">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ABCD1234569</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100003</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r>
                        <a:rPr lang="en-US" sz="1200" i="1" dirty="0">
                          <a:solidFill>
                            <a:srgbClr val="6B7C85"/>
                          </a:solidFill>
                          <a:latin typeface="Calibri" pitchFamily="34" charset="0"/>
                          <a:ea typeface="Calibri" pitchFamily="34" charset="-122"/>
                          <a:cs typeface="Calibri" pitchFamily="34" charset="-120"/>
                        </a:rPr>
                        <a:t>…  (6 baris lagi)</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SNKO0000000002</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KRKAN</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CONTOH LOGISTIK B</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r>
                        <a:rPr lang="en-US" sz="1200" dirty="0">
                          <a:solidFill>
                            <a:srgbClr val="102A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lgn="ctr">
                        <a:buNone/>
                      </a:pPr>
                      <a:r>
                        <a:rPr lang="en-US" sz="1200" dirty="0">
                          <a:solidFill>
                            <a:srgbClr val="102A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EFGH7654321</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200001</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lgn="ctr">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EFGH7654322</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r>
                        <a:rPr lang="en-US" sz="1200" dirty="0">
                          <a:solidFill>
                            <a:srgbClr val="102A33"/>
                          </a:solidFill>
                          <a:latin typeface="Calibri" pitchFamily="34" charset="0"/>
                          <a:ea typeface="Calibri" pitchFamily="34" charset="-122"/>
                          <a:cs typeface="Calibri" pitchFamily="34" charset="-120"/>
                        </a:rPr>
                        <a:t>200002</a:t>
                      </a: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tc>
                  <a:txBody>
                    <a:bodyPr/>
                    <a:lstStyle/>
                    <a:p>
                      <a:pPr marL="0" indent="0">
                        <a:buNone/>
                      </a:pPr>
                      <a:endParaRPr lang="en-US" sz="1200" dirty="0">
                        <a:latin typeface="Calibri" charset="0"/>
                        <a:ea typeface="Calibri" charset="0"/>
                        <a:cs typeface="Calibri" charset="0"/>
                      </a:endParaRPr>
                    </a:p>
                  </a:txBody>
                  <a:tcPr marT="36576" marB="36576"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EF4F5"/>
                    </a:solidFill>
                  </a:tcPr>
                </a:tc>
                <a:extLst>
                  <a:ext uri="{0D108BD9-81ED-4DB2-BD59-A6C34878D82A}">
                    <a16:rowId xmlns:a16="http://schemas.microsoft.com/office/drawing/2014/main" val="10006"/>
                  </a:ext>
                </a:extLst>
              </a:tr>
            </a:tbl>
          </a:graphicData>
        </a:graphic>
      </p:graphicFrame>
      <p:sp>
        <p:nvSpPr>
          <p:cNvPr id="4" name="Catatan contoh 1"/>
          <p:cNvSpPr/>
          <p:nvPr/>
        </p:nvSpPr>
        <p:spPr>
          <a:xfrm>
            <a:off x="548640" y="4434840"/>
            <a:ext cx="3484778" cy="1325880"/>
          </a:xfrm>
          <a:prstGeom prst="roundRect">
            <a:avLst>
              <a:gd name="adj" fmla="val 8276"/>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5" name="Ikon catatan 1 lingkaran"/>
          <p:cNvSpPr/>
          <p:nvPr/>
        </p:nvSpPr>
        <p:spPr>
          <a:xfrm>
            <a:off x="777240" y="4709160"/>
            <a:ext cx="594360" cy="594360"/>
          </a:xfrm>
          <a:prstGeom prst="ellipse">
            <a:avLst/>
          </a:prstGeom>
          <a:solidFill>
            <a:schemeClr val="accent4"/>
          </a:solidFill>
          <a:ln w="12700">
            <a:solidFill>
              <a:schemeClr val="accent4"/>
            </a:solidFill>
            <a:prstDash val="solid"/>
          </a:ln>
        </p:spPr>
      </p:sp>
      <p:pic>
        <p:nvPicPr>
          <p:cNvPr id="6" name="Ikon catatan 1 ikon" descr="Ikon catatan 1"/>
          <p:cNvPicPr>
            <a:picLocks noChangeAspect="1"/>
          </p:cNvPicPr>
          <p:nvPr/>
        </p:nvPicPr>
        <p:blipFill>
          <a:blip r:embed="rId3"/>
          <a:stretch>
            <a:fillRect/>
          </a:stretch>
        </p:blipFill>
        <p:spPr>
          <a:xfrm>
            <a:off x="937717" y="4869637"/>
            <a:ext cx="273406" cy="273406"/>
          </a:xfrm>
          <a:prstGeom prst="rect">
            <a:avLst/>
          </a:prstGeom>
        </p:spPr>
      </p:pic>
      <p:sp>
        <p:nvSpPr>
          <p:cNvPr id="7" name="Text 3"/>
          <p:cNvSpPr txBox="1"/>
          <p:nvPr/>
        </p:nvSpPr>
        <p:spPr>
          <a:xfrm>
            <a:off x="1600200" y="4663440"/>
            <a:ext cx="2204618" cy="320040"/>
          </a:xfrm>
          <a:prstGeom prst="rect">
            <a:avLst/>
          </a:prstGeom>
          <a:noFill/>
          <a:ln/>
        </p:spPr>
        <p:txBody>
          <a:bodyPr wrap="square" lIns="0" tIns="0" rIns="0" bIns="0" rtlCol="0" anchor="t"/>
          <a:lstStyle/>
          <a:p>
            <a:pPr marL="0" indent="0">
              <a:buNone/>
            </a:pPr>
            <a:r>
              <a:rPr lang="en-US" sz="1600" b="1" dirty="0">
                <a:solidFill>
                  <a:schemeClr val="tx1"/>
                </a:solidFill>
              </a:rPr>
              <a:t>Angka merah</a:t>
            </a:r>
            <a:endParaRPr lang="en-US" sz="1600" dirty="0"/>
          </a:p>
        </p:txBody>
      </p:sp>
      <p:sp>
        <p:nvSpPr>
          <p:cNvPr id="3" name="Text 4"/>
          <p:cNvSpPr txBox="1"/>
          <p:nvPr/>
        </p:nvSpPr>
        <p:spPr>
          <a:xfrm>
            <a:off x="1600200" y="5029200"/>
            <a:ext cx="2204618" cy="640080"/>
          </a:xfrm>
          <a:prstGeom prst="rect">
            <a:avLst/>
          </a:prstGeom>
          <a:noFill/>
          <a:ln/>
        </p:spPr>
        <p:txBody>
          <a:bodyPr wrap="square" lIns="0" tIns="0" rIns="0" bIns="0" rtlCol="0" anchor="t"/>
          <a:lstStyle/>
          <a:p>
            <a:pPr marL="0" indent="0">
              <a:buNone/>
            </a:pPr>
            <a:r>
              <a:rPr lang="en-US" sz="1300" dirty="0">
                <a:solidFill>
                  <a:schemeClr val="accent2"/>
                </a:solidFill>
              </a:rPr>
              <a:t>Container baru 9 dari 10, artinya belum lengkap.</a:t>
            </a:r>
            <a:endParaRPr lang="en-US" sz="1300" dirty="0"/>
          </a:p>
        </p:txBody>
      </p:sp>
      <p:sp>
        <p:nvSpPr>
          <p:cNvPr id="9" name="Catatan contoh 2"/>
          <p:cNvSpPr/>
          <p:nvPr/>
        </p:nvSpPr>
        <p:spPr>
          <a:xfrm>
            <a:off x="4353458" y="4434840"/>
            <a:ext cx="3484778" cy="1325880"/>
          </a:xfrm>
          <a:prstGeom prst="roundRect">
            <a:avLst>
              <a:gd name="adj" fmla="val 8276"/>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0" name="Ikon catatan 2 lingkaran"/>
          <p:cNvSpPr/>
          <p:nvPr/>
        </p:nvSpPr>
        <p:spPr>
          <a:xfrm>
            <a:off x="4582058" y="4709160"/>
            <a:ext cx="594360" cy="594360"/>
          </a:xfrm>
          <a:prstGeom prst="ellipse">
            <a:avLst/>
          </a:prstGeom>
          <a:solidFill>
            <a:schemeClr val="accent2"/>
          </a:solidFill>
          <a:ln w="12700">
            <a:solidFill>
              <a:schemeClr val="accent2"/>
            </a:solidFill>
            <a:prstDash val="solid"/>
          </a:ln>
        </p:spPr>
      </p:sp>
      <p:pic>
        <p:nvPicPr>
          <p:cNvPr id="11" name="Ikon catatan 2 ikon" descr="Ikon catatan 2"/>
          <p:cNvPicPr>
            <a:picLocks noChangeAspect="1"/>
          </p:cNvPicPr>
          <p:nvPr/>
        </p:nvPicPr>
        <p:blipFill>
          <a:blip r:embed="rId4"/>
          <a:stretch>
            <a:fillRect/>
          </a:stretch>
        </p:blipFill>
        <p:spPr>
          <a:xfrm>
            <a:off x="4742536" y="4869637"/>
            <a:ext cx="273406" cy="273406"/>
          </a:xfrm>
          <a:prstGeom prst="rect">
            <a:avLst/>
          </a:prstGeom>
        </p:spPr>
      </p:pic>
      <p:sp>
        <p:nvSpPr>
          <p:cNvPr id="12" name="Text 7"/>
          <p:cNvSpPr txBox="1"/>
          <p:nvPr/>
        </p:nvSpPr>
        <p:spPr>
          <a:xfrm>
            <a:off x="5405018" y="4663440"/>
            <a:ext cx="2204618" cy="320040"/>
          </a:xfrm>
          <a:prstGeom prst="rect">
            <a:avLst/>
          </a:prstGeom>
          <a:noFill/>
          <a:ln/>
        </p:spPr>
        <p:txBody>
          <a:bodyPr wrap="square" lIns="0" tIns="0" rIns="0" bIns="0" rtlCol="0" anchor="t"/>
          <a:lstStyle/>
          <a:p>
            <a:pPr marL="0" indent="0">
              <a:buNone/>
            </a:pPr>
            <a:r>
              <a:rPr lang="en-US" sz="1600" b="1" dirty="0">
                <a:solidFill>
                  <a:schemeClr val="tx1"/>
                </a:solidFill>
              </a:rPr>
              <a:t>Baris di bawah booking</a:t>
            </a:r>
            <a:endParaRPr lang="en-US" sz="1600" dirty="0"/>
          </a:p>
        </p:txBody>
      </p:sp>
      <p:sp>
        <p:nvSpPr>
          <p:cNvPr id="13" name="Text 8"/>
          <p:cNvSpPr txBox="1"/>
          <p:nvPr/>
        </p:nvSpPr>
        <p:spPr>
          <a:xfrm>
            <a:off x="5405018" y="5029200"/>
            <a:ext cx="2204618" cy="640080"/>
          </a:xfrm>
          <a:prstGeom prst="rect">
            <a:avLst/>
          </a:prstGeom>
          <a:noFill/>
          <a:ln/>
        </p:spPr>
        <p:txBody>
          <a:bodyPr wrap="square" lIns="0" tIns="0" rIns="0" bIns="0" rtlCol="0" anchor="t"/>
          <a:lstStyle/>
          <a:p>
            <a:pPr marL="0" indent="0">
              <a:buNone/>
            </a:pPr>
            <a:r>
              <a:rPr lang="en-US" sz="1300" dirty="0">
                <a:solidFill>
                  <a:schemeClr val="accent2"/>
                </a:solidFill>
              </a:rPr>
              <a:t>Hanya berisi nomor container dan seal.</a:t>
            </a:r>
            <a:endParaRPr lang="en-US" sz="1300" dirty="0"/>
          </a:p>
        </p:txBody>
      </p:sp>
      <p:sp>
        <p:nvSpPr>
          <p:cNvPr id="14" name="Catatan contoh 3"/>
          <p:cNvSpPr/>
          <p:nvPr/>
        </p:nvSpPr>
        <p:spPr>
          <a:xfrm>
            <a:off x="8158277" y="4434840"/>
            <a:ext cx="3484778" cy="1325880"/>
          </a:xfrm>
          <a:prstGeom prst="roundRect">
            <a:avLst>
              <a:gd name="adj" fmla="val 8276"/>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5" name="Ikon catatan 3 lingkaran"/>
          <p:cNvSpPr/>
          <p:nvPr/>
        </p:nvSpPr>
        <p:spPr>
          <a:xfrm>
            <a:off x="8386877" y="4709160"/>
            <a:ext cx="594360" cy="594360"/>
          </a:xfrm>
          <a:prstGeom prst="ellipse">
            <a:avLst/>
          </a:prstGeom>
          <a:solidFill>
            <a:schemeClr val="accent3"/>
          </a:solidFill>
          <a:ln w="12700">
            <a:solidFill>
              <a:schemeClr val="accent3"/>
            </a:solidFill>
            <a:prstDash val="solid"/>
          </a:ln>
        </p:spPr>
      </p:sp>
      <p:pic>
        <p:nvPicPr>
          <p:cNvPr id="16" name="Ikon catatan 3 ikon" descr="Ikon catatan 3"/>
          <p:cNvPicPr>
            <a:picLocks noChangeAspect="1"/>
          </p:cNvPicPr>
          <p:nvPr/>
        </p:nvPicPr>
        <p:blipFill>
          <a:blip r:embed="rId5"/>
          <a:stretch>
            <a:fillRect/>
          </a:stretch>
        </p:blipFill>
        <p:spPr>
          <a:xfrm>
            <a:off x="8547354" y="4869637"/>
            <a:ext cx="273406" cy="273406"/>
          </a:xfrm>
          <a:prstGeom prst="rect">
            <a:avLst/>
          </a:prstGeom>
        </p:spPr>
      </p:pic>
      <p:sp>
        <p:nvSpPr>
          <p:cNvPr id="17" name="Text 11"/>
          <p:cNvSpPr txBox="1"/>
          <p:nvPr/>
        </p:nvSpPr>
        <p:spPr>
          <a:xfrm>
            <a:off x="9209837" y="4663440"/>
            <a:ext cx="2204618" cy="320040"/>
          </a:xfrm>
          <a:prstGeom prst="rect">
            <a:avLst/>
          </a:prstGeom>
          <a:noFill/>
          <a:ln/>
        </p:spPr>
        <p:txBody>
          <a:bodyPr wrap="square" lIns="0" tIns="0" rIns="0" bIns="0" rtlCol="0" anchor="t"/>
          <a:lstStyle/>
          <a:p>
            <a:pPr marL="0" indent="0">
              <a:buNone/>
            </a:pPr>
            <a:r>
              <a:rPr lang="en-US" sz="1600" b="1" dirty="0">
                <a:solidFill>
                  <a:schemeClr val="tx1"/>
                </a:solidFill>
              </a:rPr>
              <a:t>Remark 1 otomatis</a:t>
            </a:r>
            <a:endParaRPr lang="en-US" sz="1600" dirty="0"/>
          </a:p>
        </p:txBody>
      </p:sp>
      <p:sp>
        <p:nvSpPr>
          <p:cNvPr id="18" name="Text 12"/>
          <p:cNvSpPr txBox="1"/>
          <p:nvPr/>
        </p:nvSpPr>
        <p:spPr>
          <a:xfrm>
            <a:off x="9209837" y="5029200"/>
            <a:ext cx="2204618" cy="640080"/>
          </a:xfrm>
          <a:prstGeom prst="rect">
            <a:avLst/>
          </a:prstGeom>
          <a:noFill/>
          <a:ln/>
        </p:spPr>
        <p:txBody>
          <a:bodyPr wrap="square" lIns="0" tIns="0" rIns="0" bIns="0" rtlCol="0" anchor="t"/>
          <a:lstStyle/>
          <a:p>
            <a:pPr marL="0" indent="0">
              <a:buNone/>
            </a:pPr>
            <a:r>
              <a:rPr lang="en-US" sz="1300" dirty="0">
                <a:solidFill>
                  <a:schemeClr val="accent2"/>
                </a:solidFill>
              </a:rPr>
              <a:t>DG, reefer, dan flexibag terdeteksi dari data.</a:t>
            </a:r>
            <a:endParaRPr lang="en-US" sz="1300" dirty="0"/>
          </a:p>
        </p:txBody>
      </p:sp>
      <p:sp>
        <p:nvSpPr>
          <p:cNvPr id="19" name="Text 13"/>
          <p:cNvSpPr txBox="1"/>
          <p:nvPr/>
        </p:nvSpPr>
        <p:spPr>
          <a:xfrm>
            <a:off x="548640" y="5943600"/>
            <a:ext cx="11094415" cy="274320"/>
          </a:xfrm>
          <a:prstGeom prst="rect">
            <a:avLst/>
          </a:prstGeom>
          <a:noFill/>
          <a:ln/>
        </p:spPr>
        <p:txBody>
          <a:bodyPr wrap="square" lIns="0" tIns="0" rIns="0" bIns="0" rtlCol="0" anchor="t"/>
          <a:lstStyle/>
          <a:p>
            <a:pPr marL="0" indent="0">
              <a:buNone/>
            </a:pPr>
            <a:r>
              <a:rPr lang="en-US" sz="1100" dirty="0">
                <a:solidFill>
                  <a:schemeClr val="accent2"/>
                </a:solidFill>
              </a:rPr>
              <a:t>Contoh disamarkan: nama customer, nomor booking, dan nomor container bukan data asli.</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29</a:t>
            </a:fld>
            <a:endParaRPr lang="en-US"/>
          </a:p>
        </p:txBody>
      </p:sp>
    </p:spTree>
    <p:extLst>
      <p:ext uri="{BB962C8B-B14F-4D97-AF65-F5344CB8AC3E}">
        <p14:creationId xmlns:p14="http://schemas.microsoft.com/office/powerpoint/2010/main" val="3714742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1"/>
                </a:solidFill>
              </a:rPr>
              <a:t>Setiap hasil AI diperiksa sebelum direview</a:t>
            </a:r>
            <a:endParaRPr lang="en-US" sz="3400" dirty="0"/>
          </a:p>
        </p:txBody>
      </p:sp>
      <p:sp>
        <p:nvSpPr>
          <p:cNvPr id="3" name="Kartu kontrol 1"/>
          <p:cNvSpPr/>
          <p:nvPr/>
        </p:nvSpPr>
        <p:spPr>
          <a:xfrm>
            <a:off x="548640" y="1508760"/>
            <a:ext cx="5364328" cy="2057400"/>
          </a:xfrm>
          <a:prstGeom prst="roundRect">
            <a:avLst>
              <a:gd name="adj" fmla="val 5333"/>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4" name="Ikon kontrol 1 lingkaran"/>
          <p:cNvSpPr/>
          <p:nvPr/>
        </p:nvSpPr>
        <p:spPr>
          <a:xfrm>
            <a:off x="868680" y="1874520"/>
            <a:ext cx="777240" cy="777240"/>
          </a:xfrm>
          <a:prstGeom prst="ellipse">
            <a:avLst/>
          </a:prstGeom>
          <a:solidFill>
            <a:schemeClr val="accent1"/>
          </a:solidFill>
          <a:ln w="12700">
            <a:solidFill>
              <a:schemeClr val="accent1"/>
            </a:solidFill>
            <a:prstDash val="solid"/>
          </a:ln>
        </p:spPr>
      </p:sp>
      <p:pic>
        <p:nvPicPr>
          <p:cNvPr id="5" name="Ikon kontrol 1 ikon" descr="Ikon kontrol 1"/>
          <p:cNvPicPr>
            <a:picLocks noChangeAspect="1"/>
          </p:cNvPicPr>
          <p:nvPr/>
        </p:nvPicPr>
        <p:blipFill>
          <a:blip r:embed="rId3"/>
          <a:stretch>
            <a:fillRect/>
          </a:stretch>
        </p:blipFill>
        <p:spPr>
          <a:xfrm>
            <a:off x="1078535" y="2084375"/>
            <a:ext cx="357530" cy="357530"/>
          </a:xfrm>
          <a:prstGeom prst="rect">
            <a:avLst/>
          </a:prstGeom>
        </p:spPr>
      </p:pic>
      <p:sp>
        <p:nvSpPr>
          <p:cNvPr id="6" name="Text 3"/>
          <p:cNvSpPr txBox="1"/>
          <p:nvPr/>
        </p:nvSpPr>
        <p:spPr>
          <a:xfrm>
            <a:off x="1920240" y="1828800"/>
            <a:ext cx="3672688" cy="411480"/>
          </a:xfrm>
          <a:prstGeom prst="rect">
            <a:avLst/>
          </a:prstGeom>
          <a:noFill/>
          <a:ln/>
        </p:spPr>
        <p:txBody>
          <a:bodyPr wrap="square" lIns="0" tIns="0" rIns="0" bIns="0" rtlCol="0" anchor="t"/>
          <a:lstStyle/>
          <a:p>
            <a:pPr marL="0" indent="0">
              <a:buNone/>
            </a:pPr>
            <a:r>
              <a:rPr lang="en-US" sz="2000" b="1" dirty="0">
                <a:solidFill>
                  <a:schemeClr val="tx1"/>
                </a:solidFill>
              </a:rPr>
              <a:t>Template tidak diubah</a:t>
            </a:r>
            <a:endParaRPr lang="en-US" sz="2000" dirty="0"/>
          </a:p>
        </p:txBody>
      </p:sp>
      <p:sp>
        <p:nvSpPr>
          <p:cNvPr id="7" name="Text 4"/>
          <p:cNvSpPr txBox="1"/>
          <p:nvPr/>
        </p:nvSpPr>
        <p:spPr>
          <a:xfrm>
            <a:off x="1920240" y="2331720"/>
            <a:ext cx="3672688" cy="1097280"/>
          </a:xfrm>
          <a:prstGeom prst="rect">
            <a:avLst/>
          </a:prstGeom>
          <a:noFill/>
          <a:ln/>
        </p:spPr>
        <p:txBody>
          <a:bodyPr wrap="square" lIns="0" tIns="0" rIns="0" bIns="0" rtlCol="0" anchor="t"/>
          <a:lstStyle/>
          <a:p>
            <a:pPr marL="0" indent="0">
              <a:buNone/>
            </a:pPr>
            <a:r>
              <a:rPr lang="en-US" sz="1600" dirty="0">
                <a:solidFill>
                  <a:schemeClr val="accent2"/>
                </a:solidFill>
              </a:rPr>
              <a:t>Selalu bekerja pada salinan dan diisi lewat Excel, sehingga format, merge, dan pengaturan cetak tetap.</a:t>
            </a:r>
            <a:endParaRPr lang="en-US" sz="1600" dirty="0"/>
          </a:p>
        </p:txBody>
      </p:sp>
      <p:sp>
        <p:nvSpPr>
          <p:cNvPr id="8" name="Kartu kontrol 2"/>
          <p:cNvSpPr/>
          <p:nvPr/>
        </p:nvSpPr>
        <p:spPr>
          <a:xfrm>
            <a:off x="6278728" y="1508760"/>
            <a:ext cx="5364328" cy="2057400"/>
          </a:xfrm>
          <a:prstGeom prst="roundRect">
            <a:avLst>
              <a:gd name="adj" fmla="val 5333"/>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9" name="Ikon kontrol 2 lingkaran"/>
          <p:cNvSpPr/>
          <p:nvPr/>
        </p:nvSpPr>
        <p:spPr>
          <a:xfrm>
            <a:off x="6598768" y="1874520"/>
            <a:ext cx="777240" cy="777240"/>
          </a:xfrm>
          <a:prstGeom prst="ellipse">
            <a:avLst/>
          </a:prstGeom>
          <a:solidFill>
            <a:schemeClr val="accent5"/>
          </a:solidFill>
          <a:ln w="12700">
            <a:solidFill>
              <a:schemeClr val="accent5"/>
            </a:solidFill>
            <a:prstDash val="solid"/>
          </a:ln>
        </p:spPr>
      </p:sp>
      <p:pic>
        <p:nvPicPr>
          <p:cNvPr id="10" name="Ikon kontrol 2 ikon" descr="Ikon kontrol 2"/>
          <p:cNvPicPr>
            <a:picLocks noChangeAspect="1"/>
          </p:cNvPicPr>
          <p:nvPr/>
        </p:nvPicPr>
        <p:blipFill>
          <a:blip r:embed="rId4"/>
          <a:stretch>
            <a:fillRect/>
          </a:stretch>
        </p:blipFill>
        <p:spPr>
          <a:xfrm>
            <a:off x="6808622" y="2084375"/>
            <a:ext cx="357530" cy="357530"/>
          </a:xfrm>
          <a:prstGeom prst="rect">
            <a:avLst/>
          </a:prstGeom>
        </p:spPr>
      </p:pic>
      <p:sp>
        <p:nvSpPr>
          <p:cNvPr id="11" name="Text 7"/>
          <p:cNvSpPr txBox="1"/>
          <p:nvPr/>
        </p:nvSpPr>
        <p:spPr>
          <a:xfrm>
            <a:off x="7650328" y="1828800"/>
            <a:ext cx="3672688" cy="411480"/>
          </a:xfrm>
          <a:prstGeom prst="rect">
            <a:avLst/>
          </a:prstGeom>
          <a:noFill/>
          <a:ln/>
        </p:spPr>
        <p:txBody>
          <a:bodyPr wrap="square" lIns="0" tIns="0" rIns="0" bIns="0" rtlCol="0" anchor="t"/>
          <a:lstStyle/>
          <a:p>
            <a:pPr marL="0" indent="0">
              <a:buNone/>
            </a:pPr>
            <a:r>
              <a:rPr lang="en-US" sz="2000" b="1" dirty="0">
                <a:solidFill>
                  <a:schemeClr val="tx1"/>
                </a:solidFill>
              </a:rPr>
              <a:t>Total dicocokkan</a:t>
            </a:r>
            <a:endParaRPr lang="en-US" sz="2000" dirty="0"/>
          </a:p>
        </p:txBody>
      </p:sp>
      <p:sp>
        <p:nvSpPr>
          <p:cNvPr id="12" name="Text 8"/>
          <p:cNvSpPr txBox="1"/>
          <p:nvPr/>
        </p:nvSpPr>
        <p:spPr>
          <a:xfrm>
            <a:off x="7650328" y="2331720"/>
            <a:ext cx="3672688" cy="1097280"/>
          </a:xfrm>
          <a:prstGeom prst="rect">
            <a:avLst/>
          </a:prstGeom>
          <a:noFill/>
          <a:ln/>
        </p:spPr>
        <p:txBody>
          <a:bodyPr wrap="square" lIns="0" tIns="0" rIns="0" bIns="0" rtlCol="0" anchor="t"/>
          <a:lstStyle/>
          <a:p>
            <a:pPr marL="0" indent="0">
              <a:buNone/>
            </a:pPr>
            <a:r>
              <a:rPr lang="en-US" sz="1600" dirty="0">
                <a:solidFill>
                  <a:schemeClr val="accent2"/>
                </a:solidFill>
              </a:rPr>
              <a:t>Jumlah booking, TEU, dan berat tiap sheet dicocokkan dengan data sumber di setiap proses.</a:t>
            </a:r>
            <a:endParaRPr lang="en-US" sz="1600" dirty="0"/>
          </a:p>
        </p:txBody>
      </p:sp>
      <p:sp>
        <p:nvSpPr>
          <p:cNvPr id="13" name="Kartu kontrol 3"/>
          <p:cNvSpPr/>
          <p:nvPr/>
        </p:nvSpPr>
        <p:spPr>
          <a:xfrm>
            <a:off x="548640" y="3886200"/>
            <a:ext cx="5364328" cy="2057400"/>
          </a:xfrm>
          <a:prstGeom prst="roundRect">
            <a:avLst>
              <a:gd name="adj" fmla="val 5333"/>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4" name="Ikon kontrol 3 lingkaran"/>
          <p:cNvSpPr/>
          <p:nvPr/>
        </p:nvSpPr>
        <p:spPr>
          <a:xfrm>
            <a:off x="868680" y="4251960"/>
            <a:ext cx="777240" cy="777240"/>
          </a:xfrm>
          <a:prstGeom prst="ellipse">
            <a:avLst/>
          </a:prstGeom>
          <a:solidFill>
            <a:schemeClr val="accent4"/>
          </a:solidFill>
          <a:ln w="12700">
            <a:solidFill>
              <a:schemeClr val="accent4"/>
            </a:solidFill>
            <a:prstDash val="solid"/>
          </a:ln>
        </p:spPr>
      </p:sp>
      <p:pic>
        <p:nvPicPr>
          <p:cNvPr id="15" name="Ikon kontrol 3 ikon" descr="Ikon kontrol 3"/>
          <p:cNvPicPr>
            <a:picLocks noChangeAspect="1"/>
          </p:cNvPicPr>
          <p:nvPr/>
        </p:nvPicPr>
        <p:blipFill>
          <a:blip r:embed="rId5"/>
          <a:stretch>
            <a:fillRect/>
          </a:stretch>
        </p:blipFill>
        <p:spPr>
          <a:xfrm>
            <a:off x="1078535" y="4461815"/>
            <a:ext cx="357530" cy="357530"/>
          </a:xfrm>
          <a:prstGeom prst="rect">
            <a:avLst/>
          </a:prstGeom>
        </p:spPr>
      </p:pic>
      <p:sp>
        <p:nvSpPr>
          <p:cNvPr id="16" name="Text 11"/>
          <p:cNvSpPr txBox="1"/>
          <p:nvPr/>
        </p:nvSpPr>
        <p:spPr>
          <a:xfrm>
            <a:off x="1920240" y="4206240"/>
            <a:ext cx="3672688" cy="411480"/>
          </a:xfrm>
          <a:prstGeom prst="rect">
            <a:avLst/>
          </a:prstGeom>
          <a:noFill/>
          <a:ln/>
        </p:spPr>
        <p:txBody>
          <a:bodyPr wrap="square" lIns="0" tIns="0" rIns="0" bIns="0" rtlCol="0" anchor="t"/>
          <a:lstStyle/>
          <a:p>
            <a:pPr marL="0" indent="0">
              <a:buNone/>
            </a:pPr>
            <a:r>
              <a:rPr lang="en-US" sz="2000" b="1" dirty="0">
                <a:solidFill>
                  <a:schemeClr val="tx1"/>
                </a:solidFill>
              </a:rPr>
              <a:t>Penanda otomatis</a:t>
            </a:r>
            <a:endParaRPr lang="en-US" sz="2000" dirty="0"/>
          </a:p>
        </p:txBody>
      </p:sp>
      <p:sp>
        <p:nvSpPr>
          <p:cNvPr id="17" name="Text 12"/>
          <p:cNvSpPr txBox="1"/>
          <p:nvPr/>
        </p:nvSpPr>
        <p:spPr>
          <a:xfrm>
            <a:off x="1920240" y="4709160"/>
            <a:ext cx="3672688" cy="1097280"/>
          </a:xfrm>
          <a:prstGeom prst="rect">
            <a:avLst/>
          </a:prstGeom>
          <a:noFill/>
          <a:ln/>
        </p:spPr>
        <p:txBody>
          <a:bodyPr wrap="square" lIns="0" tIns="0" rIns="0" bIns="0" rtlCol="0" anchor="t"/>
          <a:lstStyle/>
          <a:p>
            <a:pPr marL="0" indent="0">
              <a:buNone/>
            </a:pPr>
            <a:r>
              <a:rPr lang="en-US" sz="1600" dirty="0">
                <a:solidFill>
                  <a:schemeClr val="accent2"/>
                </a:solidFill>
              </a:rPr>
              <a:t>Angka merah bila container belum lengkap. Remark 1 untuk DG, reefer, dan flexibag.</a:t>
            </a:r>
            <a:endParaRPr lang="en-US" sz="1600" dirty="0"/>
          </a:p>
        </p:txBody>
      </p:sp>
      <p:sp>
        <p:nvSpPr>
          <p:cNvPr id="18" name="Kartu kontrol 4"/>
          <p:cNvSpPr/>
          <p:nvPr/>
        </p:nvSpPr>
        <p:spPr>
          <a:xfrm>
            <a:off x="6278728" y="3886200"/>
            <a:ext cx="5364328" cy="2057400"/>
          </a:xfrm>
          <a:prstGeom prst="roundRect">
            <a:avLst>
              <a:gd name="adj" fmla="val 5333"/>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9" name="Ikon kontrol 4 lingkaran"/>
          <p:cNvSpPr/>
          <p:nvPr/>
        </p:nvSpPr>
        <p:spPr>
          <a:xfrm>
            <a:off x="6598768" y="4251960"/>
            <a:ext cx="777240" cy="777240"/>
          </a:xfrm>
          <a:prstGeom prst="ellipse">
            <a:avLst/>
          </a:prstGeom>
          <a:solidFill>
            <a:schemeClr val="accent3"/>
          </a:solidFill>
          <a:ln w="12700">
            <a:solidFill>
              <a:schemeClr val="accent3"/>
            </a:solidFill>
            <a:prstDash val="solid"/>
          </a:ln>
        </p:spPr>
      </p:sp>
      <p:pic>
        <p:nvPicPr>
          <p:cNvPr id="20" name="Ikon kontrol 4 ikon" descr="Ikon kontrol 4"/>
          <p:cNvPicPr>
            <a:picLocks noChangeAspect="1"/>
          </p:cNvPicPr>
          <p:nvPr/>
        </p:nvPicPr>
        <p:blipFill>
          <a:blip r:embed="rId6"/>
          <a:stretch>
            <a:fillRect/>
          </a:stretch>
        </p:blipFill>
        <p:spPr>
          <a:xfrm>
            <a:off x="6808622" y="4461815"/>
            <a:ext cx="357530" cy="357530"/>
          </a:xfrm>
          <a:prstGeom prst="rect">
            <a:avLst/>
          </a:prstGeom>
        </p:spPr>
      </p:pic>
      <p:sp>
        <p:nvSpPr>
          <p:cNvPr id="21" name="Text 15"/>
          <p:cNvSpPr txBox="1"/>
          <p:nvPr/>
        </p:nvSpPr>
        <p:spPr>
          <a:xfrm>
            <a:off x="7650328" y="4206240"/>
            <a:ext cx="3672688" cy="411480"/>
          </a:xfrm>
          <a:prstGeom prst="rect">
            <a:avLst/>
          </a:prstGeom>
          <a:noFill/>
          <a:ln/>
        </p:spPr>
        <p:txBody>
          <a:bodyPr wrap="square" lIns="0" tIns="0" rIns="0" bIns="0" rtlCol="0" anchor="t"/>
          <a:lstStyle/>
          <a:p>
            <a:pPr marL="0" indent="0">
              <a:buNone/>
            </a:pPr>
            <a:r>
              <a:rPr lang="en-US" sz="2000" b="1" dirty="0">
                <a:solidFill>
                  <a:schemeClr val="tx1"/>
                </a:solidFill>
              </a:rPr>
              <a:t>Pengecualian dilaporkan</a:t>
            </a:r>
            <a:endParaRPr lang="en-US" sz="2000" dirty="0"/>
          </a:p>
        </p:txBody>
      </p:sp>
      <p:sp>
        <p:nvSpPr>
          <p:cNvPr id="22" name="Text 16"/>
          <p:cNvSpPr txBox="1"/>
          <p:nvPr/>
        </p:nvSpPr>
        <p:spPr>
          <a:xfrm>
            <a:off x="7650328" y="4709160"/>
            <a:ext cx="3672688" cy="1097280"/>
          </a:xfrm>
          <a:prstGeom prst="rect">
            <a:avLst/>
          </a:prstGeom>
          <a:noFill/>
          <a:ln/>
        </p:spPr>
        <p:txBody>
          <a:bodyPr wrap="square" lIns="0" tIns="0" rIns="0" bIns="0" rtlCol="0" anchor="t"/>
          <a:lstStyle/>
          <a:p>
            <a:pPr marL="0" indent="0">
              <a:buNone/>
            </a:pPr>
            <a:r>
              <a:rPr lang="en-US" sz="1600" dirty="0">
                <a:solidFill>
                  <a:schemeClr val="accent2"/>
                </a:solidFill>
              </a:rPr>
              <a:t>Container kurang atau lebih, nomor tidak valid atau dobel, dan kode tujuan baru dilaporkan, tidak diisi diam-diam.</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30</a:t>
            </a:fld>
            <a:endParaRPr lang="en-US"/>
          </a:p>
        </p:txBody>
      </p:sp>
    </p:spTree>
    <p:extLst>
      <p:ext uri="{BB962C8B-B14F-4D97-AF65-F5344CB8AC3E}">
        <p14:creationId xmlns:p14="http://schemas.microsoft.com/office/powerpoint/2010/main" val="3764965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1"/>
                </a:solidFill>
              </a:rPr>
              <a:t>Waktu terbanyak hilang di pekerjaan berulang</a:t>
            </a:r>
            <a:endParaRPr lang="en-US" sz="3400" dirty="0"/>
          </a:p>
        </p:txBody>
      </p:sp>
      <p:graphicFrame>
        <p:nvGraphicFramePr>
          <p:cNvPr id="3" name="Chart 0"/>
          <p:cNvGraphicFramePr/>
          <p:nvPr/>
        </p:nvGraphicFramePr>
        <p:xfrm>
          <a:off x="548640" y="1417320"/>
          <a:ext cx="74066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Kartu total 1"/>
          <p:cNvSpPr/>
          <p:nvPr/>
        </p:nvSpPr>
        <p:spPr>
          <a:xfrm>
            <a:off x="8412480" y="1554480"/>
            <a:ext cx="3230575" cy="1325880"/>
          </a:xfrm>
          <a:prstGeom prst="roundRect">
            <a:avLst>
              <a:gd name="adj" fmla="val 8276"/>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5" name="Text 2"/>
          <p:cNvSpPr txBox="1"/>
          <p:nvPr/>
        </p:nvSpPr>
        <p:spPr>
          <a:xfrm>
            <a:off x="8686800" y="1645920"/>
            <a:ext cx="2681935" cy="73152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255</a:t>
            </a:r>
            <a:endParaRPr lang="en-US" sz="4000" dirty="0"/>
          </a:p>
        </p:txBody>
      </p:sp>
      <p:sp>
        <p:nvSpPr>
          <p:cNvPr id="6" name="Text 3"/>
          <p:cNvSpPr txBox="1"/>
          <p:nvPr/>
        </p:nvSpPr>
        <p:spPr>
          <a:xfrm>
            <a:off x="8686800" y="2377440"/>
            <a:ext cx="2681935" cy="320040"/>
          </a:xfrm>
          <a:prstGeom prst="rect">
            <a:avLst/>
          </a:prstGeom>
          <a:noFill/>
          <a:ln/>
        </p:spPr>
        <p:txBody>
          <a:bodyPr wrap="square" lIns="0" tIns="0" rIns="0" bIns="0" rtlCol="0" anchor="t"/>
          <a:lstStyle/>
          <a:p>
            <a:pPr marL="0" indent="0">
              <a:buNone/>
            </a:pPr>
            <a:r>
              <a:rPr lang="en-US" sz="1400" dirty="0">
                <a:solidFill>
                  <a:schemeClr val="accent2"/>
                </a:solidFill>
              </a:rPr>
              <a:t>menit, manual</a:t>
            </a:r>
            <a:endParaRPr lang="en-US" sz="1400" dirty="0"/>
          </a:p>
        </p:txBody>
      </p:sp>
      <p:sp>
        <p:nvSpPr>
          <p:cNvPr id="7" name="Kartu total 2"/>
          <p:cNvSpPr/>
          <p:nvPr/>
        </p:nvSpPr>
        <p:spPr>
          <a:xfrm>
            <a:off x="8412480" y="3063240"/>
            <a:ext cx="3230575" cy="1325880"/>
          </a:xfrm>
          <a:prstGeom prst="roundRect">
            <a:avLst>
              <a:gd name="adj" fmla="val 8276"/>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8" name="Text 5"/>
          <p:cNvSpPr txBox="1"/>
          <p:nvPr/>
        </p:nvSpPr>
        <p:spPr>
          <a:xfrm>
            <a:off x="8686800" y="3154680"/>
            <a:ext cx="2681935" cy="731520"/>
          </a:xfrm>
          <a:prstGeom prst="rect">
            <a:avLst/>
          </a:prstGeom>
          <a:noFill/>
          <a:ln/>
        </p:spPr>
        <p:txBody>
          <a:bodyPr wrap="square" lIns="0" tIns="0" rIns="0" bIns="0" rtlCol="0" anchor="ctr"/>
          <a:lstStyle/>
          <a:p>
            <a:pPr marL="0" indent="0">
              <a:buNone/>
            </a:pPr>
            <a:r>
              <a:rPr lang="en-US" sz="4000" b="1" dirty="0">
                <a:solidFill>
                  <a:schemeClr val="accent3"/>
                </a:solidFill>
                <a:latin typeface="Cambria" pitchFamily="34" charset="0"/>
                <a:ea typeface="Cambria" pitchFamily="34" charset="-122"/>
                <a:cs typeface="Cambria" pitchFamily="34" charset="-120"/>
              </a:rPr>
              <a:t>51</a:t>
            </a:r>
            <a:endParaRPr lang="en-US" sz="4000" dirty="0"/>
          </a:p>
        </p:txBody>
      </p:sp>
      <p:sp>
        <p:nvSpPr>
          <p:cNvPr id="9" name="Text 6"/>
          <p:cNvSpPr txBox="1"/>
          <p:nvPr/>
        </p:nvSpPr>
        <p:spPr>
          <a:xfrm>
            <a:off x="8686800" y="3886200"/>
            <a:ext cx="2681935" cy="320040"/>
          </a:xfrm>
          <a:prstGeom prst="rect">
            <a:avLst/>
          </a:prstGeom>
          <a:noFill/>
          <a:ln/>
        </p:spPr>
        <p:txBody>
          <a:bodyPr wrap="square" lIns="0" tIns="0" rIns="0" bIns="0" rtlCol="0" anchor="t"/>
          <a:lstStyle/>
          <a:p>
            <a:pPr marL="0" indent="0">
              <a:buNone/>
            </a:pPr>
            <a:r>
              <a:rPr lang="en-US" sz="1400" dirty="0">
                <a:solidFill>
                  <a:schemeClr val="accent2"/>
                </a:solidFill>
              </a:rPr>
              <a:t>menit, dengan AI</a:t>
            </a:r>
            <a:endParaRPr lang="en-US" sz="1400" dirty="0"/>
          </a:p>
        </p:txBody>
      </p:sp>
      <p:sp>
        <p:nvSpPr>
          <p:cNvPr id="10" name="Kartu total 3"/>
          <p:cNvSpPr/>
          <p:nvPr/>
        </p:nvSpPr>
        <p:spPr>
          <a:xfrm>
            <a:off x="8412480" y="4572000"/>
            <a:ext cx="3230575" cy="1325880"/>
          </a:xfrm>
          <a:prstGeom prst="roundRect">
            <a:avLst>
              <a:gd name="adj" fmla="val 8276"/>
            </a:avLst>
          </a:prstGeom>
          <a:solidFill>
            <a:schemeClr val="bg2"/>
          </a:solidFill>
          <a:ln w="6350">
            <a:solidFill>
              <a:schemeClr val="bg2"/>
            </a:solidFill>
            <a:prstDash val="solid"/>
          </a:ln>
          <a:effectLst>
            <a:outerShdw blurRad="101600" dist="25400" dir="5400000" algn="bl" rotWithShape="0">
              <a:srgbClr val="000000">
                <a:alpha val="10000"/>
              </a:srgbClr>
            </a:outerShdw>
          </a:effectLst>
        </p:spPr>
      </p:sp>
      <p:sp>
        <p:nvSpPr>
          <p:cNvPr id="11" name="Text 8"/>
          <p:cNvSpPr txBox="1"/>
          <p:nvPr/>
        </p:nvSpPr>
        <p:spPr>
          <a:xfrm>
            <a:off x="8686800" y="4663440"/>
            <a:ext cx="2681935" cy="73152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−80%</a:t>
            </a:r>
            <a:endParaRPr lang="en-US" sz="4000" dirty="0"/>
          </a:p>
        </p:txBody>
      </p:sp>
      <p:sp>
        <p:nvSpPr>
          <p:cNvPr id="12" name="Text 9"/>
          <p:cNvSpPr txBox="1"/>
          <p:nvPr/>
        </p:nvSpPr>
        <p:spPr>
          <a:xfrm>
            <a:off x="8686800" y="5394960"/>
            <a:ext cx="2681935" cy="320040"/>
          </a:xfrm>
          <a:prstGeom prst="rect">
            <a:avLst/>
          </a:prstGeom>
          <a:noFill/>
          <a:ln/>
        </p:spPr>
        <p:txBody>
          <a:bodyPr wrap="square" lIns="0" tIns="0" rIns="0" bIns="0" rtlCol="0" anchor="t"/>
          <a:lstStyle/>
          <a:p>
            <a:pPr marL="0" indent="0">
              <a:buNone/>
            </a:pPr>
            <a:r>
              <a:rPr lang="en-US" sz="1400" dirty="0">
                <a:solidFill>
                  <a:schemeClr val="accent2"/>
                </a:solidFill>
              </a:rPr>
              <a:t>waktu per proses</a:t>
            </a:r>
            <a:endParaRPr lang="en-US" sz="1400" dirty="0"/>
          </a:p>
        </p:txBody>
      </p:sp>
      <p:sp>
        <p:nvSpPr>
          <p:cNvPr id="13" name="Text 10"/>
          <p:cNvSpPr txBox="1"/>
          <p:nvPr/>
        </p:nvSpPr>
        <p:spPr>
          <a:xfrm>
            <a:off x="8412480" y="5943600"/>
            <a:ext cx="3230575" cy="411480"/>
          </a:xfrm>
          <a:prstGeom prst="rect">
            <a:avLst/>
          </a:prstGeom>
          <a:noFill/>
          <a:ln/>
        </p:spPr>
        <p:txBody>
          <a:bodyPr wrap="square" lIns="0" tIns="0" rIns="0" bIns="0" rtlCol="0" anchor="t"/>
          <a:lstStyle/>
          <a:p>
            <a:pPr marL="0" indent="0">
              <a:buNone/>
            </a:pPr>
            <a:r>
              <a:rPr lang="en-US" sz="1200" dirty="0">
                <a:solidFill>
                  <a:schemeClr val="accent2"/>
                </a:solidFill>
              </a:rPr>
              <a:t>Review turun paling kecil (45 → 30 menit): keputusan tetap di manusia.</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31</a:t>
            </a:fld>
            <a:endParaRPr lang="en-US"/>
          </a:p>
        </p:txBody>
      </p:sp>
    </p:spTree>
    <p:extLst>
      <p:ext uri="{BB962C8B-B14F-4D97-AF65-F5344CB8AC3E}">
        <p14:creationId xmlns:p14="http://schemas.microsoft.com/office/powerpoint/2010/main" val="2896319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24000"/>
            <a:ext cx="10728960" cy="426720"/>
          </a:xfrm>
          <a:prstGeom prst="rect">
            <a:avLst/>
          </a:prstGeom>
          <a:noFill/>
          <a:ln/>
        </p:spPr>
        <p:txBody>
          <a:bodyPr wrap="square" lIns="0" tIns="0" rIns="0" bIns="0" rtlCol="0" anchor="t"/>
          <a:lstStyle/>
          <a:p>
            <a:r>
              <a:rPr lang="en-US" dirty="0"/>
              <a:t>PRICING &amp; BOOKING</a:t>
            </a:r>
          </a:p>
        </p:txBody>
      </p:sp>
      <p:sp>
        <p:nvSpPr>
          <p:cNvPr id="3" name="Text 0"/>
          <p:cNvSpPr>
            <a:spLocks noGrp="1"/>
          </p:cNvSpPr>
          <p:nvPr>
            <p:ph type="title" idx="101" hasCustomPrompt="1"/>
          </p:nvPr>
        </p:nvSpPr>
        <p:spPr>
          <a:xfrm>
            <a:off x="731520" y="2011680"/>
            <a:ext cx="10728960" cy="1341120"/>
          </a:xfrm>
          <a:prstGeom prst="rect">
            <a:avLst/>
          </a:prstGeom>
          <a:noFill/>
          <a:ln/>
        </p:spPr>
        <p:txBody>
          <a:bodyPr wrap="square" lIns="0" tIns="0" rIns="0" bIns="0" rtlCol="0" anchor="t"/>
          <a:lstStyle/>
          <a:p>
            <a:r>
              <a:rPr lang="en-US" dirty="0"/>
              <a:t>Weekly Report SKR - HAL</a:t>
            </a:r>
          </a:p>
        </p:txBody>
      </p:sp>
      <p:sp>
        <p:nvSpPr>
          <p:cNvPr id="4" name="Text 0"/>
          <p:cNvSpPr>
            <a:spLocks noGrp="1"/>
          </p:cNvSpPr>
          <p:nvPr>
            <p:ph type="body" idx="102" hasCustomPrompt="1"/>
          </p:nvPr>
        </p:nvSpPr>
        <p:spPr>
          <a:xfrm>
            <a:off x="731520" y="3474720"/>
            <a:ext cx="9265920" cy="1097280"/>
          </a:xfrm>
          <a:prstGeom prst="rect">
            <a:avLst/>
          </a:prstGeom>
          <a:noFill/>
          <a:ln/>
        </p:spPr>
        <p:txBody>
          <a:bodyPr wrap="square" lIns="0" tIns="0" rIns="0" bIns="0" rtlCol="0" anchor="t"/>
          <a:lstStyle/>
          <a:p>
            <a:r>
              <a:rPr lang="en-US" dirty="0"/>
              <a:t>Alur kerja </a:t>
            </a:r>
            <a:r>
              <a:rPr lang="en-US" dirty="0" err="1"/>
              <a:t>laporan</a:t>
            </a:r>
            <a:r>
              <a:rPr lang="en-US" dirty="0"/>
              <a:t> </a:t>
            </a:r>
            <a:r>
              <a:rPr lang="en-US" dirty="0" err="1"/>
              <a:t>mingguan</a:t>
            </a:r>
            <a:r>
              <a:rPr lang="en-US" dirty="0"/>
              <a:t> : dari chat manual terpisah menjadi satu upload dan satu link</a:t>
            </a:r>
          </a:p>
        </p:txBody>
      </p:sp>
      <p:pic>
        <p:nvPicPr>
          <p:cNvPr id="5" name="ship icon" descr="preencoded.png"/>
          <p:cNvPicPr>
            <a:picLocks noChangeAspect="1"/>
          </p:cNvPicPr>
          <p:nvPr/>
        </p:nvPicPr>
        <p:blipFill>
          <a:blip r:embed="rId3"/>
          <a:stretch>
            <a:fillRect/>
          </a:stretch>
        </p:blipFill>
        <p:spPr>
          <a:xfrm>
            <a:off x="731520" y="5303520"/>
            <a:ext cx="548640" cy="548640"/>
          </a:xfrm>
          <a:prstGeom prst="rect">
            <a:avLst/>
          </a:prstGeom>
        </p:spPr>
      </p:pic>
      <p:sp>
        <p:nvSpPr>
          <p:cNvPr id="6" name="Text 3"/>
          <p:cNvSpPr txBox="1"/>
          <p:nvPr/>
        </p:nvSpPr>
        <p:spPr>
          <a:xfrm>
            <a:off x="1463040" y="5303520"/>
            <a:ext cx="4876800" cy="548640"/>
          </a:xfrm>
          <a:prstGeom prst="rect">
            <a:avLst/>
          </a:prstGeom>
          <a:noFill/>
          <a:ln/>
        </p:spPr>
        <p:txBody>
          <a:bodyPr wrap="square" lIns="0" tIns="0" rIns="0" bIns="0" rtlCol="0" anchor="ctr"/>
          <a:lstStyle/>
          <a:p>
            <a:r>
              <a:rPr lang="en-US" sz="1867" dirty="0">
                <a:solidFill>
                  <a:schemeClr val="accent3"/>
                </a:solidFill>
              </a:rPr>
              <a:t>Oktober 2026</a:t>
            </a:r>
            <a:endParaRPr lang="en-US" sz="1867"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853440"/>
          </a:xfrm>
          <a:prstGeom prst="rect">
            <a:avLst/>
          </a:prstGeom>
          <a:noFill/>
          <a:ln/>
        </p:spPr>
        <p:txBody>
          <a:bodyPr wrap="square" lIns="0" tIns="0" rIns="0" bIns="0" rtlCol="0" anchor="ctr"/>
          <a:lstStyle/>
          <a:p>
            <a:r>
              <a:rPr lang="en-US" sz="4000" dirty="0"/>
              <a:t>Dari pekerjaan terpisah menjadi satu alur</a:t>
            </a:r>
          </a:p>
        </p:txBody>
      </p:sp>
      <p:sp>
        <p:nvSpPr>
          <p:cNvPr id="3" name="sebelum card"/>
          <p:cNvSpPr/>
          <p:nvPr/>
        </p:nvSpPr>
        <p:spPr>
          <a:xfrm>
            <a:off x="609600" y="1584960"/>
            <a:ext cx="5303520" cy="4389120"/>
          </a:xfrm>
          <a:prstGeom prst="roundRect">
            <a:avLst>
              <a:gd name="adj" fmla="val 2222"/>
            </a:avLst>
          </a:prstGeom>
          <a:solidFill>
            <a:schemeClr val="bg2"/>
          </a:solidFill>
          <a:ln w="12700">
            <a:solidFill>
              <a:schemeClr val="bg2"/>
            </a:solidFill>
            <a:prstDash val="solid"/>
          </a:ln>
        </p:spPr>
      </p:sp>
      <p:sp>
        <p:nvSpPr>
          <p:cNvPr id="4" name="sebelum circle"/>
          <p:cNvSpPr/>
          <p:nvPr/>
        </p:nvSpPr>
        <p:spPr>
          <a:xfrm>
            <a:off x="975360" y="1828800"/>
            <a:ext cx="670560" cy="670560"/>
          </a:xfrm>
          <a:prstGeom prst="ellipse">
            <a:avLst/>
          </a:prstGeom>
          <a:solidFill>
            <a:schemeClr val="accent4"/>
          </a:solidFill>
          <a:ln w="12700">
            <a:solidFill>
              <a:schemeClr val="accent4"/>
            </a:solidFill>
            <a:prstDash val="solid"/>
          </a:ln>
        </p:spPr>
      </p:sp>
      <p:pic>
        <p:nvPicPr>
          <p:cNvPr id="5" name="sebelum icon" descr="preencoded.png"/>
          <p:cNvPicPr>
            <a:picLocks noChangeAspect="1"/>
          </p:cNvPicPr>
          <p:nvPr/>
        </p:nvPicPr>
        <p:blipFill>
          <a:blip r:embed="rId3"/>
          <a:stretch>
            <a:fillRect/>
          </a:stretch>
        </p:blipFill>
        <p:spPr>
          <a:xfrm>
            <a:off x="1149706" y="2003146"/>
            <a:ext cx="321869" cy="321869"/>
          </a:xfrm>
          <a:prstGeom prst="rect">
            <a:avLst/>
          </a:prstGeom>
        </p:spPr>
      </p:pic>
      <p:sp>
        <p:nvSpPr>
          <p:cNvPr id="6" name="Text 3"/>
          <p:cNvSpPr txBox="1"/>
          <p:nvPr/>
        </p:nvSpPr>
        <p:spPr>
          <a:xfrm>
            <a:off x="1828800" y="1828800"/>
            <a:ext cx="3779520" cy="670560"/>
          </a:xfrm>
          <a:prstGeom prst="rect">
            <a:avLst/>
          </a:prstGeom>
          <a:noFill/>
          <a:ln/>
        </p:spPr>
        <p:txBody>
          <a:bodyPr wrap="square" lIns="0" tIns="0" rIns="0" bIns="0" rtlCol="0" anchor="ctr"/>
          <a:lstStyle/>
          <a:p>
            <a:r>
              <a:rPr lang="en-US" sz="2667" b="1" dirty="0">
                <a:solidFill>
                  <a:schemeClr val="accent4"/>
                </a:solidFill>
                <a:latin typeface="Cambria" pitchFamily="34" charset="0"/>
                <a:ea typeface="Cambria" pitchFamily="34" charset="-122"/>
                <a:cs typeface="Cambria" pitchFamily="34" charset="-120"/>
              </a:rPr>
              <a:t>Sebelum</a:t>
            </a:r>
            <a:endParaRPr lang="en-US" sz="2667" dirty="0"/>
          </a:p>
        </p:txBody>
      </p:sp>
      <p:sp>
        <p:nvSpPr>
          <p:cNvPr id="7" name="sebelum list"/>
          <p:cNvSpPr txBox="1"/>
          <p:nvPr/>
        </p:nvSpPr>
        <p:spPr>
          <a:xfrm>
            <a:off x="975360" y="2743200"/>
            <a:ext cx="4632960" cy="3048000"/>
          </a:xfrm>
          <a:prstGeom prst="rect">
            <a:avLst/>
          </a:prstGeom>
          <a:noFill/>
          <a:ln/>
        </p:spPr>
        <p:txBody>
          <a:bodyPr wrap="square" lIns="0" tIns="0" rIns="0" bIns="0" rtlCol="0" anchor="t"/>
          <a:lstStyle/>
          <a:p>
            <a:pPr marL="457189" indent="-457189">
              <a:spcAft>
                <a:spcPts val="1067"/>
              </a:spcAft>
              <a:buSzPct val="100000"/>
              <a:buChar char="•"/>
            </a:pPr>
            <a:r>
              <a:rPr lang="en-US" sz="1867" dirty="0"/>
              <a:t>Chat terpisah per laporan, file sumber yang sama diupload berulang</a:t>
            </a:r>
          </a:p>
          <a:p>
            <a:pPr marL="457189" indent="-457189">
              <a:spcAft>
                <a:spcPts val="1067"/>
              </a:spcAft>
              <a:buSzPct val="100000"/>
              <a:buChar char="•"/>
            </a:pPr>
            <a:r>
              <a:rPr lang="en-US" sz="1867" dirty="0"/>
              <a:t>Format dan hasil bisa berbeda tiap minggu</a:t>
            </a:r>
          </a:p>
          <a:p>
            <a:pPr marL="457189" indent="-457189">
              <a:spcAft>
                <a:spcPts val="1067"/>
              </a:spcAft>
              <a:buSzPct val="100000"/>
              <a:buChar char="•"/>
            </a:pPr>
            <a:r>
              <a:rPr lang="en-US" sz="1867" dirty="0"/>
              <a:t>Excel dikirim satu per satu ke Sales</a:t>
            </a:r>
          </a:p>
          <a:p>
            <a:pPr marL="457189" indent="-457189">
              <a:spcAft>
                <a:spcPts val="1067"/>
              </a:spcAft>
              <a:buSzPct val="100000"/>
              <a:buChar char="•"/>
            </a:pPr>
            <a:r>
              <a:rPr lang="en-US" sz="1867" dirty="0"/>
              <a:t>Tidak ada riwayat minggu sebelumnya di satu tempat</a:t>
            </a:r>
          </a:p>
        </p:txBody>
      </p:sp>
      <p:sp>
        <p:nvSpPr>
          <p:cNvPr id="8" name="sesudah card"/>
          <p:cNvSpPr/>
          <p:nvPr/>
        </p:nvSpPr>
        <p:spPr>
          <a:xfrm>
            <a:off x="6278880" y="1584960"/>
            <a:ext cx="5303520" cy="4389120"/>
          </a:xfrm>
          <a:prstGeom prst="roundRect">
            <a:avLst>
              <a:gd name="adj" fmla="val 2222"/>
            </a:avLst>
          </a:prstGeom>
          <a:solidFill>
            <a:schemeClr val="accent3"/>
          </a:solidFill>
          <a:ln w="12700">
            <a:solidFill>
              <a:schemeClr val="accent3"/>
            </a:solidFill>
            <a:prstDash val="solid"/>
          </a:ln>
        </p:spPr>
      </p:sp>
      <p:sp>
        <p:nvSpPr>
          <p:cNvPr id="9" name="sesudah circle"/>
          <p:cNvSpPr/>
          <p:nvPr/>
        </p:nvSpPr>
        <p:spPr>
          <a:xfrm>
            <a:off x="6644640" y="1828800"/>
            <a:ext cx="670560" cy="670560"/>
          </a:xfrm>
          <a:prstGeom prst="ellipse">
            <a:avLst/>
          </a:prstGeom>
          <a:solidFill>
            <a:schemeClr val="accent1"/>
          </a:solidFill>
          <a:ln w="12700">
            <a:solidFill>
              <a:schemeClr val="accent1"/>
            </a:solidFill>
            <a:prstDash val="solid"/>
          </a:ln>
        </p:spPr>
      </p:sp>
      <p:pic>
        <p:nvPicPr>
          <p:cNvPr id="10" name="sesudah icon" descr="preencoded.png"/>
          <p:cNvPicPr>
            <a:picLocks noChangeAspect="1"/>
          </p:cNvPicPr>
          <p:nvPr/>
        </p:nvPicPr>
        <p:blipFill>
          <a:blip r:embed="rId4"/>
          <a:stretch>
            <a:fillRect/>
          </a:stretch>
        </p:blipFill>
        <p:spPr>
          <a:xfrm>
            <a:off x="6818986" y="2003146"/>
            <a:ext cx="321869" cy="321869"/>
          </a:xfrm>
          <a:prstGeom prst="rect">
            <a:avLst/>
          </a:prstGeom>
        </p:spPr>
      </p:pic>
      <p:sp>
        <p:nvSpPr>
          <p:cNvPr id="11" name="Text 7"/>
          <p:cNvSpPr txBox="1"/>
          <p:nvPr/>
        </p:nvSpPr>
        <p:spPr>
          <a:xfrm>
            <a:off x="7498080" y="1828800"/>
            <a:ext cx="3779520" cy="670560"/>
          </a:xfrm>
          <a:prstGeom prst="rect">
            <a:avLst/>
          </a:prstGeom>
          <a:noFill/>
          <a:ln/>
        </p:spPr>
        <p:txBody>
          <a:bodyPr wrap="square" lIns="0" tIns="0" rIns="0" bIns="0" rtlCol="0" anchor="ctr"/>
          <a:lstStyle/>
          <a:p>
            <a:r>
              <a:rPr lang="en-US" sz="2667" b="1" dirty="0">
                <a:solidFill>
                  <a:schemeClr val="accent1"/>
                </a:solidFill>
                <a:latin typeface="Cambria" pitchFamily="34" charset="0"/>
                <a:ea typeface="Cambria" pitchFamily="34" charset="-122"/>
                <a:cs typeface="Cambria" pitchFamily="34" charset="-120"/>
              </a:rPr>
              <a:t>Sesudah</a:t>
            </a:r>
            <a:endParaRPr lang="en-US" sz="2667" dirty="0"/>
          </a:p>
        </p:txBody>
      </p:sp>
      <p:sp>
        <p:nvSpPr>
          <p:cNvPr id="12" name="sesudah list"/>
          <p:cNvSpPr txBox="1"/>
          <p:nvPr/>
        </p:nvSpPr>
        <p:spPr>
          <a:xfrm>
            <a:off x="6644640" y="2743200"/>
            <a:ext cx="4632960" cy="3048000"/>
          </a:xfrm>
          <a:prstGeom prst="rect">
            <a:avLst/>
          </a:prstGeom>
          <a:noFill/>
          <a:ln/>
        </p:spPr>
        <p:txBody>
          <a:bodyPr wrap="square" lIns="0" tIns="0" rIns="0" bIns="0" rtlCol="0" anchor="t"/>
          <a:lstStyle/>
          <a:p>
            <a:pPr marL="457189" indent="-457189">
              <a:spcAft>
                <a:spcPts val="1067"/>
              </a:spcAft>
              <a:buSzPct val="100000"/>
              <a:buChar char="•"/>
            </a:pPr>
            <a:r>
              <a:rPr lang="en-US" sz="1867" dirty="0"/>
              <a:t>Satu upload: file week + CANCEL LIST</a:t>
            </a:r>
          </a:p>
          <a:p>
            <a:pPr marL="457189" indent="-457189">
              <a:spcAft>
                <a:spcPts val="1067"/>
              </a:spcAft>
              <a:buSzPct val="100000"/>
              <a:buChar char="•"/>
            </a:pPr>
            <a:r>
              <a:rPr lang="en-US" sz="1867" dirty="0"/>
              <a:t>2 Excel dibuat otomatis dengan aturan yang sama</a:t>
            </a:r>
          </a:p>
          <a:p>
            <a:pPr marL="457189" indent="-457189">
              <a:spcAft>
                <a:spcPts val="1067"/>
              </a:spcAft>
              <a:buSzPct val="100000"/>
              <a:buChar char="•"/>
            </a:pPr>
            <a:r>
              <a:rPr lang="en-US" sz="1867" dirty="0"/>
              <a:t>Sales membuka satu link dan download sendiri</a:t>
            </a:r>
          </a:p>
          <a:p>
            <a:pPr marL="457189" indent="-457189">
              <a:spcAft>
                <a:spcPts val="1067"/>
              </a:spcAft>
              <a:buSzPct val="100000"/>
              <a:buChar char="•"/>
            </a:pPr>
            <a:r>
              <a:rPr lang="en-US" sz="1867" dirty="0"/>
              <a:t>Riwayat 12 minggu terakhir tersimpan di link yang sama</a:t>
            </a:r>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853440"/>
          </a:xfrm>
          <a:prstGeom prst="rect">
            <a:avLst/>
          </a:prstGeom>
          <a:noFill/>
          <a:ln/>
        </p:spPr>
        <p:txBody>
          <a:bodyPr wrap="square" lIns="0" tIns="0" rIns="0" bIns="0" rtlCol="0" anchor="ctr"/>
          <a:lstStyle/>
          <a:p>
            <a:r>
              <a:rPr lang="en-US" sz="4000" dirty="0"/>
              <a:t>Alur kerja mingguan dalam 5 langkah</a:t>
            </a:r>
          </a:p>
        </p:txBody>
      </p:sp>
      <p:sp>
        <p:nvSpPr>
          <p:cNvPr id="3" name="step1 circle"/>
          <p:cNvSpPr/>
          <p:nvPr/>
        </p:nvSpPr>
        <p:spPr>
          <a:xfrm>
            <a:off x="1219200" y="1767840"/>
            <a:ext cx="975360" cy="975360"/>
          </a:xfrm>
          <a:prstGeom prst="ellipse">
            <a:avLst/>
          </a:prstGeom>
          <a:solidFill>
            <a:schemeClr val="accent2"/>
          </a:solidFill>
          <a:ln w="12700">
            <a:solidFill>
              <a:schemeClr val="accent2"/>
            </a:solidFill>
            <a:prstDash val="solid"/>
          </a:ln>
        </p:spPr>
      </p:sp>
      <p:pic>
        <p:nvPicPr>
          <p:cNvPr id="4" name="step1 icon" descr="preencoded.png"/>
          <p:cNvPicPr>
            <a:picLocks noChangeAspect="1"/>
          </p:cNvPicPr>
          <p:nvPr/>
        </p:nvPicPr>
        <p:blipFill>
          <a:blip r:embed="rId3"/>
          <a:stretch>
            <a:fillRect/>
          </a:stretch>
        </p:blipFill>
        <p:spPr>
          <a:xfrm>
            <a:off x="1472794" y="2021434"/>
            <a:ext cx="468173" cy="468173"/>
          </a:xfrm>
          <a:prstGeom prst="rect">
            <a:avLst/>
          </a:prstGeom>
        </p:spPr>
      </p:pic>
      <p:sp>
        <p:nvSpPr>
          <p:cNvPr id="5" name="arrow1"/>
          <p:cNvSpPr/>
          <p:nvPr/>
        </p:nvSpPr>
        <p:spPr>
          <a:xfrm>
            <a:off x="2340864" y="2255520"/>
            <a:ext cx="926592" cy="0"/>
          </a:xfrm>
          <a:prstGeom prst="line">
            <a:avLst/>
          </a:prstGeom>
          <a:noFill/>
          <a:ln w="19050">
            <a:solidFill>
              <a:srgbClr val="5B6870"/>
            </a:solidFill>
            <a:prstDash val="solid"/>
            <a:tailEnd type="triangle"/>
          </a:ln>
        </p:spPr>
      </p:sp>
      <p:sp>
        <p:nvSpPr>
          <p:cNvPr id="6" name="Text 3"/>
          <p:cNvSpPr txBox="1"/>
          <p:nvPr/>
        </p:nvSpPr>
        <p:spPr>
          <a:xfrm>
            <a:off x="609600" y="2865120"/>
            <a:ext cx="2194560" cy="365760"/>
          </a:xfrm>
          <a:prstGeom prst="rect">
            <a:avLst/>
          </a:prstGeom>
          <a:noFill/>
          <a:ln/>
        </p:spPr>
        <p:txBody>
          <a:bodyPr wrap="square" lIns="0" tIns="0" rIns="0" bIns="0" rtlCol="0" anchor="ctr"/>
          <a:lstStyle/>
          <a:p>
            <a:pPr algn="ctr"/>
            <a:r>
              <a:rPr lang="en-US" sz="1600" b="1" dirty="0">
                <a:solidFill>
                  <a:schemeClr val="accent2"/>
                </a:solidFill>
              </a:rPr>
              <a:t>1</a:t>
            </a:r>
            <a:endParaRPr lang="en-US" sz="1600" dirty="0"/>
          </a:p>
        </p:txBody>
      </p:sp>
      <p:sp>
        <p:nvSpPr>
          <p:cNvPr id="7" name="Text 4"/>
          <p:cNvSpPr txBox="1"/>
          <p:nvPr/>
        </p:nvSpPr>
        <p:spPr>
          <a:xfrm>
            <a:off x="609600" y="3194304"/>
            <a:ext cx="2194560" cy="426720"/>
          </a:xfrm>
          <a:prstGeom prst="rect">
            <a:avLst/>
          </a:prstGeom>
          <a:noFill/>
          <a:ln/>
        </p:spPr>
        <p:txBody>
          <a:bodyPr wrap="square" lIns="0" tIns="0" rIns="0" bIns="0" rtlCol="0" anchor="ctr"/>
          <a:lstStyle/>
          <a:p>
            <a:pPr algn="ctr"/>
            <a:r>
              <a:rPr lang="en-US" sz="2000" b="1" dirty="0"/>
              <a:t>Export data</a:t>
            </a:r>
            <a:endParaRPr lang="en-US" sz="2000" dirty="0"/>
          </a:p>
        </p:txBody>
      </p:sp>
      <p:sp>
        <p:nvSpPr>
          <p:cNvPr id="8" name="Text 5"/>
          <p:cNvSpPr txBox="1"/>
          <p:nvPr/>
        </p:nvSpPr>
        <p:spPr>
          <a:xfrm>
            <a:off x="707136" y="3621024"/>
            <a:ext cx="1999488" cy="731520"/>
          </a:xfrm>
          <a:prstGeom prst="rect">
            <a:avLst/>
          </a:prstGeom>
          <a:noFill/>
          <a:ln/>
        </p:spPr>
        <p:txBody>
          <a:bodyPr wrap="square" lIns="0" tIns="0" rIns="0" bIns="0" rtlCol="0" anchor="t"/>
          <a:lstStyle/>
          <a:p>
            <a:pPr algn="ctr"/>
            <a:r>
              <a:rPr lang="en-US" sz="1600" dirty="0">
                <a:solidFill>
                  <a:schemeClr val="accent4"/>
                </a:solidFill>
              </a:rPr>
              <a:t>week NN.xls dari web system</a:t>
            </a:r>
            <a:endParaRPr lang="en-US" sz="1600" dirty="0"/>
          </a:p>
        </p:txBody>
      </p:sp>
      <p:sp>
        <p:nvSpPr>
          <p:cNvPr id="9" name="step2 circle"/>
          <p:cNvSpPr/>
          <p:nvPr/>
        </p:nvSpPr>
        <p:spPr>
          <a:xfrm>
            <a:off x="3413760" y="1767840"/>
            <a:ext cx="975360" cy="975360"/>
          </a:xfrm>
          <a:prstGeom prst="ellipse">
            <a:avLst/>
          </a:prstGeom>
          <a:solidFill>
            <a:schemeClr val="accent2"/>
          </a:solidFill>
          <a:ln w="12700">
            <a:solidFill>
              <a:schemeClr val="accent2"/>
            </a:solidFill>
            <a:prstDash val="solid"/>
          </a:ln>
        </p:spPr>
      </p:sp>
      <p:pic>
        <p:nvPicPr>
          <p:cNvPr id="10" name="step2 icon" descr="preencoded.png"/>
          <p:cNvPicPr>
            <a:picLocks noChangeAspect="1"/>
          </p:cNvPicPr>
          <p:nvPr/>
        </p:nvPicPr>
        <p:blipFill>
          <a:blip r:embed="rId4"/>
          <a:stretch>
            <a:fillRect/>
          </a:stretch>
        </p:blipFill>
        <p:spPr>
          <a:xfrm>
            <a:off x="3667354" y="2021434"/>
            <a:ext cx="468173" cy="468173"/>
          </a:xfrm>
          <a:prstGeom prst="rect">
            <a:avLst/>
          </a:prstGeom>
        </p:spPr>
      </p:pic>
      <p:sp>
        <p:nvSpPr>
          <p:cNvPr id="11" name="arrow2"/>
          <p:cNvSpPr/>
          <p:nvPr/>
        </p:nvSpPr>
        <p:spPr>
          <a:xfrm>
            <a:off x="4535424" y="2255520"/>
            <a:ext cx="926592" cy="0"/>
          </a:xfrm>
          <a:prstGeom prst="line">
            <a:avLst/>
          </a:prstGeom>
          <a:noFill/>
          <a:ln w="19050">
            <a:solidFill>
              <a:srgbClr val="5B6870"/>
            </a:solidFill>
            <a:prstDash val="solid"/>
            <a:tailEnd type="triangle"/>
          </a:ln>
        </p:spPr>
      </p:sp>
      <p:sp>
        <p:nvSpPr>
          <p:cNvPr id="12" name="Text 8"/>
          <p:cNvSpPr txBox="1"/>
          <p:nvPr/>
        </p:nvSpPr>
        <p:spPr>
          <a:xfrm>
            <a:off x="2804160" y="2865120"/>
            <a:ext cx="2194560" cy="365760"/>
          </a:xfrm>
          <a:prstGeom prst="rect">
            <a:avLst/>
          </a:prstGeom>
          <a:noFill/>
          <a:ln/>
        </p:spPr>
        <p:txBody>
          <a:bodyPr wrap="square" lIns="0" tIns="0" rIns="0" bIns="0" rtlCol="0" anchor="ctr"/>
          <a:lstStyle/>
          <a:p>
            <a:pPr algn="ctr"/>
            <a:r>
              <a:rPr lang="en-US" sz="1600" b="1" dirty="0">
                <a:solidFill>
                  <a:schemeClr val="accent2"/>
                </a:solidFill>
              </a:rPr>
              <a:t>2</a:t>
            </a:r>
            <a:endParaRPr lang="en-US" sz="1600" dirty="0"/>
          </a:p>
        </p:txBody>
      </p:sp>
      <p:sp>
        <p:nvSpPr>
          <p:cNvPr id="13" name="Text 9"/>
          <p:cNvSpPr txBox="1"/>
          <p:nvPr/>
        </p:nvSpPr>
        <p:spPr>
          <a:xfrm>
            <a:off x="2804160" y="3194304"/>
            <a:ext cx="2194560" cy="426720"/>
          </a:xfrm>
          <a:prstGeom prst="rect">
            <a:avLst/>
          </a:prstGeom>
          <a:noFill/>
          <a:ln/>
        </p:spPr>
        <p:txBody>
          <a:bodyPr wrap="square" lIns="0" tIns="0" rIns="0" bIns="0" rtlCol="0" anchor="ctr"/>
          <a:lstStyle/>
          <a:p>
            <a:pPr algn="ctr"/>
            <a:r>
              <a:rPr lang="en-US" sz="2000" b="1" dirty="0"/>
              <a:t>Update cancel</a:t>
            </a:r>
            <a:endParaRPr lang="en-US" sz="2000" dirty="0"/>
          </a:p>
        </p:txBody>
      </p:sp>
      <p:sp>
        <p:nvSpPr>
          <p:cNvPr id="14" name="Text 10"/>
          <p:cNvSpPr txBox="1"/>
          <p:nvPr/>
        </p:nvSpPr>
        <p:spPr>
          <a:xfrm>
            <a:off x="2901696" y="3621024"/>
            <a:ext cx="1999488" cy="731520"/>
          </a:xfrm>
          <a:prstGeom prst="rect">
            <a:avLst/>
          </a:prstGeom>
          <a:noFill/>
          <a:ln/>
        </p:spPr>
        <p:txBody>
          <a:bodyPr wrap="square" lIns="0" tIns="0" rIns="0" bIns="0" rtlCol="0" anchor="t"/>
          <a:lstStyle/>
          <a:p>
            <a:pPr algn="ctr"/>
            <a:r>
              <a:rPr lang="en-US" sz="1600" dirty="0">
                <a:solidFill>
                  <a:schemeClr val="accent4"/>
                </a:solidFill>
              </a:rPr>
              <a:t>CANCEL LIST: cancel &amp; move to Sinokor</a:t>
            </a:r>
            <a:endParaRPr lang="en-US" sz="1600" dirty="0"/>
          </a:p>
        </p:txBody>
      </p:sp>
      <p:sp>
        <p:nvSpPr>
          <p:cNvPr id="15" name="step3 circle"/>
          <p:cNvSpPr/>
          <p:nvPr/>
        </p:nvSpPr>
        <p:spPr>
          <a:xfrm>
            <a:off x="5608320" y="1767840"/>
            <a:ext cx="975360" cy="975360"/>
          </a:xfrm>
          <a:prstGeom prst="ellipse">
            <a:avLst/>
          </a:prstGeom>
          <a:solidFill>
            <a:schemeClr val="accent2"/>
          </a:solidFill>
          <a:ln w="12700">
            <a:solidFill>
              <a:schemeClr val="accent2"/>
            </a:solidFill>
            <a:prstDash val="solid"/>
          </a:ln>
        </p:spPr>
      </p:sp>
      <p:pic>
        <p:nvPicPr>
          <p:cNvPr id="16" name="step3 icon" descr="preencoded.png"/>
          <p:cNvPicPr>
            <a:picLocks noChangeAspect="1"/>
          </p:cNvPicPr>
          <p:nvPr/>
        </p:nvPicPr>
        <p:blipFill>
          <a:blip r:embed="rId5"/>
          <a:stretch>
            <a:fillRect/>
          </a:stretch>
        </p:blipFill>
        <p:spPr>
          <a:xfrm>
            <a:off x="5861914" y="2021434"/>
            <a:ext cx="468173" cy="468173"/>
          </a:xfrm>
          <a:prstGeom prst="rect">
            <a:avLst/>
          </a:prstGeom>
        </p:spPr>
      </p:pic>
      <p:sp>
        <p:nvSpPr>
          <p:cNvPr id="17" name="arrow3"/>
          <p:cNvSpPr/>
          <p:nvPr/>
        </p:nvSpPr>
        <p:spPr>
          <a:xfrm>
            <a:off x="6729984" y="2255520"/>
            <a:ext cx="926592" cy="0"/>
          </a:xfrm>
          <a:prstGeom prst="line">
            <a:avLst/>
          </a:prstGeom>
          <a:noFill/>
          <a:ln w="19050">
            <a:solidFill>
              <a:srgbClr val="5B6870"/>
            </a:solidFill>
            <a:prstDash val="solid"/>
            <a:tailEnd type="triangle"/>
          </a:ln>
        </p:spPr>
      </p:sp>
      <p:sp>
        <p:nvSpPr>
          <p:cNvPr id="18" name="Text 13"/>
          <p:cNvSpPr txBox="1"/>
          <p:nvPr/>
        </p:nvSpPr>
        <p:spPr>
          <a:xfrm>
            <a:off x="4998720" y="2865120"/>
            <a:ext cx="2194560" cy="365760"/>
          </a:xfrm>
          <a:prstGeom prst="rect">
            <a:avLst/>
          </a:prstGeom>
          <a:noFill/>
          <a:ln/>
        </p:spPr>
        <p:txBody>
          <a:bodyPr wrap="square" lIns="0" tIns="0" rIns="0" bIns="0" rtlCol="0" anchor="ctr"/>
          <a:lstStyle/>
          <a:p>
            <a:pPr algn="ctr"/>
            <a:r>
              <a:rPr lang="en-US" sz="1600" b="1" dirty="0">
                <a:solidFill>
                  <a:schemeClr val="accent2"/>
                </a:solidFill>
              </a:rPr>
              <a:t>3</a:t>
            </a:r>
            <a:endParaRPr lang="en-US" sz="1600" dirty="0"/>
          </a:p>
        </p:txBody>
      </p:sp>
      <p:sp>
        <p:nvSpPr>
          <p:cNvPr id="19" name="Text 14"/>
          <p:cNvSpPr txBox="1"/>
          <p:nvPr/>
        </p:nvSpPr>
        <p:spPr>
          <a:xfrm>
            <a:off x="4998720" y="3194304"/>
            <a:ext cx="2194560" cy="426720"/>
          </a:xfrm>
          <a:prstGeom prst="rect">
            <a:avLst/>
          </a:prstGeom>
          <a:noFill/>
          <a:ln/>
        </p:spPr>
        <p:txBody>
          <a:bodyPr wrap="square" lIns="0" tIns="0" rIns="0" bIns="0" rtlCol="0" anchor="ctr"/>
          <a:lstStyle/>
          <a:p>
            <a:pPr algn="ctr"/>
            <a:r>
              <a:rPr lang="en-US" sz="2000" b="1" dirty="0"/>
              <a:t>Upload</a:t>
            </a:r>
            <a:endParaRPr lang="en-US" sz="2000" dirty="0"/>
          </a:p>
        </p:txBody>
      </p:sp>
      <p:sp>
        <p:nvSpPr>
          <p:cNvPr id="20" name="Text 15"/>
          <p:cNvSpPr txBox="1"/>
          <p:nvPr/>
        </p:nvSpPr>
        <p:spPr>
          <a:xfrm>
            <a:off x="5096256" y="3621024"/>
            <a:ext cx="1999488" cy="731520"/>
          </a:xfrm>
          <a:prstGeom prst="rect">
            <a:avLst/>
          </a:prstGeom>
          <a:noFill/>
          <a:ln/>
        </p:spPr>
        <p:txBody>
          <a:bodyPr wrap="square" lIns="0" tIns="0" rIns="0" bIns="0" rtlCol="0" anchor="t"/>
          <a:lstStyle/>
          <a:p>
            <a:pPr algn="ctr"/>
            <a:r>
              <a:rPr lang="en-US" sz="1600" dirty="0">
                <a:solidFill>
                  <a:schemeClr val="accent4"/>
                </a:solidFill>
              </a:rPr>
              <a:t>Ke artifact atau jalankan skill</a:t>
            </a:r>
            <a:endParaRPr lang="en-US" sz="1600" dirty="0"/>
          </a:p>
        </p:txBody>
      </p:sp>
      <p:sp>
        <p:nvSpPr>
          <p:cNvPr id="21" name="step4 circle"/>
          <p:cNvSpPr/>
          <p:nvPr/>
        </p:nvSpPr>
        <p:spPr>
          <a:xfrm>
            <a:off x="7802880" y="1767840"/>
            <a:ext cx="975360" cy="975360"/>
          </a:xfrm>
          <a:prstGeom prst="ellipse">
            <a:avLst/>
          </a:prstGeom>
          <a:solidFill>
            <a:schemeClr val="accent1"/>
          </a:solidFill>
          <a:ln w="12700">
            <a:solidFill>
              <a:schemeClr val="accent1"/>
            </a:solidFill>
            <a:prstDash val="solid"/>
          </a:ln>
        </p:spPr>
      </p:sp>
      <p:pic>
        <p:nvPicPr>
          <p:cNvPr id="22" name="step4 icon" descr="preencoded.png"/>
          <p:cNvPicPr>
            <a:picLocks noChangeAspect="1"/>
          </p:cNvPicPr>
          <p:nvPr/>
        </p:nvPicPr>
        <p:blipFill>
          <a:blip r:embed="rId6"/>
          <a:stretch>
            <a:fillRect/>
          </a:stretch>
        </p:blipFill>
        <p:spPr>
          <a:xfrm>
            <a:off x="8056474" y="2021434"/>
            <a:ext cx="468173" cy="468173"/>
          </a:xfrm>
          <a:prstGeom prst="rect">
            <a:avLst/>
          </a:prstGeom>
        </p:spPr>
      </p:pic>
      <p:sp>
        <p:nvSpPr>
          <p:cNvPr id="23" name="arrow4"/>
          <p:cNvSpPr/>
          <p:nvPr/>
        </p:nvSpPr>
        <p:spPr>
          <a:xfrm>
            <a:off x="8924544" y="2255520"/>
            <a:ext cx="926592" cy="0"/>
          </a:xfrm>
          <a:prstGeom prst="line">
            <a:avLst/>
          </a:prstGeom>
          <a:noFill/>
          <a:ln w="19050">
            <a:solidFill>
              <a:srgbClr val="5B6870"/>
            </a:solidFill>
            <a:prstDash val="solid"/>
            <a:tailEnd type="triangle"/>
          </a:ln>
        </p:spPr>
      </p:sp>
      <p:sp>
        <p:nvSpPr>
          <p:cNvPr id="24" name="Text 18"/>
          <p:cNvSpPr txBox="1"/>
          <p:nvPr/>
        </p:nvSpPr>
        <p:spPr>
          <a:xfrm>
            <a:off x="7193280" y="2865120"/>
            <a:ext cx="2194560" cy="365760"/>
          </a:xfrm>
          <a:prstGeom prst="rect">
            <a:avLst/>
          </a:prstGeom>
          <a:noFill/>
          <a:ln/>
        </p:spPr>
        <p:txBody>
          <a:bodyPr wrap="square" lIns="0" tIns="0" rIns="0" bIns="0" rtlCol="0" anchor="ctr"/>
          <a:lstStyle/>
          <a:p>
            <a:pPr algn="ctr"/>
            <a:r>
              <a:rPr lang="en-US" sz="1600" b="1" dirty="0">
                <a:solidFill>
                  <a:schemeClr val="accent1"/>
                </a:solidFill>
              </a:rPr>
              <a:t>4</a:t>
            </a:r>
            <a:endParaRPr lang="en-US" sz="1600" dirty="0"/>
          </a:p>
        </p:txBody>
      </p:sp>
      <p:sp>
        <p:nvSpPr>
          <p:cNvPr id="25" name="Text 19"/>
          <p:cNvSpPr txBox="1"/>
          <p:nvPr/>
        </p:nvSpPr>
        <p:spPr>
          <a:xfrm>
            <a:off x="7193280" y="3194304"/>
            <a:ext cx="2194560" cy="426720"/>
          </a:xfrm>
          <a:prstGeom prst="rect">
            <a:avLst/>
          </a:prstGeom>
          <a:noFill/>
          <a:ln/>
        </p:spPr>
        <p:txBody>
          <a:bodyPr wrap="square" lIns="0" tIns="0" rIns="0" bIns="0" rtlCol="0" anchor="ctr"/>
          <a:lstStyle/>
          <a:p>
            <a:pPr algn="ctr"/>
            <a:r>
              <a:rPr lang="en-US" sz="2000" b="1" dirty="0"/>
              <a:t>Proses otomatis</a:t>
            </a:r>
            <a:endParaRPr lang="en-US" sz="2000" dirty="0"/>
          </a:p>
        </p:txBody>
      </p:sp>
      <p:sp>
        <p:nvSpPr>
          <p:cNvPr id="26" name="Text 20"/>
          <p:cNvSpPr txBox="1"/>
          <p:nvPr/>
        </p:nvSpPr>
        <p:spPr>
          <a:xfrm>
            <a:off x="7290816" y="3621024"/>
            <a:ext cx="1999488" cy="731520"/>
          </a:xfrm>
          <a:prstGeom prst="rect">
            <a:avLst/>
          </a:prstGeom>
          <a:noFill/>
          <a:ln/>
        </p:spPr>
        <p:txBody>
          <a:bodyPr wrap="square" lIns="0" tIns="0" rIns="0" bIns="0" rtlCol="0" anchor="t"/>
          <a:lstStyle/>
          <a:p>
            <a:pPr algn="ctr"/>
            <a:r>
              <a:rPr lang="en-US" sz="1600" dirty="0">
                <a:solidFill>
                  <a:schemeClr val="accent4"/>
                </a:solidFill>
              </a:rPr>
              <a:t>Hitung, cek total, buat 2 Excel</a:t>
            </a:r>
            <a:endParaRPr lang="en-US" sz="1600" dirty="0"/>
          </a:p>
        </p:txBody>
      </p:sp>
      <p:sp>
        <p:nvSpPr>
          <p:cNvPr id="27" name="step5 circle"/>
          <p:cNvSpPr/>
          <p:nvPr/>
        </p:nvSpPr>
        <p:spPr>
          <a:xfrm>
            <a:off x="9997440" y="1767840"/>
            <a:ext cx="975360" cy="975360"/>
          </a:xfrm>
          <a:prstGeom prst="ellipse">
            <a:avLst/>
          </a:prstGeom>
          <a:solidFill>
            <a:schemeClr val="tx2"/>
          </a:solidFill>
          <a:ln w="12700">
            <a:solidFill>
              <a:schemeClr val="tx2"/>
            </a:solidFill>
            <a:prstDash val="solid"/>
          </a:ln>
        </p:spPr>
      </p:sp>
      <p:pic>
        <p:nvPicPr>
          <p:cNvPr id="28" name="step5 icon" descr="preencoded.png"/>
          <p:cNvPicPr>
            <a:picLocks noChangeAspect="1"/>
          </p:cNvPicPr>
          <p:nvPr/>
        </p:nvPicPr>
        <p:blipFill>
          <a:blip r:embed="rId7"/>
          <a:stretch>
            <a:fillRect/>
          </a:stretch>
        </p:blipFill>
        <p:spPr>
          <a:xfrm>
            <a:off x="10251034" y="2021434"/>
            <a:ext cx="468173" cy="468173"/>
          </a:xfrm>
          <a:prstGeom prst="rect">
            <a:avLst/>
          </a:prstGeom>
        </p:spPr>
      </p:pic>
      <p:sp>
        <p:nvSpPr>
          <p:cNvPr id="29" name="Text 22"/>
          <p:cNvSpPr txBox="1"/>
          <p:nvPr/>
        </p:nvSpPr>
        <p:spPr>
          <a:xfrm>
            <a:off x="9387840" y="2865120"/>
            <a:ext cx="2194560" cy="365760"/>
          </a:xfrm>
          <a:prstGeom prst="rect">
            <a:avLst/>
          </a:prstGeom>
          <a:noFill/>
          <a:ln/>
        </p:spPr>
        <p:txBody>
          <a:bodyPr wrap="square" lIns="0" tIns="0" rIns="0" bIns="0" rtlCol="0" anchor="ctr"/>
          <a:lstStyle/>
          <a:p>
            <a:pPr algn="ctr"/>
            <a:r>
              <a:rPr lang="en-US" sz="1600" b="1" dirty="0">
                <a:solidFill>
                  <a:schemeClr val="tx2"/>
                </a:solidFill>
              </a:rPr>
              <a:t>5</a:t>
            </a:r>
            <a:endParaRPr lang="en-US" sz="1600" dirty="0"/>
          </a:p>
        </p:txBody>
      </p:sp>
      <p:sp>
        <p:nvSpPr>
          <p:cNvPr id="30" name="Text 23"/>
          <p:cNvSpPr txBox="1"/>
          <p:nvPr/>
        </p:nvSpPr>
        <p:spPr>
          <a:xfrm>
            <a:off x="9387840" y="3194304"/>
            <a:ext cx="2194560" cy="426720"/>
          </a:xfrm>
          <a:prstGeom prst="rect">
            <a:avLst/>
          </a:prstGeom>
          <a:noFill/>
          <a:ln/>
        </p:spPr>
        <p:txBody>
          <a:bodyPr wrap="square" lIns="0" tIns="0" rIns="0" bIns="0" rtlCol="0" anchor="ctr"/>
          <a:lstStyle/>
          <a:p>
            <a:pPr algn="ctr"/>
            <a:r>
              <a:rPr lang="en-US" sz="2000" b="1" dirty="0"/>
              <a:t>Sales menerima</a:t>
            </a:r>
            <a:endParaRPr lang="en-US" sz="2000" dirty="0"/>
          </a:p>
        </p:txBody>
      </p:sp>
      <p:sp>
        <p:nvSpPr>
          <p:cNvPr id="31" name="Text 24"/>
          <p:cNvSpPr txBox="1"/>
          <p:nvPr/>
        </p:nvSpPr>
        <p:spPr>
          <a:xfrm>
            <a:off x="9485376" y="3621024"/>
            <a:ext cx="1999488" cy="731520"/>
          </a:xfrm>
          <a:prstGeom prst="rect">
            <a:avLst/>
          </a:prstGeom>
          <a:noFill/>
          <a:ln/>
        </p:spPr>
        <p:txBody>
          <a:bodyPr wrap="square" lIns="0" tIns="0" rIns="0" bIns="0" rtlCol="0" anchor="t"/>
          <a:lstStyle/>
          <a:p>
            <a:pPr algn="ctr"/>
            <a:r>
              <a:rPr lang="en-US" sz="1600" dirty="0">
                <a:solidFill>
                  <a:schemeClr val="accent4"/>
                </a:solidFill>
              </a:rPr>
              <a:t>Buka link, preview, download</a:t>
            </a:r>
            <a:endParaRPr lang="en-US" sz="1600" dirty="0"/>
          </a:p>
        </p:txBody>
      </p:sp>
      <p:sp>
        <p:nvSpPr>
          <p:cNvPr id="32" name="role Saya (Pricing &amp; Booking)"/>
          <p:cNvSpPr/>
          <p:nvPr/>
        </p:nvSpPr>
        <p:spPr>
          <a:xfrm>
            <a:off x="707136" y="4572000"/>
            <a:ext cx="6388608" cy="512064"/>
          </a:xfrm>
          <a:prstGeom prst="roundRect">
            <a:avLst>
              <a:gd name="adj" fmla="val 50000"/>
            </a:avLst>
          </a:prstGeom>
          <a:solidFill>
            <a:schemeClr val="accent2"/>
          </a:solidFill>
          <a:ln w="12700">
            <a:solidFill>
              <a:schemeClr val="accent2"/>
            </a:solidFill>
            <a:prstDash val="solid"/>
          </a:ln>
        </p:spPr>
      </p:sp>
      <p:sp>
        <p:nvSpPr>
          <p:cNvPr id="33" name="Text 26"/>
          <p:cNvSpPr txBox="1"/>
          <p:nvPr/>
        </p:nvSpPr>
        <p:spPr>
          <a:xfrm>
            <a:off x="707136" y="4572000"/>
            <a:ext cx="6388608" cy="512064"/>
          </a:xfrm>
          <a:prstGeom prst="rect">
            <a:avLst/>
          </a:prstGeom>
          <a:noFill/>
          <a:ln/>
        </p:spPr>
        <p:txBody>
          <a:bodyPr wrap="square" lIns="0" tIns="0" rIns="0" bIns="0" rtlCol="0" anchor="ctr"/>
          <a:lstStyle/>
          <a:p>
            <a:pPr algn="ctr"/>
            <a:r>
              <a:rPr lang="en-US" sz="1600" b="1" dirty="0">
                <a:solidFill>
                  <a:schemeClr val="bg1"/>
                </a:solidFill>
              </a:rPr>
              <a:t>Saya (Pricing &amp; Booking)</a:t>
            </a:r>
            <a:endParaRPr lang="en-US" sz="1600" dirty="0"/>
          </a:p>
        </p:txBody>
      </p:sp>
      <p:sp>
        <p:nvSpPr>
          <p:cNvPr id="34" name="role Otomatis (Claude)"/>
          <p:cNvSpPr/>
          <p:nvPr/>
        </p:nvSpPr>
        <p:spPr>
          <a:xfrm>
            <a:off x="7290816" y="4572000"/>
            <a:ext cx="1999488" cy="512064"/>
          </a:xfrm>
          <a:prstGeom prst="roundRect">
            <a:avLst>
              <a:gd name="adj" fmla="val 50000"/>
            </a:avLst>
          </a:prstGeom>
          <a:solidFill>
            <a:schemeClr val="accent1"/>
          </a:solidFill>
          <a:ln w="12700">
            <a:solidFill>
              <a:schemeClr val="accent1"/>
            </a:solidFill>
            <a:prstDash val="solid"/>
          </a:ln>
        </p:spPr>
      </p:sp>
      <p:sp>
        <p:nvSpPr>
          <p:cNvPr id="35" name="Text 28"/>
          <p:cNvSpPr txBox="1"/>
          <p:nvPr/>
        </p:nvSpPr>
        <p:spPr>
          <a:xfrm>
            <a:off x="7290816" y="4572000"/>
            <a:ext cx="1999488" cy="512064"/>
          </a:xfrm>
          <a:prstGeom prst="rect">
            <a:avLst/>
          </a:prstGeom>
          <a:noFill/>
          <a:ln/>
        </p:spPr>
        <p:txBody>
          <a:bodyPr wrap="square" lIns="0" tIns="0" rIns="0" bIns="0" rtlCol="0" anchor="ctr"/>
          <a:lstStyle/>
          <a:p>
            <a:pPr algn="ctr"/>
            <a:r>
              <a:rPr lang="en-US" sz="1600" b="1" dirty="0">
                <a:solidFill>
                  <a:schemeClr val="bg1"/>
                </a:solidFill>
              </a:rPr>
              <a:t>Otomatis (Claude)</a:t>
            </a:r>
            <a:endParaRPr lang="en-US" sz="1600" dirty="0"/>
          </a:p>
        </p:txBody>
      </p:sp>
      <p:sp>
        <p:nvSpPr>
          <p:cNvPr id="36" name="role Sales"/>
          <p:cNvSpPr/>
          <p:nvPr/>
        </p:nvSpPr>
        <p:spPr>
          <a:xfrm>
            <a:off x="9485376" y="4572000"/>
            <a:ext cx="1999488" cy="512064"/>
          </a:xfrm>
          <a:prstGeom prst="roundRect">
            <a:avLst>
              <a:gd name="adj" fmla="val 50000"/>
            </a:avLst>
          </a:prstGeom>
          <a:solidFill>
            <a:schemeClr val="tx2"/>
          </a:solidFill>
          <a:ln w="12700">
            <a:solidFill>
              <a:schemeClr val="tx2"/>
            </a:solidFill>
            <a:prstDash val="solid"/>
          </a:ln>
        </p:spPr>
      </p:sp>
      <p:sp>
        <p:nvSpPr>
          <p:cNvPr id="37" name="Text 30"/>
          <p:cNvSpPr txBox="1"/>
          <p:nvPr/>
        </p:nvSpPr>
        <p:spPr>
          <a:xfrm>
            <a:off x="9485376" y="4572000"/>
            <a:ext cx="1999488" cy="512064"/>
          </a:xfrm>
          <a:prstGeom prst="rect">
            <a:avLst/>
          </a:prstGeom>
          <a:noFill/>
          <a:ln/>
        </p:spPr>
        <p:txBody>
          <a:bodyPr wrap="square" lIns="0" tIns="0" rIns="0" bIns="0" rtlCol="0" anchor="ctr"/>
          <a:lstStyle/>
          <a:p>
            <a:pPr algn="ctr"/>
            <a:r>
              <a:rPr lang="en-US" sz="1600" b="1" dirty="0">
                <a:solidFill>
                  <a:schemeClr val="bg1"/>
                </a:solidFill>
              </a:rPr>
              <a:t>Sales</a:t>
            </a:r>
            <a:endParaRPr lang="en-US" sz="1600" dirty="0"/>
          </a:p>
        </p:txBody>
      </p:sp>
      <p:sp>
        <p:nvSpPr>
          <p:cNvPr id="38" name="Text 31"/>
          <p:cNvSpPr txBox="1"/>
          <p:nvPr/>
        </p:nvSpPr>
        <p:spPr>
          <a:xfrm>
            <a:off x="609600" y="5364480"/>
            <a:ext cx="10972800" cy="609600"/>
          </a:xfrm>
          <a:prstGeom prst="rect">
            <a:avLst/>
          </a:prstGeom>
          <a:noFill/>
          <a:ln/>
        </p:spPr>
        <p:txBody>
          <a:bodyPr wrap="square" lIns="0" tIns="0" rIns="0" bIns="0" rtlCol="0" anchor="ctr"/>
          <a:lstStyle/>
          <a:p>
            <a:r>
              <a:rPr lang="en-US" sz="1867" b="1" dirty="0"/>
              <a:t>Hasil langkah 4 disimpan di dua tempat: </a:t>
            </a:r>
            <a:r>
              <a:rPr lang="en-US" sz="1867" dirty="0"/>
              <a:t>folder WEEKLY (TOP20 dan LIFTING) sebagai arsip, dan link artifact untuk Sales.</a:t>
            </a:r>
          </a:p>
        </p:txBody>
      </p:sp>
      <p:sp>
        <p:nvSpPr>
          <p:cNvPr id="39"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853440"/>
          </a:xfrm>
          <a:prstGeom prst="rect">
            <a:avLst/>
          </a:prstGeom>
          <a:noFill/>
          <a:ln/>
        </p:spPr>
        <p:txBody>
          <a:bodyPr wrap="square" lIns="0" tIns="0" rIns="0" bIns="0" rtlCol="0" anchor="ctr"/>
          <a:lstStyle/>
          <a:p>
            <a:r>
              <a:rPr lang="en-US" sz="4000" dirty="0"/>
              <a:t>Pembagian peran</a:t>
            </a:r>
          </a:p>
        </p:txBody>
      </p:sp>
      <p:sp>
        <p:nvSpPr>
          <p:cNvPr id="3" name="role card Saya"/>
          <p:cNvSpPr/>
          <p:nvPr/>
        </p:nvSpPr>
        <p:spPr>
          <a:xfrm>
            <a:off x="609600" y="1584960"/>
            <a:ext cx="3462528" cy="4389120"/>
          </a:xfrm>
          <a:prstGeom prst="roundRect">
            <a:avLst>
              <a:gd name="adj" fmla="val 2817"/>
            </a:avLst>
          </a:prstGeom>
          <a:solidFill>
            <a:srgbClr val="EEF2F1"/>
          </a:solidFill>
          <a:ln w="12700">
            <a:solidFill>
              <a:srgbClr val="EEF2F1"/>
            </a:solidFill>
            <a:prstDash val="solid"/>
          </a:ln>
        </p:spPr>
      </p:sp>
      <p:sp>
        <p:nvSpPr>
          <p:cNvPr id="4" name="role Saya circle"/>
          <p:cNvSpPr/>
          <p:nvPr/>
        </p:nvSpPr>
        <p:spPr>
          <a:xfrm>
            <a:off x="975360" y="1828800"/>
            <a:ext cx="731520" cy="731520"/>
          </a:xfrm>
          <a:prstGeom prst="ellipse">
            <a:avLst/>
          </a:prstGeom>
          <a:solidFill>
            <a:schemeClr val="accent2"/>
          </a:solidFill>
          <a:ln w="12700">
            <a:solidFill>
              <a:schemeClr val="accent2"/>
            </a:solidFill>
            <a:prstDash val="solid"/>
          </a:ln>
        </p:spPr>
      </p:sp>
      <p:pic>
        <p:nvPicPr>
          <p:cNvPr id="5" name="role Saya icon" descr="preencoded.png"/>
          <p:cNvPicPr>
            <a:picLocks noChangeAspect="1"/>
          </p:cNvPicPr>
          <p:nvPr/>
        </p:nvPicPr>
        <p:blipFill>
          <a:blip r:embed="rId3"/>
          <a:stretch>
            <a:fillRect/>
          </a:stretch>
        </p:blipFill>
        <p:spPr>
          <a:xfrm>
            <a:off x="1165556" y="2018996"/>
            <a:ext cx="351129" cy="351129"/>
          </a:xfrm>
          <a:prstGeom prst="rect">
            <a:avLst/>
          </a:prstGeom>
        </p:spPr>
      </p:pic>
      <p:sp>
        <p:nvSpPr>
          <p:cNvPr id="6" name="Text 3"/>
          <p:cNvSpPr txBox="1"/>
          <p:nvPr/>
        </p:nvSpPr>
        <p:spPr>
          <a:xfrm>
            <a:off x="1889760" y="1804416"/>
            <a:ext cx="2072640" cy="438912"/>
          </a:xfrm>
          <a:prstGeom prst="rect">
            <a:avLst/>
          </a:prstGeom>
          <a:noFill/>
          <a:ln/>
        </p:spPr>
        <p:txBody>
          <a:bodyPr wrap="square" lIns="0" tIns="0" rIns="0" bIns="0" rtlCol="0" anchor="ctr"/>
          <a:lstStyle/>
          <a:p>
            <a:r>
              <a:rPr lang="en-US" sz="2400" b="1" dirty="0">
                <a:latin typeface="Cambria" pitchFamily="34" charset="0"/>
                <a:ea typeface="Cambria" pitchFamily="34" charset="-122"/>
                <a:cs typeface="Cambria" pitchFamily="34" charset="-120"/>
              </a:rPr>
              <a:t>Saya</a:t>
            </a:r>
            <a:endParaRPr lang="en-US" sz="2400" dirty="0"/>
          </a:p>
        </p:txBody>
      </p:sp>
      <p:sp>
        <p:nvSpPr>
          <p:cNvPr id="7" name="Text 4"/>
          <p:cNvSpPr txBox="1"/>
          <p:nvPr/>
        </p:nvSpPr>
        <p:spPr>
          <a:xfrm>
            <a:off x="1889760" y="2218944"/>
            <a:ext cx="2072640" cy="365760"/>
          </a:xfrm>
          <a:prstGeom prst="rect">
            <a:avLst/>
          </a:prstGeom>
          <a:noFill/>
          <a:ln/>
        </p:spPr>
        <p:txBody>
          <a:bodyPr wrap="square" lIns="0" tIns="0" rIns="0" bIns="0" rtlCol="0" anchor="ctr"/>
          <a:lstStyle/>
          <a:p>
            <a:r>
              <a:rPr lang="en-US" sz="1467" dirty="0">
                <a:solidFill>
                  <a:schemeClr val="accent4"/>
                </a:solidFill>
              </a:rPr>
              <a:t>Pricing &amp; Booking</a:t>
            </a:r>
            <a:endParaRPr lang="en-US" sz="1467" dirty="0"/>
          </a:p>
        </p:txBody>
      </p:sp>
      <p:sp>
        <p:nvSpPr>
          <p:cNvPr id="8" name="Text 5"/>
          <p:cNvSpPr txBox="1"/>
          <p:nvPr/>
        </p:nvSpPr>
        <p:spPr>
          <a:xfrm>
            <a:off x="975360" y="2926080"/>
            <a:ext cx="2865120" cy="2804160"/>
          </a:xfrm>
          <a:prstGeom prst="rect">
            <a:avLst/>
          </a:prstGeom>
          <a:noFill/>
          <a:ln/>
        </p:spPr>
        <p:txBody>
          <a:bodyPr wrap="square" lIns="0" tIns="0" rIns="0" bIns="0" rtlCol="0" anchor="t"/>
          <a:lstStyle/>
          <a:p>
            <a:pPr marL="457189" indent="-457189">
              <a:spcAft>
                <a:spcPts val="1067"/>
              </a:spcAft>
              <a:buSzPct val="100000"/>
              <a:buChar char="•"/>
            </a:pPr>
            <a:r>
              <a:rPr lang="en-US" sz="1867" dirty="0"/>
              <a:t>Export week NN dari web system</a:t>
            </a:r>
          </a:p>
          <a:p>
            <a:pPr marL="457189" indent="-457189">
              <a:spcAft>
                <a:spcPts val="1067"/>
              </a:spcAft>
              <a:buSzPct val="100000"/>
              <a:buChar char="•"/>
            </a:pPr>
            <a:r>
              <a:rPr lang="en-US" sz="1867" dirty="0"/>
              <a:t>Update CANCEL LIST (cancel &amp; move to Sinokor)</a:t>
            </a:r>
          </a:p>
          <a:p>
            <a:pPr marL="457189" indent="-457189">
              <a:spcAft>
                <a:spcPts val="1067"/>
              </a:spcAft>
              <a:buSzPct val="100000"/>
              <a:buChar char="•"/>
            </a:pPr>
            <a:r>
              <a:rPr lang="en-US" sz="1867" dirty="0"/>
              <a:t>Upload dan cek ringkasan</a:t>
            </a:r>
          </a:p>
        </p:txBody>
      </p:sp>
      <p:sp>
        <p:nvSpPr>
          <p:cNvPr id="9" name="role card Otomatis"/>
          <p:cNvSpPr/>
          <p:nvPr/>
        </p:nvSpPr>
        <p:spPr>
          <a:xfrm>
            <a:off x="4364736" y="1584960"/>
            <a:ext cx="3462528" cy="4389120"/>
          </a:xfrm>
          <a:prstGeom prst="roundRect">
            <a:avLst>
              <a:gd name="adj" fmla="val 2817"/>
            </a:avLst>
          </a:prstGeom>
          <a:solidFill>
            <a:srgbClr val="EEF2F1"/>
          </a:solidFill>
          <a:ln w="12700">
            <a:solidFill>
              <a:srgbClr val="EEF2F1"/>
            </a:solidFill>
            <a:prstDash val="solid"/>
          </a:ln>
        </p:spPr>
      </p:sp>
      <p:sp>
        <p:nvSpPr>
          <p:cNvPr id="10" name="role Otomatis circle"/>
          <p:cNvSpPr/>
          <p:nvPr/>
        </p:nvSpPr>
        <p:spPr>
          <a:xfrm>
            <a:off x="4730496" y="1828800"/>
            <a:ext cx="731520" cy="731520"/>
          </a:xfrm>
          <a:prstGeom prst="ellipse">
            <a:avLst/>
          </a:prstGeom>
          <a:solidFill>
            <a:schemeClr val="accent1"/>
          </a:solidFill>
          <a:ln w="12700">
            <a:solidFill>
              <a:schemeClr val="accent1"/>
            </a:solidFill>
            <a:prstDash val="solid"/>
          </a:ln>
        </p:spPr>
      </p:sp>
      <p:pic>
        <p:nvPicPr>
          <p:cNvPr id="11" name="role Otomatis icon" descr="preencoded.png"/>
          <p:cNvPicPr>
            <a:picLocks noChangeAspect="1"/>
          </p:cNvPicPr>
          <p:nvPr/>
        </p:nvPicPr>
        <p:blipFill>
          <a:blip r:embed="rId4"/>
          <a:stretch>
            <a:fillRect/>
          </a:stretch>
        </p:blipFill>
        <p:spPr>
          <a:xfrm>
            <a:off x="4920692" y="2018996"/>
            <a:ext cx="351129" cy="351129"/>
          </a:xfrm>
          <a:prstGeom prst="rect">
            <a:avLst/>
          </a:prstGeom>
        </p:spPr>
      </p:pic>
      <p:sp>
        <p:nvSpPr>
          <p:cNvPr id="12" name="Text 8"/>
          <p:cNvSpPr txBox="1"/>
          <p:nvPr/>
        </p:nvSpPr>
        <p:spPr>
          <a:xfrm>
            <a:off x="5644896" y="1804416"/>
            <a:ext cx="2072640" cy="438912"/>
          </a:xfrm>
          <a:prstGeom prst="rect">
            <a:avLst/>
          </a:prstGeom>
          <a:noFill/>
          <a:ln/>
        </p:spPr>
        <p:txBody>
          <a:bodyPr wrap="square" lIns="0" tIns="0" rIns="0" bIns="0" rtlCol="0" anchor="ctr"/>
          <a:lstStyle/>
          <a:p>
            <a:r>
              <a:rPr lang="en-US" sz="2400" b="1" dirty="0">
                <a:latin typeface="Cambria" pitchFamily="34" charset="0"/>
                <a:ea typeface="Cambria" pitchFamily="34" charset="-122"/>
                <a:cs typeface="Cambria" pitchFamily="34" charset="-120"/>
              </a:rPr>
              <a:t>Otomatis</a:t>
            </a:r>
            <a:endParaRPr lang="en-US" sz="2400" dirty="0"/>
          </a:p>
        </p:txBody>
      </p:sp>
      <p:sp>
        <p:nvSpPr>
          <p:cNvPr id="13" name="Text 9"/>
          <p:cNvSpPr txBox="1"/>
          <p:nvPr/>
        </p:nvSpPr>
        <p:spPr>
          <a:xfrm>
            <a:off x="5644896" y="2218944"/>
            <a:ext cx="2072640" cy="365760"/>
          </a:xfrm>
          <a:prstGeom prst="rect">
            <a:avLst/>
          </a:prstGeom>
          <a:noFill/>
          <a:ln/>
        </p:spPr>
        <p:txBody>
          <a:bodyPr wrap="square" lIns="0" tIns="0" rIns="0" bIns="0" rtlCol="0" anchor="ctr"/>
          <a:lstStyle/>
          <a:p>
            <a:r>
              <a:rPr lang="en-US" sz="1467" dirty="0">
                <a:solidFill>
                  <a:schemeClr val="accent4"/>
                </a:solidFill>
              </a:rPr>
              <a:t>Artifact / skill Claude</a:t>
            </a:r>
            <a:endParaRPr lang="en-US" sz="1467" dirty="0"/>
          </a:p>
        </p:txBody>
      </p:sp>
      <p:sp>
        <p:nvSpPr>
          <p:cNvPr id="14" name="Text 10"/>
          <p:cNvSpPr txBox="1"/>
          <p:nvPr/>
        </p:nvSpPr>
        <p:spPr>
          <a:xfrm>
            <a:off x="4730496" y="2926080"/>
            <a:ext cx="2865120" cy="2804160"/>
          </a:xfrm>
          <a:prstGeom prst="rect">
            <a:avLst/>
          </a:prstGeom>
          <a:noFill/>
          <a:ln/>
        </p:spPr>
        <p:txBody>
          <a:bodyPr wrap="square" lIns="0" tIns="0" rIns="0" bIns="0" rtlCol="0" anchor="t"/>
          <a:lstStyle/>
          <a:p>
            <a:pPr marL="457189" indent="-457189">
              <a:spcAft>
                <a:spcPts val="1067"/>
              </a:spcAft>
              <a:buSzPct val="100000"/>
              <a:buChar char="•"/>
            </a:pPr>
            <a:r>
              <a:rPr lang="en-US" sz="1867" dirty="0"/>
              <a:t>Membaca kedua file</a:t>
            </a:r>
          </a:p>
          <a:p>
            <a:pPr marL="457189" indent="-457189">
              <a:spcAft>
                <a:spcPts val="1067"/>
              </a:spcAft>
              <a:buSzPct val="100000"/>
              <a:buChar char="•"/>
            </a:pPr>
            <a:r>
              <a:rPr lang="en-US" sz="1867" dirty="0"/>
              <a:t>Menghitung 2 laporan dan mengecek total</a:t>
            </a:r>
          </a:p>
          <a:p>
            <a:pPr marL="457189" indent="-457189">
              <a:spcAft>
                <a:spcPts val="1067"/>
              </a:spcAft>
              <a:buSzPct val="100000"/>
              <a:buChar char="•"/>
            </a:pPr>
            <a:r>
              <a:rPr lang="en-US" sz="1867" dirty="0"/>
              <a:t>Menyimpan ke folder dan memperbarui link</a:t>
            </a:r>
          </a:p>
        </p:txBody>
      </p:sp>
      <p:sp>
        <p:nvSpPr>
          <p:cNvPr id="15" name="role card Sales"/>
          <p:cNvSpPr/>
          <p:nvPr/>
        </p:nvSpPr>
        <p:spPr>
          <a:xfrm>
            <a:off x="8119872" y="1584960"/>
            <a:ext cx="3462528" cy="4389120"/>
          </a:xfrm>
          <a:prstGeom prst="roundRect">
            <a:avLst>
              <a:gd name="adj" fmla="val 2817"/>
            </a:avLst>
          </a:prstGeom>
          <a:solidFill>
            <a:srgbClr val="EEF2F1"/>
          </a:solidFill>
          <a:ln w="12700">
            <a:solidFill>
              <a:srgbClr val="EEF2F1"/>
            </a:solidFill>
            <a:prstDash val="solid"/>
          </a:ln>
        </p:spPr>
      </p:sp>
      <p:sp>
        <p:nvSpPr>
          <p:cNvPr id="16" name="role Sales circle"/>
          <p:cNvSpPr/>
          <p:nvPr/>
        </p:nvSpPr>
        <p:spPr>
          <a:xfrm>
            <a:off x="8485632" y="1828800"/>
            <a:ext cx="731520" cy="731520"/>
          </a:xfrm>
          <a:prstGeom prst="ellipse">
            <a:avLst/>
          </a:prstGeom>
          <a:solidFill>
            <a:schemeClr val="tx2"/>
          </a:solidFill>
          <a:ln w="12700">
            <a:solidFill>
              <a:schemeClr val="tx2"/>
            </a:solidFill>
            <a:prstDash val="solid"/>
          </a:ln>
        </p:spPr>
      </p:sp>
      <p:pic>
        <p:nvPicPr>
          <p:cNvPr id="17" name="role Sales icon" descr="preencoded.png"/>
          <p:cNvPicPr>
            <a:picLocks noChangeAspect="1"/>
          </p:cNvPicPr>
          <p:nvPr/>
        </p:nvPicPr>
        <p:blipFill>
          <a:blip r:embed="rId5"/>
          <a:stretch>
            <a:fillRect/>
          </a:stretch>
        </p:blipFill>
        <p:spPr>
          <a:xfrm>
            <a:off x="8675828" y="2018996"/>
            <a:ext cx="351129" cy="351129"/>
          </a:xfrm>
          <a:prstGeom prst="rect">
            <a:avLst/>
          </a:prstGeom>
        </p:spPr>
      </p:pic>
      <p:sp>
        <p:nvSpPr>
          <p:cNvPr id="18" name="Text 13"/>
          <p:cNvSpPr txBox="1"/>
          <p:nvPr/>
        </p:nvSpPr>
        <p:spPr>
          <a:xfrm>
            <a:off x="9400032" y="1804416"/>
            <a:ext cx="2072640" cy="438912"/>
          </a:xfrm>
          <a:prstGeom prst="rect">
            <a:avLst/>
          </a:prstGeom>
          <a:noFill/>
          <a:ln/>
        </p:spPr>
        <p:txBody>
          <a:bodyPr wrap="square" lIns="0" tIns="0" rIns="0" bIns="0" rtlCol="0" anchor="ctr"/>
          <a:lstStyle/>
          <a:p>
            <a:r>
              <a:rPr lang="en-US" sz="2400" b="1" dirty="0">
                <a:latin typeface="Cambria" pitchFamily="34" charset="0"/>
                <a:ea typeface="Cambria" pitchFamily="34" charset="-122"/>
                <a:cs typeface="Cambria" pitchFamily="34" charset="-120"/>
              </a:rPr>
              <a:t>Sales</a:t>
            </a:r>
            <a:endParaRPr lang="en-US" sz="2400" dirty="0"/>
          </a:p>
        </p:txBody>
      </p:sp>
      <p:sp>
        <p:nvSpPr>
          <p:cNvPr id="19" name="Text 14"/>
          <p:cNvSpPr txBox="1"/>
          <p:nvPr/>
        </p:nvSpPr>
        <p:spPr>
          <a:xfrm>
            <a:off x="9400032" y="2218944"/>
            <a:ext cx="2072640" cy="365760"/>
          </a:xfrm>
          <a:prstGeom prst="rect">
            <a:avLst/>
          </a:prstGeom>
          <a:noFill/>
          <a:ln/>
        </p:spPr>
        <p:txBody>
          <a:bodyPr wrap="square" lIns="0" tIns="0" rIns="0" bIns="0" rtlCol="0" anchor="ctr"/>
          <a:lstStyle/>
          <a:p>
            <a:r>
              <a:rPr lang="en-US" sz="1467" dirty="0">
                <a:solidFill>
                  <a:schemeClr val="accent4"/>
                </a:solidFill>
              </a:rPr>
              <a:t>Pengguna laporan</a:t>
            </a:r>
            <a:endParaRPr lang="en-US" sz="1467" dirty="0"/>
          </a:p>
        </p:txBody>
      </p:sp>
      <p:sp>
        <p:nvSpPr>
          <p:cNvPr id="20" name="Text 15"/>
          <p:cNvSpPr txBox="1"/>
          <p:nvPr/>
        </p:nvSpPr>
        <p:spPr>
          <a:xfrm>
            <a:off x="8485632" y="2926080"/>
            <a:ext cx="2865120" cy="2804160"/>
          </a:xfrm>
          <a:prstGeom prst="rect">
            <a:avLst/>
          </a:prstGeom>
          <a:noFill/>
          <a:ln/>
        </p:spPr>
        <p:txBody>
          <a:bodyPr wrap="square" lIns="0" tIns="0" rIns="0" bIns="0" rtlCol="0" anchor="t"/>
          <a:lstStyle/>
          <a:p>
            <a:pPr marL="457189" indent="-457189">
              <a:spcAft>
                <a:spcPts val="1067"/>
              </a:spcAft>
              <a:buSzPct val="100000"/>
              <a:buChar char="•"/>
            </a:pPr>
            <a:r>
              <a:rPr lang="en-US" sz="1867" dirty="0"/>
              <a:t>Membuka satu link</a:t>
            </a:r>
          </a:p>
          <a:p>
            <a:pPr marL="457189" indent="-457189">
              <a:spcAft>
                <a:spcPts val="1067"/>
              </a:spcAft>
              <a:buSzPct val="100000"/>
              <a:buChar char="•"/>
            </a:pPr>
            <a:r>
              <a:rPr lang="en-US" sz="1867" dirty="0"/>
              <a:t>Melihat preview per area dan per sales</a:t>
            </a:r>
          </a:p>
          <a:p>
            <a:pPr marL="457189" indent="-457189">
              <a:spcAft>
                <a:spcPts val="1067"/>
              </a:spcAft>
              <a:buSzPct val="100000"/>
              <a:buChar char="•"/>
            </a:pPr>
            <a:r>
              <a:rPr lang="en-US" sz="1867" dirty="0"/>
              <a:t>Download Excel yang dibutuhkan</a:t>
            </a:r>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853440"/>
          </a:xfrm>
          <a:prstGeom prst="rect">
            <a:avLst/>
          </a:prstGeom>
          <a:noFill/>
          <a:ln/>
        </p:spPr>
        <p:txBody>
          <a:bodyPr wrap="square" lIns="0" tIns="0" rIns="0" bIns="0" rtlCol="0" anchor="ctr"/>
          <a:lstStyle/>
          <a:p>
            <a:r>
              <a:rPr lang="en-US" sz="4000" dirty="0"/>
              <a:t>Kontrol kualitas sudah bawaan</a:t>
            </a:r>
          </a:p>
        </p:txBody>
      </p:sp>
      <p:sp>
        <p:nvSpPr>
          <p:cNvPr id="3" name="check0 circle"/>
          <p:cNvSpPr/>
          <p:nvPr/>
        </p:nvSpPr>
        <p:spPr>
          <a:xfrm>
            <a:off x="609600" y="1597152"/>
            <a:ext cx="512064" cy="512064"/>
          </a:xfrm>
          <a:prstGeom prst="ellipse">
            <a:avLst/>
          </a:prstGeom>
          <a:solidFill>
            <a:schemeClr val="accent1"/>
          </a:solidFill>
          <a:ln w="12700">
            <a:solidFill>
              <a:schemeClr val="accent1"/>
            </a:solidFill>
            <a:prstDash val="solid"/>
          </a:ln>
        </p:spPr>
      </p:sp>
      <p:pic>
        <p:nvPicPr>
          <p:cNvPr id="4" name="check0 icon" descr="preencoded.png"/>
          <p:cNvPicPr>
            <a:picLocks noChangeAspect="1"/>
          </p:cNvPicPr>
          <p:nvPr/>
        </p:nvPicPr>
        <p:blipFill>
          <a:blip r:embed="rId3"/>
          <a:stretch>
            <a:fillRect/>
          </a:stretch>
        </p:blipFill>
        <p:spPr>
          <a:xfrm>
            <a:off x="742737" y="1730289"/>
            <a:ext cx="245791" cy="245791"/>
          </a:xfrm>
          <a:prstGeom prst="rect">
            <a:avLst/>
          </a:prstGeom>
        </p:spPr>
      </p:pic>
      <p:sp>
        <p:nvSpPr>
          <p:cNvPr id="5" name="Text 2"/>
          <p:cNvSpPr txBox="1"/>
          <p:nvPr/>
        </p:nvSpPr>
        <p:spPr>
          <a:xfrm>
            <a:off x="1341120" y="1524000"/>
            <a:ext cx="5608320" cy="365760"/>
          </a:xfrm>
          <a:prstGeom prst="rect">
            <a:avLst/>
          </a:prstGeom>
          <a:noFill/>
          <a:ln/>
        </p:spPr>
        <p:txBody>
          <a:bodyPr wrap="square" lIns="0" tIns="0" rIns="0" bIns="0" rtlCol="0" anchor="ctr"/>
          <a:lstStyle/>
          <a:p>
            <a:r>
              <a:rPr lang="en-US" sz="2000" b="1" dirty="0"/>
              <a:t>Total TEU dicocokkan</a:t>
            </a:r>
            <a:endParaRPr lang="en-US" sz="2000" dirty="0"/>
          </a:p>
        </p:txBody>
      </p:sp>
      <p:sp>
        <p:nvSpPr>
          <p:cNvPr id="6" name="Text 3"/>
          <p:cNvSpPr txBox="1"/>
          <p:nvPr/>
        </p:nvSpPr>
        <p:spPr>
          <a:xfrm>
            <a:off x="1341120" y="1889760"/>
            <a:ext cx="5608320" cy="365760"/>
          </a:xfrm>
          <a:prstGeom prst="rect">
            <a:avLst/>
          </a:prstGeom>
          <a:noFill/>
          <a:ln/>
        </p:spPr>
        <p:txBody>
          <a:bodyPr wrap="square" lIns="0" tIns="0" rIns="0" bIns="0" rtlCol="0" anchor="ctr"/>
          <a:lstStyle/>
          <a:p>
            <a:r>
              <a:rPr lang="en-US" sz="1600" dirty="0">
                <a:solidFill>
                  <a:schemeClr val="accent4"/>
                </a:solidFill>
              </a:rPr>
              <a:t>Total di laporan harus sama dengan file sumber sebelum disimpan</a:t>
            </a:r>
            <a:endParaRPr lang="en-US" sz="1600" dirty="0"/>
          </a:p>
        </p:txBody>
      </p:sp>
      <p:sp>
        <p:nvSpPr>
          <p:cNvPr id="7" name="check1 circle"/>
          <p:cNvSpPr/>
          <p:nvPr/>
        </p:nvSpPr>
        <p:spPr>
          <a:xfrm>
            <a:off x="609600" y="2474976"/>
            <a:ext cx="512064" cy="512064"/>
          </a:xfrm>
          <a:prstGeom prst="ellipse">
            <a:avLst/>
          </a:prstGeom>
          <a:solidFill>
            <a:schemeClr val="accent1"/>
          </a:solidFill>
          <a:ln w="12700">
            <a:solidFill>
              <a:schemeClr val="accent1"/>
            </a:solidFill>
            <a:prstDash val="solid"/>
          </a:ln>
        </p:spPr>
      </p:sp>
      <p:pic>
        <p:nvPicPr>
          <p:cNvPr id="8" name="check1 icon" descr="preencoded.png"/>
          <p:cNvPicPr>
            <a:picLocks noChangeAspect="1"/>
          </p:cNvPicPr>
          <p:nvPr/>
        </p:nvPicPr>
        <p:blipFill>
          <a:blip r:embed="rId3"/>
          <a:stretch>
            <a:fillRect/>
          </a:stretch>
        </p:blipFill>
        <p:spPr>
          <a:xfrm>
            <a:off x="742737" y="2608113"/>
            <a:ext cx="245791" cy="245791"/>
          </a:xfrm>
          <a:prstGeom prst="rect">
            <a:avLst/>
          </a:prstGeom>
        </p:spPr>
      </p:pic>
      <p:sp>
        <p:nvSpPr>
          <p:cNvPr id="9" name="Text 5"/>
          <p:cNvSpPr txBox="1"/>
          <p:nvPr/>
        </p:nvSpPr>
        <p:spPr>
          <a:xfrm>
            <a:off x="1341120" y="2401824"/>
            <a:ext cx="5608320" cy="365760"/>
          </a:xfrm>
          <a:prstGeom prst="rect">
            <a:avLst/>
          </a:prstGeom>
          <a:noFill/>
          <a:ln/>
        </p:spPr>
        <p:txBody>
          <a:bodyPr wrap="square" lIns="0" tIns="0" rIns="0" bIns="0" rtlCol="0" anchor="ctr"/>
          <a:lstStyle/>
          <a:p>
            <a:r>
              <a:rPr lang="en-US" sz="2000" b="1" dirty="0"/>
              <a:t>Kapal baru ditanyakan</a:t>
            </a:r>
            <a:endParaRPr lang="en-US" sz="2000" dirty="0"/>
          </a:p>
        </p:txBody>
      </p:sp>
      <p:sp>
        <p:nvSpPr>
          <p:cNvPr id="10" name="Text 6"/>
          <p:cNvSpPr txBox="1"/>
          <p:nvPr/>
        </p:nvSpPr>
        <p:spPr>
          <a:xfrm>
            <a:off x="1341120" y="2767584"/>
            <a:ext cx="5608320" cy="365760"/>
          </a:xfrm>
          <a:prstGeom prst="rect">
            <a:avLst/>
          </a:prstGeom>
          <a:noFill/>
          <a:ln/>
        </p:spPr>
        <p:txBody>
          <a:bodyPr wrap="square" lIns="0" tIns="0" rIns="0" bIns="0" rtlCol="0" anchor="ctr"/>
          <a:lstStyle/>
          <a:p>
            <a:r>
              <a:rPr lang="en-US" sz="1600" dirty="0">
                <a:solidFill>
                  <a:schemeClr val="accent4"/>
                </a:solidFill>
              </a:rPr>
              <a:t>Kode kapal yang belum dikenal diminta nama lengkapnya dulu</a:t>
            </a:r>
            <a:endParaRPr lang="en-US" sz="1600" dirty="0"/>
          </a:p>
        </p:txBody>
      </p:sp>
      <p:sp>
        <p:nvSpPr>
          <p:cNvPr id="11" name="check2 circle"/>
          <p:cNvSpPr/>
          <p:nvPr/>
        </p:nvSpPr>
        <p:spPr>
          <a:xfrm>
            <a:off x="609600" y="3352800"/>
            <a:ext cx="512064" cy="512064"/>
          </a:xfrm>
          <a:prstGeom prst="ellipse">
            <a:avLst/>
          </a:prstGeom>
          <a:solidFill>
            <a:schemeClr val="accent1"/>
          </a:solidFill>
          <a:ln w="12700">
            <a:solidFill>
              <a:schemeClr val="accent1"/>
            </a:solidFill>
            <a:prstDash val="solid"/>
          </a:ln>
        </p:spPr>
      </p:sp>
      <p:pic>
        <p:nvPicPr>
          <p:cNvPr id="12" name="check2 icon" descr="preencoded.png"/>
          <p:cNvPicPr>
            <a:picLocks noChangeAspect="1"/>
          </p:cNvPicPr>
          <p:nvPr/>
        </p:nvPicPr>
        <p:blipFill>
          <a:blip r:embed="rId3"/>
          <a:stretch>
            <a:fillRect/>
          </a:stretch>
        </p:blipFill>
        <p:spPr>
          <a:xfrm>
            <a:off x="742737" y="3485937"/>
            <a:ext cx="245791" cy="245791"/>
          </a:xfrm>
          <a:prstGeom prst="rect">
            <a:avLst/>
          </a:prstGeom>
        </p:spPr>
      </p:pic>
      <p:sp>
        <p:nvSpPr>
          <p:cNvPr id="13" name="Text 8"/>
          <p:cNvSpPr txBox="1"/>
          <p:nvPr/>
        </p:nvSpPr>
        <p:spPr>
          <a:xfrm>
            <a:off x="1341120" y="3279648"/>
            <a:ext cx="5608320" cy="365760"/>
          </a:xfrm>
          <a:prstGeom prst="rect">
            <a:avLst/>
          </a:prstGeom>
          <a:noFill/>
          <a:ln/>
        </p:spPr>
        <p:txBody>
          <a:bodyPr wrap="square" lIns="0" tIns="0" rIns="0" bIns="0" rtlCol="0" anchor="ctr"/>
          <a:lstStyle/>
          <a:p>
            <a:r>
              <a:rPr lang="en-US" sz="2000" b="1" dirty="0"/>
              <a:t>CANCEL LIST dicek</a:t>
            </a:r>
            <a:endParaRPr lang="en-US" sz="2000" dirty="0"/>
          </a:p>
        </p:txBody>
      </p:sp>
      <p:sp>
        <p:nvSpPr>
          <p:cNvPr id="14" name="Text 9"/>
          <p:cNvSpPr txBox="1"/>
          <p:nvPr/>
        </p:nvSpPr>
        <p:spPr>
          <a:xfrm>
            <a:off x="1341120" y="3645408"/>
            <a:ext cx="5608320" cy="365760"/>
          </a:xfrm>
          <a:prstGeom prst="rect">
            <a:avLst/>
          </a:prstGeom>
          <a:noFill/>
          <a:ln/>
        </p:spPr>
        <p:txBody>
          <a:bodyPr wrap="square" lIns="0" tIns="0" rIns="0" bIns="0" rtlCol="0" anchor="ctr"/>
          <a:lstStyle/>
          <a:p>
            <a:r>
              <a:rPr lang="en-US" sz="1600" dirty="0">
                <a:solidFill>
                  <a:schemeClr val="accent4"/>
                </a:solidFill>
              </a:rPr>
              <a:t>Diingatkan bila CANCEL LIST belum diupdate untuk minggu itu</a:t>
            </a:r>
            <a:endParaRPr lang="en-US" sz="1600" dirty="0"/>
          </a:p>
        </p:txBody>
      </p:sp>
      <p:sp>
        <p:nvSpPr>
          <p:cNvPr id="15" name="check3 circle"/>
          <p:cNvSpPr/>
          <p:nvPr/>
        </p:nvSpPr>
        <p:spPr>
          <a:xfrm>
            <a:off x="609600" y="4230624"/>
            <a:ext cx="512064" cy="512064"/>
          </a:xfrm>
          <a:prstGeom prst="ellipse">
            <a:avLst/>
          </a:prstGeom>
          <a:solidFill>
            <a:schemeClr val="accent1"/>
          </a:solidFill>
          <a:ln w="12700">
            <a:solidFill>
              <a:schemeClr val="accent1"/>
            </a:solidFill>
            <a:prstDash val="solid"/>
          </a:ln>
        </p:spPr>
      </p:sp>
      <p:pic>
        <p:nvPicPr>
          <p:cNvPr id="16" name="check3 icon" descr="preencoded.png"/>
          <p:cNvPicPr>
            <a:picLocks noChangeAspect="1"/>
          </p:cNvPicPr>
          <p:nvPr/>
        </p:nvPicPr>
        <p:blipFill>
          <a:blip r:embed="rId3"/>
          <a:stretch>
            <a:fillRect/>
          </a:stretch>
        </p:blipFill>
        <p:spPr>
          <a:xfrm>
            <a:off x="742737" y="4363761"/>
            <a:ext cx="245791" cy="245791"/>
          </a:xfrm>
          <a:prstGeom prst="rect">
            <a:avLst/>
          </a:prstGeom>
        </p:spPr>
      </p:pic>
      <p:sp>
        <p:nvSpPr>
          <p:cNvPr id="17" name="Text 11"/>
          <p:cNvSpPr txBox="1"/>
          <p:nvPr/>
        </p:nvSpPr>
        <p:spPr>
          <a:xfrm>
            <a:off x="1341120" y="4157472"/>
            <a:ext cx="5608320" cy="365760"/>
          </a:xfrm>
          <a:prstGeom prst="rect">
            <a:avLst/>
          </a:prstGeom>
          <a:noFill/>
          <a:ln/>
        </p:spPr>
        <p:txBody>
          <a:bodyPr wrap="square" lIns="0" tIns="0" rIns="0" bIns="0" rtlCol="0" anchor="ctr"/>
          <a:lstStyle/>
          <a:p>
            <a:r>
              <a:rPr lang="en-US" sz="2000" b="1" dirty="0"/>
              <a:t>Move to Sinokor dipisah</a:t>
            </a:r>
            <a:endParaRPr lang="en-US" sz="2000" dirty="0"/>
          </a:p>
        </p:txBody>
      </p:sp>
      <p:sp>
        <p:nvSpPr>
          <p:cNvPr id="18" name="Text 12"/>
          <p:cNvSpPr txBox="1"/>
          <p:nvPr/>
        </p:nvSpPr>
        <p:spPr>
          <a:xfrm>
            <a:off x="1341120" y="4523232"/>
            <a:ext cx="5608320" cy="365760"/>
          </a:xfrm>
          <a:prstGeom prst="rect">
            <a:avLst/>
          </a:prstGeom>
          <a:noFill/>
          <a:ln/>
        </p:spPr>
        <p:txBody>
          <a:bodyPr wrap="square" lIns="0" tIns="0" rIns="0" bIns="0" rtlCol="0" anchor="ctr"/>
          <a:lstStyle/>
          <a:p>
            <a:r>
              <a:rPr lang="en-US" sz="1600" dirty="0">
                <a:solidFill>
                  <a:schemeClr val="accent4"/>
                </a:solidFill>
              </a:rPr>
              <a:t>Tidak ikut dihitung sebagai cancel di shortfall</a:t>
            </a:r>
            <a:endParaRPr lang="en-US" sz="1600" dirty="0"/>
          </a:p>
        </p:txBody>
      </p:sp>
      <p:sp>
        <p:nvSpPr>
          <p:cNvPr id="19" name="check4 circle"/>
          <p:cNvSpPr/>
          <p:nvPr/>
        </p:nvSpPr>
        <p:spPr>
          <a:xfrm>
            <a:off x="609600" y="5108448"/>
            <a:ext cx="512064" cy="512064"/>
          </a:xfrm>
          <a:prstGeom prst="ellipse">
            <a:avLst/>
          </a:prstGeom>
          <a:solidFill>
            <a:schemeClr val="accent1"/>
          </a:solidFill>
          <a:ln w="12700">
            <a:solidFill>
              <a:schemeClr val="accent1"/>
            </a:solidFill>
            <a:prstDash val="solid"/>
          </a:ln>
        </p:spPr>
      </p:sp>
      <p:pic>
        <p:nvPicPr>
          <p:cNvPr id="20" name="check4 icon" descr="preencoded.png"/>
          <p:cNvPicPr>
            <a:picLocks noChangeAspect="1"/>
          </p:cNvPicPr>
          <p:nvPr/>
        </p:nvPicPr>
        <p:blipFill>
          <a:blip r:embed="rId3"/>
          <a:stretch>
            <a:fillRect/>
          </a:stretch>
        </p:blipFill>
        <p:spPr>
          <a:xfrm>
            <a:off x="742737" y="5241585"/>
            <a:ext cx="245791" cy="245791"/>
          </a:xfrm>
          <a:prstGeom prst="rect">
            <a:avLst/>
          </a:prstGeom>
        </p:spPr>
      </p:pic>
      <p:sp>
        <p:nvSpPr>
          <p:cNvPr id="21" name="Text 14"/>
          <p:cNvSpPr txBox="1"/>
          <p:nvPr/>
        </p:nvSpPr>
        <p:spPr>
          <a:xfrm>
            <a:off x="1341120" y="5035296"/>
            <a:ext cx="5608320" cy="365760"/>
          </a:xfrm>
          <a:prstGeom prst="rect">
            <a:avLst/>
          </a:prstGeom>
          <a:noFill/>
          <a:ln/>
        </p:spPr>
        <p:txBody>
          <a:bodyPr wrap="square" lIns="0" tIns="0" rIns="0" bIns="0" rtlCol="0" anchor="ctr"/>
          <a:lstStyle/>
          <a:p>
            <a:r>
              <a:rPr lang="en-US" sz="2000" b="1" dirty="0"/>
              <a:t>File lama aman</a:t>
            </a:r>
            <a:endParaRPr lang="en-US" sz="2000" dirty="0"/>
          </a:p>
        </p:txBody>
      </p:sp>
      <p:sp>
        <p:nvSpPr>
          <p:cNvPr id="22" name="Text 15"/>
          <p:cNvSpPr txBox="1"/>
          <p:nvPr/>
        </p:nvSpPr>
        <p:spPr>
          <a:xfrm>
            <a:off x="1341120" y="5401056"/>
            <a:ext cx="5608320" cy="365760"/>
          </a:xfrm>
          <a:prstGeom prst="rect">
            <a:avLst/>
          </a:prstGeom>
          <a:noFill/>
          <a:ln/>
        </p:spPr>
        <p:txBody>
          <a:bodyPr wrap="square" lIns="0" tIns="0" rIns="0" bIns="0" rtlCol="0" anchor="ctr"/>
          <a:lstStyle/>
          <a:p>
            <a:r>
              <a:rPr lang="en-US" sz="1600" dirty="0">
                <a:solidFill>
                  <a:schemeClr val="accent4"/>
                </a:solidFill>
              </a:rPr>
              <a:t>Laporan lama di folder tidak pernah ditimpa</a:t>
            </a:r>
            <a:endParaRPr lang="en-US" sz="1600" dirty="0"/>
          </a:p>
        </p:txBody>
      </p:sp>
      <p:sp>
        <p:nvSpPr>
          <p:cNvPr id="23" name="validation card"/>
          <p:cNvSpPr/>
          <p:nvPr/>
        </p:nvSpPr>
        <p:spPr>
          <a:xfrm>
            <a:off x="7437120" y="1584960"/>
            <a:ext cx="4145280" cy="4267200"/>
          </a:xfrm>
          <a:prstGeom prst="roundRect">
            <a:avLst>
              <a:gd name="adj" fmla="val 2353"/>
            </a:avLst>
          </a:prstGeom>
          <a:solidFill>
            <a:srgbClr val="EEF2F1"/>
          </a:solidFill>
          <a:ln w="12700">
            <a:solidFill>
              <a:srgbClr val="EEF2F1"/>
            </a:solidFill>
            <a:prstDash val="solid"/>
          </a:ln>
        </p:spPr>
      </p:sp>
      <p:sp>
        <p:nvSpPr>
          <p:cNvPr id="24" name="Text 17"/>
          <p:cNvSpPr txBox="1"/>
          <p:nvPr/>
        </p:nvSpPr>
        <p:spPr>
          <a:xfrm>
            <a:off x="7802880" y="1950720"/>
            <a:ext cx="3535680" cy="1097280"/>
          </a:xfrm>
          <a:prstGeom prst="rect">
            <a:avLst/>
          </a:prstGeom>
          <a:noFill/>
          <a:ln/>
        </p:spPr>
        <p:txBody>
          <a:bodyPr wrap="square" lIns="0" tIns="0" rIns="0" bIns="0" rtlCol="0" anchor="ctr"/>
          <a:lstStyle/>
          <a:p>
            <a:r>
              <a:rPr lang="en-US" sz="6400" b="1" dirty="0">
                <a:solidFill>
                  <a:schemeClr val="accent1"/>
                </a:solidFill>
                <a:latin typeface="Cambria" pitchFamily="34" charset="0"/>
                <a:ea typeface="Cambria" pitchFamily="34" charset="-122"/>
                <a:cs typeface="Cambria" pitchFamily="34" charset="-120"/>
              </a:rPr>
              <a:t>100%</a:t>
            </a:r>
            <a:endParaRPr lang="en-US" sz="6400" dirty="0"/>
          </a:p>
        </p:txBody>
      </p:sp>
      <p:sp>
        <p:nvSpPr>
          <p:cNvPr id="25" name="Text 18"/>
          <p:cNvSpPr txBox="1"/>
          <p:nvPr/>
        </p:nvSpPr>
        <p:spPr>
          <a:xfrm>
            <a:off x="7802880" y="3048000"/>
            <a:ext cx="3535680" cy="426720"/>
          </a:xfrm>
          <a:prstGeom prst="rect">
            <a:avLst/>
          </a:prstGeom>
          <a:noFill/>
          <a:ln/>
        </p:spPr>
        <p:txBody>
          <a:bodyPr wrap="square" lIns="0" tIns="0" rIns="0" bIns="0" rtlCol="0" anchor="ctr"/>
          <a:lstStyle/>
          <a:p>
            <a:r>
              <a:rPr lang="en-US" sz="2000" b="1" dirty="0"/>
              <a:t>sama dengan laporan manual</a:t>
            </a:r>
            <a:endParaRPr lang="en-US" sz="2000" dirty="0"/>
          </a:p>
        </p:txBody>
      </p:sp>
      <p:sp>
        <p:nvSpPr>
          <p:cNvPr id="26" name="Text 19"/>
          <p:cNvSpPr txBox="1"/>
          <p:nvPr/>
        </p:nvSpPr>
        <p:spPr>
          <a:xfrm>
            <a:off x="7802880" y="3596640"/>
            <a:ext cx="3474720" cy="1950720"/>
          </a:xfrm>
          <a:prstGeom prst="rect">
            <a:avLst/>
          </a:prstGeom>
          <a:noFill/>
          <a:ln/>
        </p:spPr>
        <p:txBody>
          <a:bodyPr wrap="square" lIns="0" tIns="0" rIns="0" bIns="0" rtlCol="0" anchor="t"/>
          <a:lstStyle/>
          <a:p>
            <a:r>
              <a:rPr lang="en-US" sz="1733" dirty="0"/>
              <a:t>Diuji dengan data week 38 dan 39: urutan forwarder, total TEU, cancel, released space, dan shortfall % cocok dengan Excel yang dibuat manual.</a:t>
            </a:r>
          </a:p>
        </p:txBody>
      </p:sp>
      <p:sp>
        <p:nvSpPr>
          <p:cNvPr id="27"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36</a:t>
            </a:fld>
            <a:endParaRPr lang="en-US"/>
          </a:p>
        </p:txBody>
      </p:sp>
    </p:spTree>
  </p:cSld>
  <p:clrMapOvr>
    <a:masterClrMapping/>
  </p:clrMapOvr>
</p:sld>
</file>

<file path=ppt/theme/theme1.xml><?xml version="1.0" encoding="utf-8"?>
<a:theme xmlns:a="http://schemas.openxmlformats.org/drawingml/2006/main" name="Penggunaan &amp; Manfaat AI untuk Divisi CS">
  <a:themeElements>
    <a:clrScheme name="Penggunaan &amp; Manfaat AI untuk Divisi CS">
      <a:dk1>
        <a:srgbClr val="12263F"/>
      </a:dk1>
      <a:lt1>
        <a:srgbClr val="F6F4EE"/>
      </a:lt1>
      <a:dk2>
        <a:srgbClr val="4B5A6B"/>
      </a:dk2>
      <a:lt2>
        <a:srgbClr val="DFDFDD"/>
      </a:lt2>
      <a:accent1>
        <a:srgbClr val="17787D"/>
      </a:accent1>
      <a:accent2>
        <a:srgbClr val="F2A05E"/>
      </a:accent2>
      <a:accent3>
        <a:srgbClr val="EE8446"/>
      </a:accent3>
      <a:accent4>
        <a:srgbClr val="1B3A5F"/>
      </a:accent4>
      <a:accent5>
        <a:srgbClr val="FFB36B"/>
      </a:accent5>
      <a:accent6>
        <a:srgbClr val="B84A18"/>
      </a:accent6>
      <a:hlink>
        <a:srgbClr val="0563C1"/>
      </a:hlink>
      <a:folHlink>
        <a:srgbClr val="954F72"/>
      </a:folHlink>
    </a:clrScheme>
    <a:fontScheme name="Penggunaan &amp; Manfaat AI untuk Divisi CS">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867</TotalTime>
  <Words>4427</Words>
  <Application>Microsoft Office PowerPoint</Application>
  <PresentationFormat>Widescreen</PresentationFormat>
  <Paragraphs>675</Paragraphs>
  <Slides>36</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Bierstadt Display</vt:lpstr>
      <vt:lpstr>Calibri</vt:lpstr>
      <vt:lpstr>Cambria</vt:lpstr>
      <vt:lpstr>Courier New</vt:lpstr>
      <vt:lpstr>Nunito Sans</vt:lpstr>
      <vt:lpstr>Rubik</vt:lpstr>
      <vt:lpstr>Penggunaan &amp; Manfaat AI untuk Divisi CS</vt:lpstr>
      <vt:lpstr>PowerPoint Presentation</vt:lpstr>
      <vt:lpstr>Peta alur CS export</vt:lpstr>
      <vt:lpstr>Enam tahap kerja, 28 tugas rutin</vt:lpstr>
      <vt:lpstr>1. Share DO: Otomatis vs Manual</vt:lpstr>
      <vt:lpstr>Alur manual: diulang untuk setiap booking</vt:lpstr>
      <vt:lpstr>Alur otomatis: skrip bekerja, CS meninjau</vt:lpstr>
      <vt:lpstr>Perbandingan langkah kerja</vt:lpstr>
      <vt:lpstr>Hemat ±4 jam per kapal, kendali tetap di CS</vt:lpstr>
      <vt:lpstr>Terkendali: hanya draft, CS yang mengirim</vt:lpstr>
      <vt:lpstr>Kesimpulan dan langkah berikutnya</vt:lpstr>
      <vt:lpstr>2. Check Booking: Manual vs Skill</vt:lpstr>
      <vt:lpstr>Tiga tahap, semua dibantu skill</vt:lpstr>
      <vt:lpstr>Gambaran umum: dua cara, satu tujuan</vt:lpstr>
      <vt:lpstr>Tahap 1: Draft CHECK BOOKING</vt:lpstr>
      <vt:lpstr>Tahap 2: Klasifikasi balasan</vt:lpstr>
      <vt:lpstr>Tahap 3: Reminder</vt:lpstr>
      <vt:lpstr>Ringkasan perbedaan</vt:lpstr>
      <vt:lpstr>Proforma loading: dari ±4 jam jadi ±51 menit</vt:lpstr>
      <vt:lpstr>Container &amp; seal: tinggal satu perintah</vt:lpstr>
      <vt:lpstr>AI boleh cepat, tapi tetap dicek</vt:lpstr>
      <vt:lpstr>Apa untungnya buat tim?</vt:lpstr>
      <vt:lpstr>Proforma Loading</vt:lpstr>
      <vt:lpstr>The Process at a Glance: Three Stages</vt:lpstr>
      <vt:lpstr>Alur manual: 8 langkah, ±4 jam setiap proses</vt:lpstr>
      <vt:lpstr>Alur dengan AI: 6 langkah, ±51 menit</vt:lpstr>
      <vt:lpstr>PowerPoint Presentation</vt:lpstr>
      <vt:lpstr>Current Workflow: Manual Input (Flowchart)</vt:lpstr>
      <vt:lpstr>Next Step: One Data Source for All Depots</vt:lpstr>
      <vt:lpstr>Contoh hasil: tanda dan remark otomatis</vt:lpstr>
      <vt:lpstr>Setiap hasil AI diperiksa sebelum direview</vt:lpstr>
      <vt:lpstr>Waktu terbanyak hilang di pekerjaan berulang</vt:lpstr>
      <vt:lpstr>Weekly Report SKR - HAL</vt:lpstr>
      <vt:lpstr>Dari pekerjaan terpisah menjadi satu alur</vt:lpstr>
      <vt:lpstr>Alur kerja mingguan dalam 5 langkah</vt:lpstr>
      <vt:lpstr>Pembagian peran</vt:lpstr>
      <vt:lpstr>Kontrol kualitas sudah bawaan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Penggunaan &amp; Manfaat AI untuk Divisi CS</dc:title>
  <dc:subject/>
  <dc:creator>SKR#17</dc:creator>
  <cp:lastModifiedBy>SKR PC</cp:lastModifiedBy>
  <cp:revision>13</cp:revision>
  <dcterms:created xsi:type="dcterms:W3CDTF">2026-10-11T12:09:52Z</dcterms:created>
  <dcterms:modified xsi:type="dcterms:W3CDTF">2026-10-12T02:57:16Z</dcterms:modified>
</cp:coreProperties>
</file>